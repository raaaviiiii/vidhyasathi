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47"/>
  </p:notesMasterIdLst>
  <p:sldIdLst>
    <p:sldId id="256" r:id="rId2"/>
    <p:sldId id="259" r:id="rId3"/>
    <p:sldId id="260" r:id="rId4"/>
    <p:sldId id="261" r:id="rId5"/>
    <p:sldId id="262" r:id="rId6"/>
    <p:sldId id="263" r:id="rId7"/>
    <p:sldId id="264" r:id="rId8"/>
    <p:sldId id="265" r:id="rId9"/>
    <p:sldId id="266" r:id="rId10"/>
    <p:sldId id="267" r:id="rId11"/>
    <p:sldId id="268" r:id="rId12"/>
    <p:sldId id="270" r:id="rId13"/>
    <p:sldId id="269" r:id="rId14"/>
    <p:sldId id="271" r:id="rId15"/>
    <p:sldId id="272" r:id="rId16"/>
    <p:sldId id="273" r:id="rId17"/>
    <p:sldId id="275" r:id="rId18"/>
    <p:sldId id="276" r:id="rId19"/>
    <p:sldId id="277"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79563" autoAdjust="0"/>
  </p:normalViewPr>
  <p:slideViewPr>
    <p:cSldViewPr snapToGrid="0">
      <p:cViewPr varScale="1">
        <p:scale>
          <a:sx n="65" d="100"/>
          <a:sy n="65" d="100"/>
        </p:scale>
        <p:origin x="-1253" y="-7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ira Cherian" userId="2403757a4bf45183" providerId="LiveId" clId="{6482B048-8256-4322-9460-21B197FA06EE}"/>
    <pc:docChg chg="modSld">
      <pc:chgData name="Ceira Cherian" userId="2403757a4bf45183" providerId="LiveId" clId="{6482B048-8256-4322-9460-21B197FA06EE}" dt="2022-11-11T05:37:55.890" v="0" actId="1076"/>
      <pc:docMkLst>
        <pc:docMk/>
      </pc:docMkLst>
      <pc:sldChg chg="modSp mod">
        <pc:chgData name="Ceira Cherian" userId="2403757a4bf45183" providerId="LiveId" clId="{6482B048-8256-4322-9460-21B197FA06EE}" dt="2022-11-11T05:37:55.890" v="0" actId="1076"/>
        <pc:sldMkLst>
          <pc:docMk/>
          <pc:sldMk cId="3627471677" sldId="304"/>
        </pc:sldMkLst>
        <pc:spChg chg="mod">
          <ac:chgData name="Ceira Cherian" userId="2403757a4bf45183" providerId="LiveId" clId="{6482B048-8256-4322-9460-21B197FA06EE}" dt="2022-11-11T05:37:55.890" v="0" actId="1076"/>
          <ac:spMkLst>
            <pc:docMk/>
            <pc:sldMk cId="3627471677" sldId="304"/>
            <ac:spMk id="2" creationId="{5D2A3D0E-95AC-437F-953C-E16F500E4E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56216-38C4-452D-9033-38F94986C809}" type="datetimeFigureOut">
              <a:rPr lang="en-IN" smtClean="0"/>
              <a:pPr/>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47F1E-41D3-4691-833F-E1FF24E0B6F2}" type="slidenum">
              <a:rPr lang="en-IN" smtClean="0"/>
              <a:pPr/>
              <a:t>‹#›</a:t>
            </a:fld>
            <a:endParaRPr lang="en-IN"/>
          </a:p>
        </p:txBody>
      </p:sp>
    </p:spTree>
    <p:extLst>
      <p:ext uri="{BB962C8B-B14F-4D97-AF65-F5344CB8AC3E}">
        <p14:creationId xmlns="" xmlns:p14="http://schemas.microsoft.com/office/powerpoint/2010/main" val="4066218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eeksforgeeks.org/what-is-dynamic-routing-in-computer-network/"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geeksforgeeks.org/implementation-of-static-routing-in-cisco-2-router-connection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Rot="1" noChangeAspect="1" noChangeArrowheads="1" noTextEdit="1"/>
          </p:cNvSpPr>
          <p:nvPr>
            <p:ph type="sldImg"/>
          </p:nvPr>
        </p:nvSpPr>
        <p:spPr>
          <a:xfrm>
            <a:off x="381000" y="684213"/>
            <a:ext cx="6096000" cy="3430587"/>
          </a:xfrm>
          <a:ln/>
        </p:spPr>
      </p:sp>
      <p:sp>
        <p:nvSpPr>
          <p:cNvPr id="264195" name="Rectangle 3"/>
          <p:cNvSpPr>
            <a:spLocks noGrp="1" noChangeArrowheads="1"/>
          </p:cNvSpPr>
          <p:nvPr>
            <p:ph type="body" idx="1"/>
          </p:nvPr>
        </p:nvSpPr>
        <p:spPr>
          <a:xfrm>
            <a:off x="686118" y="4344111"/>
            <a:ext cx="5485765" cy="4115472"/>
          </a:xfrm>
        </p:spPr>
        <p:txBody>
          <a:bodyPr/>
          <a:lstStyle/>
          <a:p>
            <a:r>
              <a:rPr lang="en-US" dirty="0">
                <a:ea typeface="굴림" pitchFamily="50" charset="-127"/>
              </a:rPr>
              <a:t>Open System: Model that allows two different systems to communicate regardless</a:t>
            </a:r>
            <a:r>
              <a:rPr lang="en-US" baseline="0" dirty="0">
                <a:ea typeface="굴림" pitchFamily="50" charset="-127"/>
              </a:rPr>
              <a:t> of their underlying 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i="1" dirty="0">
                <a:solidFill>
                  <a:srgbClr val="CC0000"/>
                </a:solidFill>
              </a:rPr>
              <a:t>Protocols</a:t>
            </a:r>
            <a:r>
              <a:rPr lang="en-US" altLang="en-US" sz="1200" i="1" dirty="0"/>
              <a:t> define </a:t>
            </a:r>
            <a:r>
              <a:rPr lang="en-US" altLang="en-US" sz="1200" i="1" dirty="0">
                <a:solidFill>
                  <a:srgbClr val="CC0000"/>
                </a:solidFill>
              </a:rPr>
              <a:t>format</a:t>
            </a:r>
            <a:r>
              <a:rPr lang="en-US" altLang="en-US" sz="1200" i="1" dirty="0"/>
              <a:t>, </a:t>
            </a:r>
            <a:r>
              <a:rPr lang="en-US" altLang="en-US" sz="1200" i="1" dirty="0">
                <a:solidFill>
                  <a:srgbClr val="CC0000"/>
                </a:solidFill>
              </a:rPr>
              <a:t>order</a:t>
            </a:r>
            <a:r>
              <a:rPr lang="en-US" altLang="en-US" sz="1200" i="1" dirty="0"/>
              <a:t> of </a:t>
            </a:r>
            <a:r>
              <a:rPr lang="en-US" altLang="en-US" sz="1200" i="1" dirty="0" err="1">
                <a:solidFill>
                  <a:srgbClr val="CC0000"/>
                </a:solidFill>
              </a:rPr>
              <a:t>msgs</a:t>
            </a:r>
            <a:r>
              <a:rPr lang="en-US" altLang="en-US" sz="1200" i="1" dirty="0">
                <a:solidFill>
                  <a:srgbClr val="CC0000"/>
                </a:solidFill>
              </a:rPr>
              <a:t> sent and received</a:t>
            </a:r>
            <a:r>
              <a:rPr lang="en-US" altLang="en-US" sz="1200" i="1" dirty="0"/>
              <a:t> among network entities, and </a:t>
            </a:r>
            <a:r>
              <a:rPr lang="en-US" altLang="en-US" sz="1200" i="1" dirty="0">
                <a:solidFill>
                  <a:srgbClr val="CC0000"/>
                </a:solidFill>
              </a:rPr>
              <a:t>actions taken</a:t>
            </a:r>
            <a:r>
              <a:rPr lang="en-US" altLang="en-US" sz="1200" i="1" dirty="0"/>
              <a:t> on msg transmission, receipt</a:t>
            </a:r>
            <a:r>
              <a:rPr lang="en-US" altLang="en-US" sz="1200" i="1" dirty="0">
                <a:solidFill>
                  <a:srgbClr val="FF0000"/>
                </a:solidFill>
              </a:rPr>
              <a:t> </a:t>
            </a:r>
          </a:p>
          <a:p>
            <a:endParaRPr lang="en-US" dirty="0">
              <a:ea typeface="굴림" pitchFamily="50" charset="-127"/>
            </a:endParaRPr>
          </a:p>
        </p:txBody>
      </p:sp>
    </p:spTree>
    <p:extLst>
      <p:ext uri="{BB962C8B-B14F-4D97-AF65-F5344CB8AC3E}">
        <p14:creationId xmlns="" xmlns:p14="http://schemas.microsoft.com/office/powerpoint/2010/main" val="2298573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Rot="1" noChangeAspect="1" noChangeArrowheads="1" noTextEdit="1"/>
          </p:cNvSpPr>
          <p:nvPr>
            <p:ph type="sldImg"/>
          </p:nvPr>
        </p:nvSpPr>
        <p:spPr>
          <a:xfrm>
            <a:off x="381000" y="684213"/>
            <a:ext cx="6096000" cy="3430587"/>
          </a:xfrm>
          <a:ln/>
        </p:spPr>
      </p:sp>
      <p:sp>
        <p:nvSpPr>
          <p:cNvPr id="278531" name="Rectangle 3"/>
          <p:cNvSpPr>
            <a:spLocks noGrp="1" noChangeArrowheads="1"/>
          </p:cNvSpPr>
          <p:nvPr>
            <p:ph type="body" idx="1"/>
          </p:nvPr>
        </p:nvSpPr>
        <p:spPr>
          <a:xfrm>
            <a:off x="686118" y="4344111"/>
            <a:ext cx="5485765" cy="4115472"/>
          </a:xfrm>
        </p:spPr>
        <p:txBody>
          <a:bodyPr/>
          <a:lstStyle/>
          <a:p>
            <a:endParaRPr lang="en-US">
              <a:ea typeface="굴림" pitchFamily="50" charset="-127"/>
            </a:endParaRPr>
          </a:p>
        </p:txBody>
      </p:sp>
    </p:spTree>
    <p:extLst>
      <p:ext uri="{BB962C8B-B14F-4D97-AF65-F5344CB8AC3E}">
        <p14:creationId xmlns="" xmlns:p14="http://schemas.microsoft.com/office/powerpoint/2010/main" val="1189723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2600" dirty="0"/>
              <a:t>These extra information are added to:</a:t>
            </a:r>
          </a:p>
          <a:p>
            <a:pPr lvl="1"/>
            <a:r>
              <a:rPr lang="en-US" sz="2200" dirty="0"/>
              <a:t>Enable the </a:t>
            </a:r>
            <a:r>
              <a:rPr lang="en-US" sz="2200" b="1" dirty="0"/>
              <a:t>opposite corresponding layer to take the right operation on the data </a:t>
            </a:r>
            <a:r>
              <a:rPr lang="en-US" sz="2200" dirty="0"/>
              <a:t>(to facilitate his work).</a:t>
            </a:r>
          </a:p>
          <a:p>
            <a:pPr lvl="1"/>
            <a:r>
              <a:rPr lang="en-US" sz="2200" dirty="0"/>
              <a:t>Enable </a:t>
            </a:r>
            <a:r>
              <a:rPr lang="en-US" sz="2200" b="1" dirty="0"/>
              <a:t>the network to transfer the data accurately from the source to the destination</a:t>
            </a:r>
            <a:r>
              <a:rPr lang="en-US" sz="2200" dirty="0"/>
              <a:t>.</a:t>
            </a:r>
          </a:p>
          <a:p>
            <a:r>
              <a:rPr lang="en-US" sz="2600" dirty="0"/>
              <a:t>Through these information each layer actually communicates with the opposite corresponding layer and this is called </a:t>
            </a:r>
            <a:r>
              <a:rPr lang="en-US" sz="2600" b="1" dirty="0"/>
              <a:t>peer-to-peer communication</a:t>
            </a:r>
            <a:r>
              <a:rPr lang="en-US" sz="2600" dirty="0"/>
              <a:t>.</a:t>
            </a:r>
          </a:p>
          <a:p>
            <a:endParaRPr lang="en-US" sz="2600" dirty="0"/>
          </a:p>
          <a:p>
            <a:r>
              <a:rPr lang="en-US" sz="2800" dirty="0">
                <a:cs typeface="Arial" pitchFamily="34" charset="0"/>
              </a:rPr>
              <a:t>A message begins at the top AL and moves down the OSI layers to the bottom PL.</a:t>
            </a:r>
          </a:p>
          <a:p>
            <a:r>
              <a:rPr lang="en-US" sz="2800" dirty="0">
                <a:cs typeface="Arial" pitchFamily="34" charset="0"/>
              </a:rPr>
              <a:t>As the message descends, each successive OSI model layer adds a header to it. </a:t>
            </a:r>
          </a:p>
          <a:p>
            <a:r>
              <a:rPr lang="en-US" sz="2800" dirty="0">
                <a:cs typeface="Arial" pitchFamily="34" charset="0"/>
              </a:rPr>
              <a:t>A header is layer-specific information that basically explains what functions the layer carried out. </a:t>
            </a:r>
          </a:p>
          <a:p>
            <a:r>
              <a:rPr lang="en-US" sz="2800" dirty="0">
                <a:cs typeface="Arial" pitchFamily="34" charset="0"/>
              </a:rPr>
              <a:t>Conversely, at the receiving end, headers are striped from the message as it travels up the corresponding layers.</a:t>
            </a:r>
            <a:endParaRPr lang="en-IN" sz="2800" dirty="0"/>
          </a:p>
          <a:p>
            <a:endParaRPr lang="en-US" sz="2800" dirty="0">
              <a:ea typeface="굴림" pitchFamily="50" charset="-127"/>
            </a:endParaRPr>
          </a:p>
          <a:p>
            <a:endParaRPr lang="en-US" sz="2600" dirty="0"/>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8</a:t>
            </a:fld>
            <a:endParaRPr lang="en-IN"/>
          </a:p>
        </p:txBody>
      </p:sp>
    </p:spTree>
    <p:extLst>
      <p:ext uri="{BB962C8B-B14F-4D97-AF65-F5344CB8AC3E}">
        <p14:creationId xmlns="" xmlns:p14="http://schemas.microsoft.com/office/powerpoint/2010/main" val="2022775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PDU- Protocol data unit(basic</a:t>
            </a:r>
            <a:r>
              <a:rPr lang="en-US" baseline="0" dirty="0" smtClean="0"/>
              <a:t> unit of exchange </a:t>
            </a:r>
            <a:r>
              <a:rPr lang="en-US" baseline="0" smtClean="0"/>
              <a:t>between entities)</a:t>
            </a:r>
            <a:endParaRPr lang="en-US"/>
          </a:p>
        </p:txBody>
      </p:sp>
      <p:sp>
        <p:nvSpPr>
          <p:cNvPr id="4" name="Slide Number Placeholder 3"/>
          <p:cNvSpPr>
            <a:spLocks noGrp="1"/>
          </p:cNvSpPr>
          <p:nvPr>
            <p:ph type="sldNum" sz="quarter" idx="10"/>
          </p:nvPr>
        </p:nvSpPr>
        <p:spPr/>
        <p:txBody>
          <a:bodyPr/>
          <a:lstStyle/>
          <a:p>
            <a:fld id="{5B847F1E-41D3-4691-833F-E1FF24E0B6F2}" type="slidenum">
              <a:rPr lang="en-IN" smtClean="0"/>
              <a:pPr/>
              <a:t>9</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Fcs</a:t>
            </a:r>
            <a:r>
              <a:rPr lang="en-US" dirty="0" smtClean="0"/>
              <a:t>-frame check sequence(extra bits added to the frame for error detection)</a:t>
            </a:r>
            <a:endParaRPr lang="en-US" dirty="0"/>
          </a:p>
        </p:txBody>
      </p:sp>
      <p:sp>
        <p:nvSpPr>
          <p:cNvPr id="4" name="Slide Number Placeholder 3"/>
          <p:cNvSpPr>
            <a:spLocks noGrp="1"/>
          </p:cNvSpPr>
          <p:nvPr>
            <p:ph type="sldNum" sz="quarter" idx="10"/>
          </p:nvPr>
        </p:nvSpPr>
        <p:spPr/>
        <p:txBody>
          <a:bodyPr/>
          <a:lstStyle/>
          <a:p>
            <a:fld id="{5B847F1E-41D3-4691-833F-E1FF24E0B6F2}" type="slidenum">
              <a:rPr lang="en-IN" smtClean="0"/>
              <a:pPr/>
              <a:t>10</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a:lnSpc>
                <a:spcPct val="80000"/>
              </a:lnSpc>
            </a:pPr>
            <a:r>
              <a:rPr lang="en-US" altLang="ko-KR" sz="2600" dirty="0"/>
              <a:t> </a:t>
            </a:r>
            <a:r>
              <a:rPr lang="en-US" sz="2600" b="1" dirty="0"/>
              <a:t>Physical characteristics of interface and media.</a:t>
            </a:r>
          </a:p>
          <a:p>
            <a:pPr lvl="1">
              <a:lnSpc>
                <a:spcPct val="80000"/>
              </a:lnSpc>
            </a:pPr>
            <a:r>
              <a:rPr lang="en-US" sz="2600" dirty="0"/>
              <a:t>Defines the characteristics of the interface between the devices and the transmission media.</a:t>
            </a:r>
          </a:p>
          <a:p>
            <a:pPr lvl="1">
              <a:lnSpc>
                <a:spcPct val="80000"/>
              </a:lnSpc>
            </a:pPr>
            <a:r>
              <a:rPr lang="en-US" sz="2600" dirty="0"/>
              <a:t>It also defines the type of transmission medium.</a:t>
            </a:r>
          </a:p>
          <a:p>
            <a:pPr>
              <a:lnSpc>
                <a:spcPct val="80000"/>
              </a:lnSpc>
            </a:pPr>
            <a:r>
              <a:rPr lang="en-US" sz="2600" b="1" dirty="0"/>
              <a:t>Representation of bits:</a:t>
            </a:r>
          </a:p>
          <a:p>
            <a:pPr lvl="1">
              <a:lnSpc>
                <a:spcPct val="80000"/>
              </a:lnSpc>
            </a:pPr>
            <a:r>
              <a:rPr lang="en-US" sz="2600" dirty="0"/>
              <a:t>Physical layer receives a steam of bits (sequence of 0s and 1s) without any interruption.</a:t>
            </a:r>
          </a:p>
          <a:p>
            <a:pPr lvl="1">
              <a:lnSpc>
                <a:spcPct val="80000"/>
              </a:lnSpc>
            </a:pPr>
            <a:r>
              <a:rPr lang="en-US" sz="2600" dirty="0"/>
              <a:t>To be transmitted, bits must be encoded into a signals – electrical or optical.</a:t>
            </a:r>
          </a:p>
          <a:p>
            <a:pPr lvl="1">
              <a:lnSpc>
                <a:spcPct val="80000"/>
              </a:lnSpc>
            </a:pPr>
            <a:r>
              <a:rPr lang="en-US" sz="2600" dirty="0"/>
              <a:t>The physical layer defined the type of representation ( how 0s and 1s are changed into signals).</a:t>
            </a:r>
          </a:p>
          <a:p>
            <a:pPr>
              <a:lnSpc>
                <a:spcPct val="80000"/>
              </a:lnSpc>
            </a:pPr>
            <a:r>
              <a:rPr lang="en-US" sz="2600" b="1" dirty="0"/>
              <a:t>Data rate:</a:t>
            </a:r>
          </a:p>
          <a:p>
            <a:pPr lvl="1">
              <a:lnSpc>
                <a:spcPct val="80000"/>
              </a:lnSpc>
            </a:pPr>
            <a:r>
              <a:rPr lang="en-US" sz="2600" dirty="0"/>
              <a:t>The transmission rate – the number of bit per second- is also defined by the physical layer.</a:t>
            </a:r>
          </a:p>
          <a:p>
            <a:r>
              <a:rPr lang="en-IN" sz="1800" b="1" dirty="0"/>
              <a:t>Synchronization of bits. </a:t>
            </a:r>
            <a:r>
              <a:rPr lang="en-IN" sz="1800" dirty="0"/>
              <a:t>The sender and receiver not only must use the same bit rate but also must be synchronized at the bit level. In other words, the sender and the receiver clocks must be synchronized.</a:t>
            </a:r>
          </a:p>
          <a:p>
            <a:r>
              <a:rPr lang="en-IN" sz="1800" b="1" dirty="0"/>
              <a:t>Line configuration. </a:t>
            </a:r>
            <a:r>
              <a:rPr lang="en-IN" sz="1800" dirty="0"/>
              <a:t>The physical layer is </a:t>
            </a:r>
            <a:r>
              <a:rPr lang="en-IN" sz="1800" b="1" dirty="0"/>
              <a:t>concerned with the connection of devices to the media</a:t>
            </a:r>
            <a:r>
              <a:rPr lang="en-IN" sz="1800" dirty="0"/>
              <a:t>. In a </a:t>
            </a:r>
            <a:r>
              <a:rPr lang="en-IN" sz="1800" b="1" dirty="0"/>
              <a:t>point-to-point configuration</a:t>
            </a:r>
            <a:r>
              <a:rPr lang="en-IN" sz="1800" dirty="0"/>
              <a:t>, two devices are connected through a dedicated link. In a </a:t>
            </a:r>
            <a:r>
              <a:rPr lang="en-IN" sz="1800" b="1" dirty="0"/>
              <a:t>multipoint configuration</a:t>
            </a:r>
            <a:r>
              <a:rPr lang="en-IN" sz="1800" dirty="0"/>
              <a:t>, a link is shared among several devices.</a:t>
            </a:r>
          </a:p>
          <a:p>
            <a:r>
              <a:rPr lang="en-IN" sz="1800" b="1" dirty="0"/>
              <a:t>Physical topology. </a:t>
            </a:r>
            <a:r>
              <a:rPr lang="en-IN" sz="1800" dirty="0"/>
              <a:t>The physical topology defines how devices are connected to make a network. Devices can be connected by using a mesh topology (every device is connected to every other device), a star topology (devices are connected through a central device), a ring topology (each device is connected to the next, forming a ring), a bus topology (every device is on a common link), or a hybrid topology (this is a combination of two or more topologies).</a:t>
            </a:r>
          </a:p>
          <a:p>
            <a:r>
              <a:rPr lang="en-IN" sz="1800" b="1" dirty="0"/>
              <a:t>Transmission mode. </a:t>
            </a:r>
            <a:r>
              <a:rPr lang="en-IN" sz="1800" dirty="0"/>
              <a:t>The physical layer also defines </a:t>
            </a:r>
            <a:r>
              <a:rPr lang="en-IN" sz="1800" b="1" dirty="0"/>
              <a:t>the direction of transmission between two devices</a:t>
            </a:r>
            <a:r>
              <a:rPr lang="en-IN" sz="1800" dirty="0"/>
              <a:t>: </a:t>
            </a:r>
            <a:r>
              <a:rPr lang="en-IN" sz="1800" b="1" dirty="0"/>
              <a:t>simplex, half-duplex, or full-duplex</a:t>
            </a:r>
            <a:r>
              <a:rPr lang="en-IN" sz="1800" dirty="0"/>
              <a:t>. In simplex mode, only one device can send; the other can only receive. The simplex mode is a one-way communication. In the half-duplex mode, two devices can send and receive, but not at the same time. In a full-duplex (or simply duplex) mode, two devices can send and receive at the same time.</a:t>
            </a:r>
            <a:endParaRPr lang="en-IN" dirty="0"/>
          </a:p>
          <a:p>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12</a:t>
            </a:fld>
            <a:endParaRPr lang="en-IN"/>
          </a:p>
        </p:txBody>
      </p:sp>
    </p:spTree>
    <p:extLst>
      <p:ext uri="{BB962C8B-B14F-4D97-AF65-F5344CB8AC3E}">
        <p14:creationId xmlns="" xmlns:p14="http://schemas.microsoft.com/office/powerpoint/2010/main" val="245001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13</a:t>
            </a:fld>
            <a:endParaRPr lang="en-IN"/>
          </a:p>
        </p:txBody>
      </p:sp>
    </p:spTree>
    <p:extLst>
      <p:ext uri="{BB962C8B-B14F-4D97-AF65-F5344CB8AC3E}">
        <p14:creationId xmlns="" xmlns:p14="http://schemas.microsoft.com/office/powerpoint/2010/main" val="3276255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lnSpc>
                <a:spcPct val="80000"/>
              </a:lnSpc>
            </a:pPr>
            <a:r>
              <a:rPr lang="en-US" sz="2400" b="1" dirty="0"/>
              <a:t>Framing:</a:t>
            </a:r>
          </a:p>
          <a:p>
            <a:pPr lvl="1">
              <a:lnSpc>
                <a:spcPct val="80000"/>
              </a:lnSpc>
            </a:pPr>
            <a:r>
              <a:rPr lang="en-US" sz="2400" dirty="0"/>
              <a:t>The data link layer divides the stream of bits steam from the network layer into manageable data units called frames.</a:t>
            </a:r>
          </a:p>
          <a:p>
            <a:pPr>
              <a:lnSpc>
                <a:spcPct val="80000"/>
              </a:lnSpc>
            </a:pPr>
            <a:r>
              <a:rPr lang="en-US" sz="2400" b="1" dirty="0"/>
              <a:t>Physical addressing:</a:t>
            </a:r>
          </a:p>
          <a:p>
            <a:pPr lvl="1">
              <a:lnSpc>
                <a:spcPct val="80000"/>
              </a:lnSpc>
            </a:pPr>
            <a:r>
              <a:rPr lang="en-US" sz="2400" dirty="0"/>
              <a:t>If frame is to be distributed to different systems on the network, the data link layer adds a header to the frame to define the sender and receiver of the frame.</a:t>
            </a:r>
          </a:p>
          <a:p>
            <a:pPr lvl="1">
              <a:lnSpc>
                <a:spcPct val="80000"/>
              </a:lnSpc>
            </a:pPr>
            <a:r>
              <a:rPr lang="en-US" sz="2400" dirty="0"/>
              <a:t>Physical address is the MAC address, which is </a:t>
            </a:r>
            <a:r>
              <a:rPr lang="en-US" sz="2400" b="1" dirty="0"/>
              <a:t>hard coded into NIC </a:t>
            </a:r>
            <a:r>
              <a:rPr lang="en-US" sz="2400" dirty="0"/>
              <a:t>and is of </a:t>
            </a:r>
            <a:r>
              <a:rPr lang="en-US" sz="2400" b="1" dirty="0"/>
              <a:t>48-bit </a:t>
            </a:r>
            <a:r>
              <a:rPr lang="en-US" sz="2400" dirty="0"/>
              <a:t>represented by Hexadecimal format</a:t>
            </a:r>
            <a:r>
              <a:rPr lang="en-US" sz="2400" dirty="0" smtClean="0"/>
              <a:t>.</a:t>
            </a:r>
          </a:p>
          <a:p>
            <a:pPr lvl="1">
              <a:lnSpc>
                <a:spcPct val="80000"/>
              </a:lnSpc>
            </a:pPr>
            <a:r>
              <a:rPr lang="en-US" sz="1200" b="0" i="0" kern="1200" dirty="0" smtClean="0">
                <a:solidFill>
                  <a:schemeClr val="tx1"/>
                </a:solidFill>
                <a:latin typeface="+mn-lt"/>
                <a:ea typeface="+mn-ea"/>
                <a:cs typeface="+mn-cs"/>
              </a:rPr>
              <a:t>MAC Addresses are unique 48-bit hardware number of a computer, that is embedded into a network card (known as a Network Interface Card during manufacturing.</a:t>
            </a:r>
            <a:endParaRPr lang="en-US" sz="2400" dirty="0"/>
          </a:p>
          <a:p>
            <a:pPr>
              <a:lnSpc>
                <a:spcPct val="80000"/>
              </a:lnSpc>
            </a:pPr>
            <a:r>
              <a:rPr lang="en-US" sz="2400" b="1" dirty="0"/>
              <a:t>Flow control:</a:t>
            </a:r>
          </a:p>
          <a:p>
            <a:pPr lvl="1">
              <a:lnSpc>
                <a:spcPct val="80000"/>
              </a:lnSpc>
            </a:pPr>
            <a:r>
              <a:rPr lang="en-US" sz="2400" dirty="0"/>
              <a:t>If the rate at which the data are absorbed by the receiver is less than the rate produced in the sender, the data link layer imposes a flow control mechanism to prevent overwhelming the receiver.</a:t>
            </a:r>
          </a:p>
          <a:p>
            <a:r>
              <a:rPr lang="en-US" sz="2400" b="1" dirty="0"/>
              <a:t>Error control:</a:t>
            </a:r>
          </a:p>
          <a:p>
            <a:pPr lvl="1"/>
            <a:r>
              <a:rPr lang="en-US" sz="2400" dirty="0"/>
              <a:t>The data link layer adds reliability to the physical layer by adding mechanism to detect and retransmit damaged or lost frames.</a:t>
            </a:r>
          </a:p>
          <a:p>
            <a:pPr lvl="1"/>
            <a:r>
              <a:rPr lang="en-US" sz="2400" dirty="0"/>
              <a:t>It also uses a mechanism to prevent duplication of frames.</a:t>
            </a:r>
          </a:p>
          <a:p>
            <a:pPr lvl="1"/>
            <a:r>
              <a:rPr lang="en-US" sz="2400" dirty="0"/>
              <a:t>Error control is normally achieved through a trailer added to the end of the frame.</a:t>
            </a:r>
          </a:p>
          <a:p>
            <a:r>
              <a:rPr lang="en-US" sz="2400" b="1" dirty="0"/>
              <a:t>Access control:</a:t>
            </a:r>
          </a:p>
          <a:p>
            <a:pPr lvl="1"/>
            <a:r>
              <a:rPr lang="en-US" sz="2400" dirty="0"/>
              <a:t>The data link layer protocol has to determine that how to get access to the link in case when two or more devices are connected to the same link.</a:t>
            </a:r>
          </a:p>
          <a:p>
            <a:pPr lvl="1">
              <a:lnSpc>
                <a:spcPct val="80000"/>
              </a:lnSpc>
            </a:pPr>
            <a:endParaRPr lang="en-US" sz="2400" dirty="0"/>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15</a:t>
            </a:fld>
            <a:endParaRPr lang="en-IN"/>
          </a:p>
        </p:txBody>
      </p:sp>
    </p:spTree>
    <p:extLst>
      <p:ext uri="{BB962C8B-B14F-4D97-AF65-F5344CB8AC3E}">
        <p14:creationId xmlns="" xmlns:p14="http://schemas.microsoft.com/office/powerpoint/2010/main" val="2122291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lvl="1">
              <a:lnSpc>
                <a:spcPct val="90000"/>
              </a:lnSpc>
            </a:pPr>
            <a:r>
              <a:rPr lang="en-US" sz="2200" b="1" dirty="0"/>
              <a:t>Logical addressing:</a:t>
            </a:r>
          </a:p>
          <a:p>
            <a:pPr lvl="2">
              <a:lnSpc>
                <a:spcPct val="90000"/>
              </a:lnSpc>
            </a:pPr>
            <a:r>
              <a:rPr lang="en-US" sz="2000" dirty="0"/>
              <a:t>The physical addressing implemented by the data link layer handles the addressing problem locally.</a:t>
            </a:r>
          </a:p>
          <a:p>
            <a:pPr lvl="2">
              <a:lnSpc>
                <a:spcPct val="90000"/>
              </a:lnSpc>
            </a:pPr>
            <a:r>
              <a:rPr lang="en-US" sz="2000" dirty="0"/>
              <a:t>If a packet passes the network boundary, we need another addressing system to perform the source and destination delivery.</a:t>
            </a:r>
          </a:p>
          <a:p>
            <a:pPr lvl="2">
              <a:lnSpc>
                <a:spcPct val="90000"/>
              </a:lnSpc>
            </a:pPr>
            <a:r>
              <a:rPr lang="en-US" sz="2000" dirty="0"/>
              <a:t>The network layer adds a header to the segment received from the session containing the logical addresses of the sender and receiver.</a:t>
            </a:r>
          </a:p>
          <a:p>
            <a:pPr lvl="2">
              <a:lnSpc>
                <a:spcPct val="90000"/>
              </a:lnSpc>
            </a:pPr>
            <a:r>
              <a:rPr lang="en-US" sz="2000" dirty="0"/>
              <a:t>Logical address is also called IP address which is of 32-bits and represented in decimal format.</a:t>
            </a:r>
          </a:p>
          <a:p>
            <a:pPr lvl="1">
              <a:lnSpc>
                <a:spcPct val="90000"/>
              </a:lnSpc>
            </a:pPr>
            <a:r>
              <a:rPr lang="en-US" sz="2200" b="1" dirty="0"/>
              <a:t>Routing:</a:t>
            </a:r>
          </a:p>
          <a:p>
            <a:pPr lvl="2">
              <a:lnSpc>
                <a:spcPct val="90000"/>
              </a:lnSpc>
            </a:pPr>
            <a:r>
              <a:rPr lang="en-US" sz="2000" dirty="0"/>
              <a:t>To route the packets from the source to destination in an internetwork, the router uses network layer information.</a:t>
            </a:r>
          </a:p>
          <a:p>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17</a:t>
            </a:fld>
            <a:endParaRPr lang="en-IN"/>
          </a:p>
        </p:txBody>
      </p:sp>
    </p:spTree>
    <p:extLst>
      <p:ext uri="{BB962C8B-B14F-4D97-AF65-F5344CB8AC3E}">
        <p14:creationId xmlns="" xmlns:p14="http://schemas.microsoft.com/office/powerpoint/2010/main" val="1525663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When a packet has to travel from one network to another to get to its destination, many problems can arise. The addressing used by the second network may</a:t>
            </a:r>
          </a:p>
          <a:p>
            <a:pPr algn="l"/>
            <a:r>
              <a:rPr lang="en-US" sz="1800" b="0" i="0" u="none" strike="noStrike" baseline="0" dirty="0">
                <a:latin typeface="Times-Roman"/>
              </a:rPr>
              <a:t>be different from that used by the first one. The second one may not accept the</a:t>
            </a:r>
          </a:p>
          <a:p>
            <a:pPr algn="l"/>
            <a:r>
              <a:rPr lang="en-US" sz="1800" b="0" i="0" u="none" strike="noStrike" baseline="0" dirty="0">
                <a:latin typeface="Times-Roman"/>
              </a:rPr>
              <a:t>packet at all because it is too large. The protocols may differ, and so on. It is up</a:t>
            </a:r>
          </a:p>
          <a:p>
            <a:pPr algn="l"/>
            <a:r>
              <a:rPr lang="en-US" sz="1800" b="0" i="0" u="none" strike="noStrike" baseline="0" dirty="0">
                <a:latin typeface="Times-Roman"/>
              </a:rPr>
              <a:t>to the network layer to overcome all these problems to allow heterogeneous networks</a:t>
            </a:r>
          </a:p>
          <a:p>
            <a:pPr algn="l"/>
            <a:r>
              <a:rPr lang="en-IN" sz="1800" b="0" i="0" u="none" strike="noStrike" baseline="0" dirty="0">
                <a:latin typeface="Times-Roman"/>
              </a:rPr>
              <a:t>to be interconnected.</a:t>
            </a:r>
          </a:p>
          <a:p>
            <a:pPr algn="l"/>
            <a:r>
              <a:rPr lang="en-US" sz="1800" b="0" i="0" u="none" strike="noStrike" baseline="0" dirty="0">
                <a:latin typeface="Times-Roman"/>
              </a:rPr>
              <a:t>In broadcast networks, the routing problem is simple, so the network layer is</a:t>
            </a:r>
          </a:p>
          <a:p>
            <a:pPr algn="l"/>
            <a:r>
              <a:rPr lang="en-US" sz="1800" b="0" i="0" u="none" strike="noStrike" baseline="0" dirty="0">
                <a:latin typeface="Times-Roman"/>
              </a:rPr>
              <a:t>often thin or even nonexistent.</a:t>
            </a:r>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18</a:t>
            </a:fld>
            <a:endParaRPr lang="en-IN"/>
          </a:p>
        </p:txBody>
      </p:sp>
    </p:spTree>
    <p:extLst>
      <p:ext uri="{BB962C8B-B14F-4D97-AF65-F5344CB8AC3E}">
        <p14:creationId xmlns="" xmlns:p14="http://schemas.microsoft.com/office/powerpoint/2010/main" val="1339727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Static Routing is also known as </a:t>
            </a:r>
            <a:r>
              <a:rPr lang="en-US" sz="1200" b="1" i="0" kern="1200" dirty="0" smtClean="0">
                <a:solidFill>
                  <a:schemeClr val="tx1"/>
                </a:solidFill>
                <a:latin typeface="+mn-lt"/>
                <a:ea typeface="+mn-ea"/>
                <a:cs typeface="+mn-cs"/>
              </a:rPr>
              <a:t>non-adaptive</a:t>
            </a:r>
            <a:r>
              <a:rPr lang="en-US" sz="1200" b="0" i="0" kern="1200" dirty="0" smtClean="0">
                <a:solidFill>
                  <a:schemeClr val="tx1"/>
                </a:solidFill>
                <a:latin typeface="+mn-lt"/>
                <a:ea typeface="+mn-ea"/>
                <a:cs typeface="+mn-cs"/>
              </a:rPr>
              <a:t> routing which doesn’t change the routing table unless the network administrator changes or modifies them manually. Static routing does not use complex routing algorithms and It provides high or more security than dynamic routing. Dynamic routing is also known as </a:t>
            </a:r>
            <a:r>
              <a:rPr lang="en-US" sz="1200" b="1" i="0" kern="1200" dirty="0" smtClean="0">
                <a:solidFill>
                  <a:schemeClr val="tx1"/>
                </a:solidFill>
                <a:latin typeface="+mn-lt"/>
                <a:ea typeface="+mn-ea"/>
                <a:cs typeface="+mn-cs"/>
              </a:rPr>
              <a:t>adaptive</a:t>
            </a:r>
            <a:r>
              <a:rPr lang="en-US" sz="1200" b="0" i="0" kern="1200" dirty="0" smtClean="0">
                <a:solidFill>
                  <a:schemeClr val="tx1"/>
                </a:solidFill>
                <a:latin typeface="+mn-lt"/>
                <a:ea typeface="+mn-ea"/>
                <a:cs typeface="+mn-cs"/>
              </a:rPr>
              <a:t> routing which changes the routing table according to the change in topology. </a:t>
            </a:r>
            <a:r>
              <a:rPr lang="en-US" sz="1200" b="0" i="0" u="sng" kern="1200" dirty="0" smtClean="0">
                <a:solidFill>
                  <a:schemeClr val="tx1"/>
                </a:solidFill>
                <a:latin typeface="+mn-lt"/>
                <a:ea typeface="+mn-ea"/>
                <a:cs typeface="+mn-cs"/>
                <a:hlinkClick r:id="rId3"/>
              </a:rPr>
              <a:t>Dynamic routing</a:t>
            </a:r>
            <a:r>
              <a:rPr lang="en-US" sz="1200" b="0" i="0" kern="1200" dirty="0" smtClean="0">
                <a:solidFill>
                  <a:schemeClr val="tx1"/>
                </a:solidFill>
                <a:latin typeface="+mn-lt"/>
                <a:ea typeface="+mn-ea"/>
                <a:cs typeface="+mn-cs"/>
              </a:rPr>
              <a:t> uses complex routing algorithms and it does not provide high security like </a:t>
            </a:r>
            <a:r>
              <a:rPr lang="en-US" sz="1200" b="0" i="0" u="sng" kern="1200" dirty="0" smtClean="0">
                <a:solidFill>
                  <a:schemeClr val="tx1"/>
                </a:solidFill>
                <a:latin typeface="+mn-lt"/>
                <a:ea typeface="+mn-ea"/>
                <a:cs typeface="+mn-cs"/>
                <a:hlinkClick r:id="rId4"/>
              </a:rPr>
              <a:t>static routing</a:t>
            </a:r>
            <a:endParaRPr lang="en-US" sz="1200" b="0" i="0" u="sng"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Latency is the total time required by a packet in transmission from the source IP address to the destination. Jitter in internet protocol networks means a variation in latency of a data packet</a:t>
            </a:r>
            <a:endParaRPr lang="en-US" dirty="0"/>
          </a:p>
        </p:txBody>
      </p:sp>
      <p:sp>
        <p:nvSpPr>
          <p:cNvPr id="4" name="Slide Number Placeholder 3"/>
          <p:cNvSpPr>
            <a:spLocks noGrp="1"/>
          </p:cNvSpPr>
          <p:nvPr>
            <p:ph type="sldNum" sz="quarter" idx="10"/>
          </p:nvPr>
        </p:nvSpPr>
        <p:spPr/>
        <p:txBody>
          <a:bodyPr/>
          <a:lstStyle/>
          <a:p>
            <a:fld id="{5B847F1E-41D3-4691-833F-E1FF24E0B6F2}" type="slidenum">
              <a:rPr lang="en-IN" smtClean="0"/>
              <a:pPr/>
              <a:t>19</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 an aside, an error-free channel is completely impossible to achieve; what people really mean by this term is that the error rate is low enough to ignore in practice.)</a:t>
            </a:r>
            <a:endParaRPr lang="en-IN" sz="1200" dirty="0"/>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21</a:t>
            </a:fld>
            <a:endParaRPr lang="en-IN"/>
          </a:p>
        </p:txBody>
      </p:sp>
    </p:spTree>
    <p:extLst>
      <p:ext uri="{BB962C8B-B14F-4D97-AF65-F5344CB8AC3E}">
        <p14:creationId xmlns="" xmlns:p14="http://schemas.microsoft.com/office/powerpoint/2010/main" val="3036028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 an aside, an error-free channel is completely impossible to achieve; what people really mean by this term is that the error rate is low enough to ignore in practice.)</a:t>
            </a:r>
            <a:endParaRPr lang="en-IN" sz="1200" dirty="0"/>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22</a:t>
            </a:fld>
            <a:endParaRPr lang="en-IN"/>
          </a:p>
        </p:txBody>
      </p:sp>
    </p:spTree>
    <p:extLst>
      <p:ext uri="{BB962C8B-B14F-4D97-AF65-F5344CB8AC3E}">
        <p14:creationId xmlns="" xmlns:p14="http://schemas.microsoft.com/office/powerpoint/2010/main" val="1161011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a:lnSpc>
                <a:spcPct val="80000"/>
              </a:lnSpc>
            </a:pPr>
            <a:r>
              <a:rPr lang="en-US" sz="2600" dirty="0"/>
              <a:t>The transport layer is responsible for process-to-process delivery of the entire message.</a:t>
            </a:r>
          </a:p>
          <a:p>
            <a:pPr>
              <a:lnSpc>
                <a:spcPct val="80000"/>
              </a:lnSpc>
            </a:pPr>
            <a:r>
              <a:rPr lang="en-US" sz="2600" dirty="0"/>
              <a:t>The major duties performed by the transport layer are:</a:t>
            </a:r>
          </a:p>
          <a:p>
            <a:pPr lvl="1">
              <a:lnSpc>
                <a:spcPct val="80000"/>
              </a:lnSpc>
            </a:pPr>
            <a:r>
              <a:rPr lang="en-US" sz="2200" b="1" dirty="0"/>
              <a:t>Service Port addressing:</a:t>
            </a:r>
          </a:p>
          <a:p>
            <a:pPr lvl="2">
              <a:lnSpc>
                <a:spcPct val="80000"/>
              </a:lnSpc>
            </a:pPr>
            <a:r>
              <a:rPr lang="en-US" sz="2000" dirty="0"/>
              <a:t>Computers often running several processes (running programs) at the same time:</a:t>
            </a:r>
          </a:p>
          <a:p>
            <a:pPr lvl="2">
              <a:lnSpc>
                <a:spcPct val="80000"/>
              </a:lnSpc>
            </a:pPr>
            <a:r>
              <a:rPr lang="en-US" sz="2000" dirty="0"/>
              <a:t>Each running process open a logical port on the computer.</a:t>
            </a:r>
          </a:p>
          <a:p>
            <a:pPr lvl="2">
              <a:lnSpc>
                <a:spcPct val="80000"/>
              </a:lnSpc>
            </a:pPr>
            <a:r>
              <a:rPr lang="en-US" sz="2000" dirty="0"/>
              <a:t>The transport layer header must therefore include a type of address called port address.</a:t>
            </a:r>
          </a:p>
          <a:p>
            <a:pPr lvl="2">
              <a:lnSpc>
                <a:spcPct val="80000"/>
              </a:lnSpc>
            </a:pPr>
            <a:r>
              <a:rPr lang="en-US" sz="2000" dirty="0"/>
              <a:t>The network layer gets each packet to the correct computer, the transport layer get the entire message to the correct process on that computer.</a:t>
            </a:r>
          </a:p>
          <a:p>
            <a:pPr lvl="1">
              <a:lnSpc>
                <a:spcPct val="80000"/>
              </a:lnSpc>
            </a:pPr>
            <a:r>
              <a:rPr lang="en-US" sz="2200" b="1" dirty="0"/>
              <a:t>Segmentation and reassembly:</a:t>
            </a:r>
          </a:p>
          <a:p>
            <a:pPr lvl="2">
              <a:lnSpc>
                <a:spcPct val="80000"/>
              </a:lnSpc>
            </a:pPr>
            <a:r>
              <a:rPr lang="en-US" sz="2000" dirty="0"/>
              <a:t>A message received form the upper layers is divided into transmittable segments, each segment contains a sequence number.</a:t>
            </a:r>
          </a:p>
          <a:p>
            <a:pPr lvl="2">
              <a:lnSpc>
                <a:spcPct val="80000"/>
              </a:lnSpc>
            </a:pPr>
            <a:r>
              <a:rPr lang="en-US" sz="2000" dirty="0"/>
              <a:t>These number enables the transport layer to reassemble the message correctly upon arrival at the destination and to identify and replace packets that were lost in the transmission.</a:t>
            </a:r>
          </a:p>
          <a:p>
            <a:pPr lvl="1">
              <a:lnSpc>
                <a:spcPct val="80000"/>
              </a:lnSpc>
            </a:pPr>
            <a:r>
              <a:rPr lang="en-US" sz="2200" b="1" dirty="0"/>
              <a:t>Connection Control:</a:t>
            </a:r>
          </a:p>
          <a:p>
            <a:pPr lvl="2">
              <a:lnSpc>
                <a:spcPct val="80000"/>
              </a:lnSpc>
            </a:pPr>
            <a:r>
              <a:rPr lang="en-US" sz="2000" dirty="0"/>
              <a:t>The transport layer can be either connectionless or connection oriented.</a:t>
            </a:r>
          </a:p>
          <a:p>
            <a:pPr lvl="2">
              <a:lnSpc>
                <a:spcPct val="80000"/>
              </a:lnSpc>
            </a:pPr>
            <a:r>
              <a:rPr lang="en-US" sz="2000" dirty="0"/>
              <a:t>A connection oriented transport layer makes a logical connection with the transport layer at the destination machine first before delivering the packets.</a:t>
            </a:r>
          </a:p>
          <a:p>
            <a:pPr lvl="2">
              <a:lnSpc>
                <a:spcPct val="80000"/>
              </a:lnSpc>
            </a:pPr>
            <a:r>
              <a:rPr lang="en-US" sz="2000" dirty="0"/>
              <a:t>After all the data are transferred, the connection is terminated.</a:t>
            </a:r>
          </a:p>
          <a:p>
            <a:pPr lvl="1">
              <a:lnSpc>
                <a:spcPct val="80000"/>
              </a:lnSpc>
            </a:pPr>
            <a:r>
              <a:rPr lang="en-US" sz="2200" b="1" dirty="0"/>
              <a:t>Flow control:</a:t>
            </a:r>
          </a:p>
          <a:p>
            <a:pPr lvl="2">
              <a:lnSpc>
                <a:spcPct val="80000"/>
              </a:lnSpc>
            </a:pPr>
            <a:r>
              <a:rPr lang="en-US" sz="2000" dirty="0"/>
              <a:t>Like data link layer, the transport layer is responsible for flow control.</a:t>
            </a:r>
          </a:p>
          <a:p>
            <a:pPr lvl="2">
              <a:lnSpc>
                <a:spcPct val="80000"/>
              </a:lnSpc>
            </a:pPr>
            <a:r>
              <a:rPr lang="en-US" sz="2000" dirty="0"/>
              <a:t>However, flow control at this layer is performed end to end rather than across a single link.</a:t>
            </a:r>
          </a:p>
          <a:p>
            <a:pPr lvl="1">
              <a:lnSpc>
                <a:spcPct val="80000"/>
              </a:lnSpc>
            </a:pPr>
            <a:r>
              <a:rPr lang="en-US" sz="2200" b="1" dirty="0"/>
              <a:t>Error control:</a:t>
            </a:r>
          </a:p>
          <a:p>
            <a:pPr lvl="2">
              <a:lnSpc>
                <a:spcPct val="80000"/>
              </a:lnSpc>
            </a:pPr>
            <a:r>
              <a:rPr lang="en-US" sz="2000" dirty="0"/>
              <a:t>Like data link layer, the transport layer is responsible for error control.</a:t>
            </a:r>
          </a:p>
          <a:p>
            <a:pPr lvl="2">
              <a:lnSpc>
                <a:spcPct val="80000"/>
              </a:lnSpc>
            </a:pPr>
            <a:r>
              <a:rPr lang="en-US" sz="2000" dirty="0"/>
              <a:t>However, error control at this layer is performed end to end rather than across a single link.</a:t>
            </a:r>
          </a:p>
          <a:p>
            <a:pPr>
              <a:lnSpc>
                <a:spcPct val="80000"/>
              </a:lnSpc>
            </a:pPr>
            <a:r>
              <a:rPr lang="en-US" sz="2600" dirty="0"/>
              <a:t>Transport layer 4 protocols include TCP (Transmission Control Protocol) and UDP (User Datagram Protocol).</a:t>
            </a:r>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23</a:t>
            </a:fld>
            <a:endParaRPr lang="en-IN"/>
          </a:p>
        </p:txBody>
      </p:sp>
    </p:spTree>
    <p:extLst>
      <p:ext uri="{BB962C8B-B14F-4D97-AF65-F5344CB8AC3E}">
        <p14:creationId xmlns="" xmlns:p14="http://schemas.microsoft.com/office/powerpoint/2010/main" val="3195016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Enables two networked resources to hold ongoing communications (called a session)  across a network</a:t>
            </a:r>
          </a:p>
          <a:p>
            <a:pPr>
              <a:lnSpc>
                <a:spcPct val="80000"/>
              </a:lnSpc>
            </a:pPr>
            <a:r>
              <a:rPr lang="en-US" sz="2600" dirty="0"/>
              <a:t>The major duties of the session layer are:</a:t>
            </a:r>
          </a:p>
          <a:p>
            <a:pPr lvl="1" algn="just">
              <a:lnSpc>
                <a:spcPct val="80000"/>
              </a:lnSpc>
            </a:pPr>
            <a:r>
              <a:rPr lang="en-US" sz="2200" b="1" dirty="0"/>
              <a:t>Synchronization:</a:t>
            </a:r>
            <a:r>
              <a:rPr lang="en-US" sz="2200" dirty="0"/>
              <a:t> </a:t>
            </a:r>
          </a:p>
          <a:p>
            <a:pPr lvl="2" algn="just">
              <a:lnSpc>
                <a:spcPct val="80000"/>
              </a:lnSpc>
            </a:pPr>
            <a:r>
              <a:rPr lang="en-US" sz="2000" dirty="0"/>
              <a:t>For lengthy transaction (file transfer), the user may choose to establish synchronization points associated with the transfer. If a fault develops during a transaction, the dialog may be restarted at an agreed synchronization point. </a:t>
            </a:r>
          </a:p>
          <a:p>
            <a:pPr lvl="1" algn="just">
              <a:lnSpc>
                <a:spcPct val="80000"/>
              </a:lnSpc>
            </a:pPr>
            <a:r>
              <a:rPr lang="en-US" sz="2200" b="1" dirty="0"/>
              <a:t>Dialog control:</a:t>
            </a:r>
          </a:p>
          <a:p>
            <a:pPr lvl="2" algn="just">
              <a:lnSpc>
                <a:spcPct val="80000"/>
              </a:lnSpc>
            </a:pPr>
            <a:r>
              <a:rPr lang="en-US" sz="2000" dirty="0"/>
              <a:t>Session layer determines that which role is to be played at any given time by a host.</a:t>
            </a:r>
          </a:p>
          <a:p>
            <a:pPr lvl="3" algn="just">
              <a:lnSpc>
                <a:spcPct val="80000"/>
              </a:lnSpc>
            </a:pPr>
            <a:r>
              <a:rPr lang="en-US" b="1" dirty="0"/>
              <a:t>Duplex:</a:t>
            </a:r>
            <a:r>
              <a:rPr lang="en-US" dirty="0"/>
              <a:t> Two-way simultaneous.</a:t>
            </a:r>
          </a:p>
          <a:p>
            <a:pPr lvl="3" algn="just">
              <a:lnSpc>
                <a:spcPct val="80000"/>
              </a:lnSpc>
            </a:pPr>
            <a:r>
              <a:rPr lang="en-US" b="1" dirty="0"/>
              <a:t>Half-Duplex:</a:t>
            </a:r>
            <a:r>
              <a:rPr lang="en-US" dirty="0"/>
              <a:t> Two-way alternate. </a:t>
            </a:r>
          </a:p>
          <a:p>
            <a:pPr lvl="3" algn="just">
              <a:lnSpc>
                <a:spcPct val="80000"/>
              </a:lnSpc>
            </a:pPr>
            <a:r>
              <a:rPr lang="en-US" b="1" dirty="0"/>
              <a:t>Simplex:</a:t>
            </a:r>
            <a:r>
              <a:rPr lang="en-US" dirty="0"/>
              <a:t> One-way.</a:t>
            </a:r>
          </a:p>
          <a:p>
            <a:endParaRPr lang="en-IN" dirty="0"/>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25</a:t>
            </a:fld>
            <a:endParaRPr lang="en-IN"/>
          </a:p>
        </p:txBody>
      </p:sp>
    </p:spTree>
    <p:extLst>
      <p:ext uri="{BB962C8B-B14F-4D97-AF65-F5344CB8AC3E}">
        <p14:creationId xmlns="" xmlns:p14="http://schemas.microsoft.com/office/powerpoint/2010/main" val="21856379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lnSpc>
                <a:spcPct val="80000"/>
              </a:lnSpc>
            </a:pPr>
            <a:r>
              <a:rPr lang="en-US" sz="2600" dirty="0"/>
              <a:t>The major duties of the presentation layer are:</a:t>
            </a:r>
          </a:p>
          <a:p>
            <a:pPr lvl="1">
              <a:lnSpc>
                <a:spcPct val="80000"/>
              </a:lnSpc>
            </a:pPr>
            <a:r>
              <a:rPr lang="en-US" sz="2200" b="1" dirty="0"/>
              <a:t>Format</a:t>
            </a:r>
            <a:r>
              <a:rPr lang="en-US" sz="2200" dirty="0"/>
              <a:t> </a:t>
            </a:r>
            <a:r>
              <a:rPr lang="en-US" sz="2200" b="1" dirty="0"/>
              <a:t>conversion</a:t>
            </a:r>
            <a:r>
              <a:rPr lang="en-US" sz="2200" dirty="0"/>
              <a:t>:</a:t>
            </a:r>
          </a:p>
          <a:p>
            <a:pPr lvl="2">
              <a:lnSpc>
                <a:spcPct val="80000"/>
              </a:lnSpc>
            </a:pPr>
            <a:r>
              <a:rPr lang="en-US" sz="2000" dirty="0"/>
              <a:t>Convert message from one format into another format .i.e. for ASCII to EBCEDIC or vice versa.</a:t>
            </a:r>
          </a:p>
          <a:p>
            <a:pPr lvl="1">
              <a:lnSpc>
                <a:spcPct val="80000"/>
              </a:lnSpc>
            </a:pPr>
            <a:r>
              <a:rPr lang="en-US" sz="2200" b="1" dirty="0"/>
              <a:t>Compression</a:t>
            </a:r>
            <a:r>
              <a:rPr lang="en-US" sz="2200" dirty="0"/>
              <a:t>.</a:t>
            </a:r>
          </a:p>
          <a:p>
            <a:pPr lvl="2">
              <a:lnSpc>
                <a:spcPct val="80000"/>
              </a:lnSpc>
            </a:pPr>
            <a:r>
              <a:rPr lang="en-US" sz="2000" dirty="0"/>
              <a:t>Compress the message to take less bandwidth on the transmission media and less time for transmission.</a:t>
            </a:r>
          </a:p>
          <a:p>
            <a:pPr lvl="1">
              <a:lnSpc>
                <a:spcPct val="80000"/>
              </a:lnSpc>
            </a:pPr>
            <a:r>
              <a:rPr lang="en-US" sz="2200" b="1" dirty="0"/>
              <a:t>Encryption</a:t>
            </a:r>
            <a:r>
              <a:rPr lang="en-US" sz="2200" dirty="0"/>
              <a:t>:</a:t>
            </a:r>
          </a:p>
          <a:p>
            <a:pPr lvl="2">
              <a:lnSpc>
                <a:spcPct val="80000"/>
              </a:lnSpc>
            </a:pPr>
            <a:r>
              <a:rPr lang="en-US" sz="2000" dirty="0"/>
              <a:t>Convert the message into a form that will not be readable by others.</a:t>
            </a:r>
          </a:p>
          <a:p>
            <a:pPr lvl="2">
              <a:lnSpc>
                <a:spcPct val="80000"/>
              </a:lnSpc>
            </a:pPr>
            <a:r>
              <a:rPr lang="en-US" sz="2000" dirty="0"/>
              <a:t>Provides security to the message.</a:t>
            </a:r>
          </a:p>
          <a:p>
            <a:endParaRPr lang="en-US" dirty="0"/>
          </a:p>
          <a:p>
            <a:r>
              <a:rPr lang="en-US" sz="1200" dirty="0"/>
              <a:t>Manages data-format information for networked communications (the network’s translator)</a:t>
            </a:r>
          </a:p>
          <a:p>
            <a:r>
              <a:rPr lang="en-US" sz="1200" dirty="0"/>
              <a:t>For outgoing messages, it converts data into a generic format for network transmission; for incoming messages, it converts data from the generic network format to a format that the receiving application can understand</a:t>
            </a:r>
          </a:p>
          <a:p>
            <a:endParaRPr lang="en-US" sz="1200" dirty="0"/>
          </a:p>
          <a:p>
            <a:r>
              <a:rPr lang="en-US" sz="1200" dirty="0"/>
              <a:t>This layer is also responsible for certain protocol conversions, data encryption/decryption, or data compression/decompression</a:t>
            </a:r>
          </a:p>
          <a:p>
            <a:endParaRPr lang="en-US" sz="1200" dirty="0"/>
          </a:p>
          <a:p>
            <a:r>
              <a:rPr lang="en-US" sz="1200" dirty="0"/>
              <a:t>A special software facility called a “</a:t>
            </a:r>
            <a:r>
              <a:rPr lang="en-US" sz="1200" i="1" dirty="0"/>
              <a:t>redirector</a:t>
            </a:r>
            <a:r>
              <a:rPr lang="en-US" sz="1200" dirty="0"/>
              <a:t>” operates at this layer to determine if a request is network related on not and forward network-related requests to an appropriate network resource </a:t>
            </a:r>
          </a:p>
          <a:p>
            <a:endParaRPr kumimoji="0" lang="en-US" altLang="ko-KR" sz="1200" dirty="0"/>
          </a:p>
          <a:p>
            <a:endParaRPr lang="en-IN" dirty="0"/>
          </a:p>
          <a:p>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27</a:t>
            </a:fld>
            <a:endParaRPr lang="en-IN"/>
          </a:p>
        </p:txBody>
      </p:sp>
    </p:spTree>
    <p:extLst>
      <p:ext uri="{BB962C8B-B14F-4D97-AF65-F5344CB8AC3E}">
        <p14:creationId xmlns="" xmlns:p14="http://schemas.microsoft.com/office/powerpoint/2010/main" val="218853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dirty="0"/>
              <a:t>Provides a set of interfaces for sending and receiving applications to  gain access to and use network services, such as:  networked file transfer, message handling and database query processing</a:t>
            </a:r>
          </a:p>
          <a:p>
            <a:pPr marL="0" marR="0" indent="0" algn="l" defTabSz="914400" rtl="0" eaLnBrk="1" fontAlgn="auto" latinLnBrk="0" hangingPunct="1">
              <a:lnSpc>
                <a:spcPct val="90000"/>
              </a:lnSpc>
              <a:spcBef>
                <a:spcPts val="0"/>
              </a:spcBef>
              <a:spcAft>
                <a:spcPts val="0"/>
              </a:spcAft>
              <a:buClrTx/>
              <a:buSzTx/>
              <a:buFontTx/>
              <a:buNone/>
              <a:tabLst/>
              <a:defRPr/>
            </a:pPr>
            <a:r>
              <a:rPr lang="en-US" dirty="0"/>
              <a:t> </a:t>
            </a:r>
          </a:p>
          <a:p>
            <a:pPr>
              <a:lnSpc>
                <a:spcPct val="90000"/>
              </a:lnSpc>
            </a:pPr>
            <a:r>
              <a:rPr lang="en-US" dirty="0"/>
              <a:t>The major duties are:</a:t>
            </a:r>
          </a:p>
          <a:p>
            <a:pPr lvl="1">
              <a:lnSpc>
                <a:spcPct val="90000"/>
              </a:lnSpc>
            </a:pPr>
            <a:r>
              <a:rPr lang="en-US" sz="3200" b="1" dirty="0"/>
              <a:t>Mail</a:t>
            </a:r>
            <a:r>
              <a:rPr lang="en-US" sz="3200" dirty="0"/>
              <a:t> </a:t>
            </a:r>
            <a:r>
              <a:rPr lang="en-US" sz="3200" b="1" dirty="0"/>
              <a:t>service</a:t>
            </a:r>
            <a:r>
              <a:rPr lang="en-US" sz="3200" dirty="0"/>
              <a:t>:</a:t>
            </a:r>
          </a:p>
          <a:p>
            <a:pPr lvl="2">
              <a:lnSpc>
                <a:spcPct val="90000"/>
              </a:lnSpc>
            </a:pPr>
            <a:r>
              <a:rPr lang="en-US" sz="3200" dirty="0"/>
              <a:t>It provides network services for the email application.</a:t>
            </a:r>
          </a:p>
          <a:p>
            <a:pPr lvl="1">
              <a:lnSpc>
                <a:spcPct val="90000"/>
              </a:lnSpc>
            </a:pPr>
            <a:r>
              <a:rPr lang="en-US" sz="3200" b="1" dirty="0"/>
              <a:t>File</a:t>
            </a:r>
            <a:r>
              <a:rPr lang="en-US" sz="3200" dirty="0"/>
              <a:t> </a:t>
            </a:r>
            <a:r>
              <a:rPr lang="en-US" sz="3200" b="1" dirty="0"/>
              <a:t>transfer</a:t>
            </a:r>
            <a:r>
              <a:rPr lang="en-US" sz="3200" dirty="0"/>
              <a:t> </a:t>
            </a:r>
            <a:r>
              <a:rPr lang="en-US" sz="3200" b="1" dirty="0"/>
              <a:t>and</a:t>
            </a:r>
            <a:r>
              <a:rPr lang="en-US" sz="3200" dirty="0"/>
              <a:t> </a:t>
            </a:r>
            <a:r>
              <a:rPr lang="en-US" sz="3200" b="1" dirty="0"/>
              <a:t>Access</a:t>
            </a:r>
            <a:r>
              <a:rPr lang="en-US" sz="3200" dirty="0"/>
              <a:t>:</a:t>
            </a:r>
          </a:p>
          <a:p>
            <a:pPr lvl="2">
              <a:lnSpc>
                <a:spcPct val="90000"/>
              </a:lnSpc>
            </a:pPr>
            <a:r>
              <a:rPr lang="en-US" sz="3200" dirty="0"/>
              <a:t>It provides network services for a user to access files on a remote computer, to retrieve files from a remote computer for use in the local computer and to manage or control files in a remote computer locally.</a:t>
            </a:r>
          </a:p>
          <a:p>
            <a:pPr lvl="1">
              <a:lnSpc>
                <a:spcPct val="90000"/>
              </a:lnSpc>
            </a:pPr>
            <a:r>
              <a:rPr lang="en-US" sz="3200" b="1" dirty="0"/>
              <a:t>World</a:t>
            </a:r>
            <a:r>
              <a:rPr lang="en-US" sz="3200" dirty="0"/>
              <a:t> </a:t>
            </a:r>
            <a:r>
              <a:rPr lang="en-US" sz="3200" b="1" dirty="0"/>
              <a:t>Wide</a:t>
            </a:r>
            <a:r>
              <a:rPr lang="en-US" sz="3200" dirty="0"/>
              <a:t> </a:t>
            </a:r>
            <a:r>
              <a:rPr lang="en-US" sz="3200" b="1" dirty="0"/>
              <a:t>Web</a:t>
            </a:r>
            <a:r>
              <a:rPr lang="en-US" sz="3200" dirty="0"/>
              <a:t>:</a:t>
            </a:r>
          </a:p>
          <a:p>
            <a:pPr lvl="2">
              <a:lnSpc>
                <a:spcPct val="90000"/>
              </a:lnSpc>
            </a:pPr>
            <a:r>
              <a:rPr lang="en-US" sz="3200" dirty="0"/>
              <a:t>It provides network services to access the World Wide Web.</a:t>
            </a:r>
          </a:p>
          <a:p>
            <a:pPr lvl="2">
              <a:lnSpc>
                <a:spcPct val="90000"/>
              </a:lnSpc>
            </a:pPr>
            <a:endParaRPr lang="en-US" sz="3200" dirty="0"/>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30</a:t>
            </a:fld>
            <a:endParaRPr lang="en-IN"/>
          </a:p>
        </p:txBody>
      </p:sp>
    </p:spTree>
    <p:extLst>
      <p:ext uri="{BB962C8B-B14F-4D97-AF65-F5344CB8AC3E}">
        <p14:creationId xmlns="" xmlns:p14="http://schemas.microsoft.com/office/powerpoint/2010/main" val="135637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ChangeArrowheads="1" noTextEdit="1"/>
          </p:cNvSpPr>
          <p:nvPr>
            <p:ph type="sldImg"/>
          </p:nvPr>
        </p:nvSpPr>
        <p:spPr>
          <a:xfrm>
            <a:off x="381000" y="684213"/>
            <a:ext cx="6096000" cy="3430587"/>
          </a:xfrm>
          <a:ln/>
        </p:spPr>
      </p:sp>
      <p:sp>
        <p:nvSpPr>
          <p:cNvPr id="284675" name="Rectangle 3"/>
          <p:cNvSpPr>
            <a:spLocks noGrp="1" noChangeArrowheads="1"/>
          </p:cNvSpPr>
          <p:nvPr>
            <p:ph type="body" idx="1"/>
          </p:nvPr>
        </p:nvSpPr>
        <p:spPr>
          <a:xfrm>
            <a:off x="686118" y="4344111"/>
            <a:ext cx="5485765" cy="4115472"/>
          </a:xfrm>
        </p:spPr>
        <p:txBody>
          <a:bodyPr/>
          <a:lstStyle/>
          <a:p>
            <a:endParaRPr lang="en-US">
              <a:ea typeface="굴림" pitchFamily="50" charset="-127"/>
            </a:endParaRPr>
          </a:p>
        </p:txBody>
      </p:sp>
    </p:spTree>
    <p:extLst>
      <p:ext uri="{BB962C8B-B14F-4D97-AF65-F5344CB8AC3E}">
        <p14:creationId xmlns="" xmlns:p14="http://schemas.microsoft.com/office/powerpoint/2010/main" val="4239784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066800" lvl="1" indent="-609600" algn="just">
              <a:spcBef>
                <a:spcPct val="20000"/>
              </a:spcBef>
              <a:buClr>
                <a:schemeClr val="accent2"/>
              </a:buClr>
              <a:buFontTx/>
              <a:buChar char="•"/>
            </a:pPr>
            <a:r>
              <a:rPr lang="en-US" sz="1200" dirty="0">
                <a:latin typeface="+mj-lt"/>
              </a:rPr>
              <a:t>Connected hundreds of Universities and Government installations, using </a:t>
            </a:r>
            <a:r>
              <a:rPr lang="en-US" sz="1200" dirty="0">
                <a:solidFill>
                  <a:srgbClr val="FF0000"/>
                </a:solidFill>
                <a:latin typeface="+mj-lt"/>
              </a:rPr>
              <a:t>leased telephone lines </a:t>
            </a:r>
          </a:p>
          <a:p>
            <a:pPr marL="1066800" lvl="1" indent="-609600" algn="just">
              <a:spcBef>
                <a:spcPct val="20000"/>
              </a:spcBef>
              <a:buClr>
                <a:schemeClr val="accent2"/>
              </a:buClr>
              <a:buFontTx/>
              <a:buChar char="•"/>
            </a:pPr>
            <a:r>
              <a:rPr lang="en-US" sz="1200" dirty="0">
                <a:latin typeface="+mj-lt"/>
              </a:rPr>
              <a:t>When </a:t>
            </a:r>
            <a:r>
              <a:rPr lang="en-US" sz="1200" dirty="0">
                <a:solidFill>
                  <a:srgbClr val="FF0000"/>
                </a:solidFill>
                <a:latin typeface="+mj-lt"/>
              </a:rPr>
              <a:t>satellite and radio networks </a:t>
            </a:r>
            <a:r>
              <a:rPr lang="en-US" sz="1200" dirty="0">
                <a:latin typeface="+mj-lt"/>
              </a:rPr>
              <a:t>were added later, the existing protocols had trouble interworking with them</a:t>
            </a:r>
          </a:p>
          <a:p>
            <a:pPr marL="1066800" lvl="1" indent="-609600" algn="just">
              <a:spcBef>
                <a:spcPct val="20000"/>
              </a:spcBef>
              <a:buClr>
                <a:schemeClr val="accent2"/>
              </a:buClr>
              <a:buFontTx/>
              <a:buChar char="•"/>
            </a:pPr>
            <a:r>
              <a:rPr lang="en-US" sz="1200" dirty="0">
                <a:latin typeface="+mj-lt"/>
              </a:rPr>
              <a:t>So, a new reference architecture was needed </a:t>
            </a:r>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34</a:t>
            </a:fld>
            <a:endParaRPr lang="en-IN"/>
          </a:p>
        </p:txBody>
      </p:sp>
    </p:spTree>
    <p:extLst>
      <p:ext uri="{BB962C8B-B14F-4D97-AF65-F5344CB8AC3E}">
        <p14:creationId xmlns="" xmlns:p14="http://schemas.microsoft.com/office/powerpoint/2010/main" val="28850582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066800" lvl="1" indent="-609600" algn="just">
              <a:spcBef>
                <a:spcPct val="20000"/>
              </a:spcBef>
              <a:buClr>
                <a:schemeClr val="accent2"/>
              </a:buClr>
              <a:buFontTx/>
              <a:buChar char="•"/>
            </a:pPr>
            <a:r>
              <a:rPr lang="en-US" sz="1200" dirty="0">
                <a:latin typeface="+mj-lt"/>
              </a:rPr>
              <a:t>Connected hundreds of Universities and Government installations, using </a:t>
            </a:r>
            <a:r>
              <a:rPr lang="en-US" sz="1200" dirty="0">
                <a:solidFill>
                  <a:srgbClr val="FF0000"/>
                </a:solidFill>
                <a:latin typeface="+mj-lt"/>
              </a:rPr>
              <a:t>leased telephone lines </a:t>
            </a:r>
          </a:p>
          <a:p>
            <a:pPr marL="1066800" lvl="1" indent="-609600" algn="just">
              <a:spcBef>
                <a:spcPct val="20000"/>
              </a:spcBef>
              <a:buClr>
                <a:schemeClr val="accent2"/>
              </a:buClr>
              <a:buFontTx/>
              <a:buChar char="•"/>
            </a:pPr>
            <a:r>
              <a:rPr lang="en-US" sz="1200" dirty="0">
                <a:latin typeface="+mj-lt"/>
              </a:rPr>
              <a:t>When </a:t>
            </a:r>
            <a:r>
              <a:rPr lang="en-US" sz="1200" dirty="0">
                <a:solidFill>
                  <a:srgbClr val="FF0000"/>
                </a:solidFill>
                <a:latin typeface="+mj-lt"/>
              </a:rPr>
              <a:t>satellite and radio networks </a:t>
            </a:r>
            <a:r>
              <a:rPr lang="en-US" sz="1200" dirty="0">
                <a:latin typeface="+mj-lt"/>
              </a:rPr>
              <a:t>were added later, the existing protocols had trouble interworking with them</a:t>
            </a:r>
          </a:p>
          <a:p>
            <a:pPr marL="1066800" lvl="1" indent="-609600" algn="just">
              <a:spcBef>
                <a:spcPct val="20000"/>
              </a:spcBef>
              <a:buClr>
                <a:schemeClr val="accent2"/>
              </a:buClr>
              <a:buFontTx/>
              <a:buChar char="•"/>
            </a:pPr>
            <a:r>
              <a:rPr lang="en-US" sz="1200" dirty="0">
                <a:latin typeface="+mj-lt"/>
              </a:rPr>
              <a:t>So, a new reference architecture was needed </a:t>
            </a:r>
          </a:p>
          <a:p>
            <a:endParaRPr lang="en-IN" dirty="0"/>
          </a:p>
        </p:txBody>
      </p:sp>
      <p:sp>
        <p:nvSpPr>
          <p:cNvPr id="4" name="Slide Number Placeholder 3"/>
          <p:cNvSpPr>
            <a:spLocks noGrp="1"/>
          </p:cNvSpPr>
          <p:nvPr>
            <p:ph type="sldNum" sz="quarter" idx="10"/>
          </p:nvPr>
        </p:nvSpPr>
        <p:spPr/>
        <p:txBody>
          <a:bodyPr/>
          <a:lstStyle/>
          <a:p>
            <a:fld id="{25BD8B5B-DAD6-460F-AB84-FCB38CADD049}" type="slidenum">
              <a:rPr lang="en-IN" smtClean="0"/>
              <a:pPr/>
              <a:t>35</a:t>
            </a:fld>
            <a:endParaRPr lang="en-IN"/>
          </a:p>
        </p:txBody>
      </p:sp>
    </p:spTree>
    <p:extLst>
      <p:ext uri="{BB962C8B-B14F-4D97-AF65-F5344CB8AC3E}">
        <p14:creationId xmlns="" xmlns:p14="http://schemas.microsoft.com/office/powerpoint/2010/main" val="594764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4BCB41-CA48-43BF-91F2-62BF72F28772}" type="slidenum">
              <a:rPr lang="en-US"/>
              <a:pPr/>
              <a:t>36</a:t>
            </a:fld>
            <a:endParaRPr lang="en-US"/>
          </a:p>
        </p:txBody>
      </p:sp>
      <p:sp>
        <p:nvSpPr>
          <p:cNvPr id="38914" name="Rectangle 2"/>
          <p:cNvSpPr>
            <a:spLocks noGrp="1" noRot="1" noChangeAspect="1" noChangeArrowheads="1" noTextEdit="1"/>
          </p:cNvSpPr>
          <p:nvPr>
            <p:ph type="sldImg"/>
          </p:nvPr>
        </p:nvSpPr>
        <p:spPr>
          <a:xfrm>
            <a:off x="646113" y="915988"/>
            <a:ext cx="5567362" cy="3132137"/>
          </a:xfrm>
          <a:solidFill>
            <a:srgbClr val="FFFFFF"/>
          </a:solidFill>
          <a:ln/>
        </p:spPr>
      </p:sp>
      <p:sp>
        <p:nvSpPr>
          <p:cNvPr id="38915" name="Rectangle 3"/>
          <p:cNvSpPr txBox="1">
            <a:spLocks noGrp="1" noChangeArrowheads="1"/>
          </p:cNvSpPr>
          <p:nvPr>
            <p:ph type="body" idx="1"/>
          </p:nvPr>
        </p:nvSpPr>
        <p:spPr>
          <a:xfrm>
            <a:off x="1046163" y="4352925"/>
            <a:ext cx="4770437" cy="3476625"/>
          </a:xfrm>
          <a:ln/>
        </p:spPr>
        <p:txBody>
          <a:bodyPr wrap="none" anchor="ctr"/>
          <a:lstStyle/>
          <a:p>
            <a:endParaRPr lang="en-US" dirty="0"/>
          </a:p>
        </p:txBody>
      </p:sp>
    </p:spTree>
    <p:extLst>
      <p:ext uri="{BB962C8B-B14F-4D97-AF65-F5344CB8AC3E}">
        <p14:creationId xmlns="" xmlns:p14="http://schemas.microsoft.com/office/powerpoint/2010/main" val="4142476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describes what links such as serial lines and classic Ethernet must do to meet the needs of this connectionless internet layer. </a:t>
            </a:r>
          </a:p>
          <a:p>
            <a:pPr algn="l"/>
            <a:r>
              <a:rPr lang="en-US" sz="1800" b="0" i="0" u="none" strike="noStrike" baseline="0" dirty="0">
                <a:latin typeface="Arial" panose="020B0604020202020204" pitchFamily="34" charset="0"/>
              </a:rPr>
              <a:t>Note that ''internet'' is used here in a generic sense, even though this layer is present in the Internet.</a:t>
            </a:r>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37</a:t>
            </a:fld>
            <a:endParaRPr lang="en-IN"/>
          </a:p>
        </p:txBody>
      </p:sp>
    </p:spTree>
    <p:extLst>
      <p:ext uri="{BB962C8B-B14F-4D97-AF65-F5344CB8AC3E}">
        <p14:creationId xmlns="" xmlns:p14="http://schemas.microsoft.com/office/powerpoint/2010/main" val="2923056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describes what links such as serial lines and classic Ethernet must do to meet the needs of this connectionless internet layer. </a:t>
            </a:r>
          </a:p>
          <a:p>
            <a:pPr algn="l"/>
            <a:r>
              <a:rPr lang="en-US" sz="1800" b="0" i="0" u="none" strike="noStrike" baseline="0" dirty="0">
                <a:latin typeface="Arial" panose="020B0604020202020204" pitchFamily="34" charset="0"/>
              </a:rPr>
              <a:t>Note that ''internet'' is used here in a generic sense, even though this layer is present in the Internet.</a:t>
            </a:r>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38</a:t>
            </a:fld>
            <a:endParaRPr lang="en-IN"/>
          </a:p>
        </p:txBody>
      </p:sp>
    </p:spTree>
    <p:extLst>
      <p:ext uri="{BB962C8B-B14F-4D97-AF65-F5344CB8AC3E}">
        <p14:creationId xmlns="" xmlns:p14="http://schemas.microsoft.com/office/powerpoint/2010/main" val="3461165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IN" dirty="0"/>
          </a:p>
        </p:txBody>
      </p:sp>
      <p:sp>
        <p:nvSpPr>
          <p:cNvPr id="4" name="Slide Number Placeholder 3"/>
          <p:cNvSpPr>
            <a:spLocks noGrp="1"/>
          </p:cNvSpPr>
          <p:nvPr>
            <p:ph type="sldNum" sz="quarter" idx="5"/>
          </p:nvPr>
        </p:nvSpPr>
        <p:spPr/>
        <p:txBody>
          <a:bodyPr/>
          <a:lstStyle/>
          <a:p>
            <a:fld id="{572EFC81-3A2B-4D8A-A307-051FC452B689}" type="slidenum">
              <a:rPr lang="en-IN" smtClean="0"/>
              <a:pPr/>
              <a:t>43</a:t>
            </a:fld>
            <a:endParaRPr lang="en-IN"/>
          </a:p>
        </p:txBody>
      </p:sp>
    </p:spTree>
    <p:extLst>
      <p:ext uri="{BB962C8B-B14F-4D97-AF65-F5344CB8AC3E}">
        <p14:creationId xmlns="" xmlns:p14="http://schemas.microsoft.com/office/powerpoint/2010/main" val="372176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3690581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2858039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319506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1962155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3874280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3566780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2989625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221953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1210041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2534423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9AC7-3A71-4AE5-8231-A1B33E6E60B8}" type="datetimeFigureOut">
              <a:rPr lang="en-IN" smtClean="0"/>
              <a:pPr/>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912566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469AC7-3A71-4AE5-8231-A1B33E6E60B8}" type="datetimeFigureOut">
              <a:rPr lang="en-IN" smtClean="0"/>
              <a:pPr/>
              <a:t>22-05-2026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F4A4A-3CE4-4AE6-B192-3497AF4DE66C}" type="slidenum">
              <a:rPr lang="en-IN" smtClean="0"/>
              <a:pPr/>
              <a:t>‹#›</a:t>
            </a:fld>
            <a:endParaRPr lang="en-IN"/>
          </a:p>
        </p:txBody>
      </p:sp>
    </p:spTree>
    <p:extLst>
      <p:ext uri="{BB962C8B-B14F-4D97-AF65-F5344CB8AC3E}">
        <p14:creationId xmlns="" xmlns:p14="http://schemas.microsoft.com/office/powerpoint/2010/main" val="996637730"/>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Baskerville Old Face" panose="02020602080505020303" pitchFamily="18" charset="0"/>
              </a:rPr>
              <a:t>NETWORK MODELS </a:t>
            </a:r>
            <a:endParaRPr lang="en-IN" dirty="0">
              <a:solidFill>
                <a:schemeClr val="accent1">
                  <a:lumMod val="75000"/>
                </a:schemeClr>
              </a:solidFill>
              <a:latin typeface="Baskerville Old Face" panose="02020602080505020303" pitchFamily="18" charset="0"/>
            </a:endParaRPr>
          </a:p>
        </p:txBody>
      </p:sp>
    </p:spTree>
    <p:extLst>
      <p:ext uri="{BB962C8B-B14F-4D97-AF65-F5344CB8AC3E}">
        <p14:creationId xmlns="" xmlns:p14="http://schemas.microsoft.com/office/powerpoint/2010/main" val="209416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4BD7BB97-077C-455A-B968-B3D96D10257F}"/>
              </a:ext>
            </a:extLst>
          </p:cNvPr>
          <p:cNvSpPr>
            <a:spLocks noGrp="1"/>
          </p:cNvSpPr>
          <p:nvPr>
            <p:ph type="title"/>
          </p:nvPr>
        </p:nvSpPr>
        <p:spPr/>
        <p:txBody>
          <a:bodyPr/>
          <a:lstStyle/>
          <a:p>
            <a:r>
              <a:rPr lang="en-US" b="1" dirty="0">
                <a:ln w="22225">
                  <a:solidFill>
                    <a:schemeClr val="accent2">
                      <a:lumMod val="50000"/>
                    </a:schemeClr>
                  </a:solidFill>
                  <a:prstDash val="solid"/>
                </a:ln>
                <a:solidFill>
                  <a:schemeClr val="accent3">
                    <a:lumMod val="60000"/>
                    <a:lumOff val="40000"/>
                  </a:schemeClr>
                </a:solidFill>
              </a:rPr>
              <a:t>Layered Network Architectures</a:t>
            </a:r>
            <a:endParaRPr lang="en-IN" b="1" dirty="0">
              <a:ln w="22225">
                <a:solidFill>
                  <a:schemeClr val="accent2">
                    <a:lumMod val="50000"/>
                  </a:schemeClr>
                </a:solidFill>
                <a:prstDash val="solid"/>
              </a:ln>
              <a:solidFill>
                <a:schemeClr val="accent3">
                  <a:lumMod val="60000"/>
                  <a:lumOff val="40000"/>
                </a:schemeClr>
              </a:solidFill>
            </a:endParaRPr>
          </a:p>
        </p:txBody>
      </p:sp>
      <p:sp>
        <p:nvSpPr>
          <p:cNvPr id="6" name="Content Placeholder 5">
            <a:extLst>
              <a:ext uri="{FF2B5EF4-FFF2-40B4-BE49-F238E27FC236}">
                <a16:creationId xmlns="" xmlns:a16="http://schemas.microsoft.com/office/drawing/2014/main" id="{AC02BBBF-4E1E-4107-8BD0-8F4EA9284544}"/>
              </a:ext>
            </a:extLst>
          </p:cNvPr>
          <p:cNvSpPr>
            <a:spLocks noGrp="1"/>
          </p:cNvSpPr>
          <p:nvPr>
            <p:ph idx="1"/>
          </p:nvPr>
        </p:nvSpPr>
        <p:spPr>
          <a:xfrm>
            <a:off x="838200" y="1569493"/>
            <a:ext cx="10515600" cy="4607470"/>
          </a:xfrm>
        </p:spPr>
        <p:txBody>
          <a:bodyPr>
            <a:normAutofit lnSpcReduction="10000"/>
          </a:bodyPr>
          <a:lstStyle/>
          <a:p>
            <a:r>
              <a:rPr lang="en-US" sz="2600" dirty="0">
                <a:latin typeface="Century" panose="02040604050505020304" pitchFamily="18" charset="0"/>
              </a:rPr>
              <a:t>Two important network architectures.</a:t>
            </a:r>
          </a:p>
          <a:p>
            <a:pPr marL="1071563" indent="-446088"/>
            <a:r>
              <a:rPr lang="en-US" sz="2600" b="1" dirty="0">
                <a:latin typeface="Century" panose="02040604050505020304" pitchFamily="18" charset="0"/>
              </a:rPr>
              <a:t>The OSI reference model </a:t>
            </a:r>
          </a:p>
          <a:p>
            <a:pPr marL="1071563" indent="-446088"/>
            <a:r>
              <a:rPr lang="en-US" sz="2600" b="1" dirty="0">
                <a:latin typeface="Century" panose="02040604050505020304" pitchFamily="18" charset="0"/>
              </a:rPr>
              <a:t>The TCP/IP reference model</a:t>
            </a:r>
          </a:p>
          <a:p>
            <a:r>
              <a:rPr lang="en-US" sz="2600" i="1" dirty="0">
                <a:latin typeface="Century" panose="02040604050505020304" pitchFamily="18" charset="0"/>
              </a:rPr>
              <a:t>OSI model:</a:t>
            </a:r>
          </a:p>
          <a:p>
            <a:pPr lvl="1"/>
            <a:r>
              <a:rPr lang="en-US" dirty="0">
                <a:latin typeface="Century" panose="02040604050505020304" pitchFamily="18" charset="0"/>
              </a:rPr>
              <a:t>Although the </a:t>
            </a:r>
            <a:r>
              <a:rPr lang="en-US" i="1" dirty="0">
                <a:solidFill>
                  <a:srgbClr val="2B4785"/>
                </a:solidFill>
                <a:latin typeface="Century" panose="02040604050505020304" pitchFamily="18" charset="0"/>
              </a:rPr>
              <a:t>protocols</a:t>
            </a:r>
            <a:r>
              <a:rPr lang="en-US" dirty="0">
                <a:latin typeface="Century" panose="02040604050505020304" pitchFamily="18" charset="0"/>
              </a:rPr>
              <a:t> associated with the OSI model </a:t>
            </a:r>
            <a:r>
              <a:rPr lang="en-US" dirty="0">
                <a:solidFill>
                  <a:srgbClr val="2B4785"/>
                </a:solidFill>
                <a:latin typeface="Century" panose="02040604050505020304" pitchFamily="18" charset="0"/>
              </a:rPr>
              <a:t>are not used any more</a:t>
            </a:r>
            <a:r>
              <a:rPr lang="en-US" dirty="0">
                <a:latin typeface="Century" panose="02040604050505020304" pitchFamily="18" charset="0"/>
              </a:rPr>
              <a:t>, the </a:t>
            </a:r>
            <a:r>
              <a:rPr lang="en-US" i="1" dirty="0">
                <a:solidFill>
                  <a:srgbClr val="2B4785"/>
                </a:solidFill>
                <a:latin typeface="Century" panose="02040604050505020304" pitchFamily="18" charset="0"/>
              </a:rPr>
              <a:t>model</a:t>
            </a:r>
            <a:r>
              <a:rPr lang="en-US" dirty="0">
                <a:latin typeface="Century" panose="02040604050505020304" pitchFamily="18" charset="0"/>
              </a:rPr>
              <a:t> itself is actually </a:t>
            </a:r>
            <a:r>
              <a:rPr lang="en-US" dirty="0">
                <a:solidFill>
                  <a:srgbClr val="2B4785"/>
                </a:solidFill>
                <a:latin typeface="Century" panose="02040604050505020304" pitchFamily="18" charset="0"/>
              </a:rPr>
              <a:t>quite general and still valid</a:t>
            </a:r>
            <a:r>
              <a:rPr lang="en-US" dirty="0">
                <a:latin typeface="Century" panose="02040604050505020304" pitchFamily="18" charset="0"/>
              </a:rPr>
              <a:t>.</a:t>
            </a:r>
          </a:p>
          <a:p>
            <a:pPr lvl="1"/>
            <a:r>
              <a:rPr lang="en-US" dirty="0">
                <a:latin typeface="Century" panose="02040604050505020304" pitchFamily="18" charset="0"/>
              </a:rPr>
              <a:t>The features discussed at each layer are still very important. </a:t>
            </a:r>
          </a:p>
          <a:p>
            <a:r>
              <a:rPr lang="en-US" sz="2600" i="1" dirty="0">
                <a:latin typeface="Century" panose="02040604050505020304" pitchFamily="18" charset="0"/>
              </a:rPr>
              <a:t>TCP/IP model:</a:t>
            </a:r>
          </a:p>
          <a:p>
            <a:pPr lvl="1"/>
            <a:r>
              <a:rPr lang="en-US" dirty="0">
                <a:latin typeface="Century" panose="02040604050505020304" pitchFamily="18" charset="0"/>
              </a:rPr>
              <a:t>It has the opposite properties:</a:t>
            </a:r>
          </a:p>
          <a:p>
            <a:pPr lvl="1"/>
            <a:r>
              <a:rPr lang="en-US" dirty="0">
                <a:latin typeface="Century" panose="02040604050505020304" pitchFamily="18" charset="0"/>
              </a:rPr>
              <a:t>The </a:t>
            </a:r>
            <a:r>
              <a:rPr lang="en-US" i="1" dirty="0">
                <a:solidFill>
                  <a:srgbClr val="2B4785"/>
                </a:solidFill>
                <a:latin typeface="Century" panose="02040604050505020304" pitchFamily="18" charset="0"/>
              </a:rPr>
              <a:t>model</a:t>
            </a:r>
            <a:r>
              <a:rPr lang="en-US" dirty="0">
                <a:latin typeface="Century" panose="02040604050505020304" pitchFamily="18" charset="0"/>
              </a:rPr>
              <a:t> itself is not of much use but the </a:t>
            </a:r>
            <a:r>
              <a:rPr lang="en-US" i="1" dirty="0">
                <a:solidFill>
                  <a:srgbClr val="2B4785"/>
                </a:solidFill>
                <a:latin typeface="Century" panose="02040604050505020304" pitchFamily="18" charset="0"/>
              </a:rPr>
              <a:t>protocols</a:t>
            </a:r>
            <a:r>
              <a:rPr lang="en-US" dirty="0">
                <a:latin typeface="Century" panose="02040604050505020304" pitchFamily="18" charset="0"/>
              </a:rPr>
              <a:t> </a:t>
            </a:r>
            <a:r>
              <a:rPr lang="en-US" dirty="0">
                <a:solidFill>
                  <a:srgbClr val="2B4785"/>
                </a:solidFill>
                <a:latin typeface="Century" panose="02040604050505020304" pitchFamily="18" charset="0"/>
              </a:rPr>
              <a:t>are widely used.</a:t>
            </a:r>
            <a:endParaRPr lang="en-IN" dirty="0">
              <a:solidFill>
                <a:srgbClr val="2B4785"/>
              </a:solidFill>
              <a:latin typeface="Century" panose="02040604050505020304" pitchFamily="18" charset="0"/>
            </a:endParaRPr>
          </a:p>
        </p:txBody>
      </p:sp>
      <p:sp>
        <p:nvSpPr>
          <p:cNvPr id="3" name="Slide Number Placeholder 2">
            <a:extLst>
              <a:ext uri="{FF2B5EF4-FFF2-40B4-BE49-F238E27FC236}">
                <a16:creationId xmlns="" xmlns:a16="http://schemas.microsoft.com/office/drawing/2014/main" id="{6AFF5714-0A64-491F-A389-BBB356C9FD8A}"/>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Tree>
    <p:extLst>
      <p:ext uri="{BB962C8B-B14F-4D97-AF65-F5344CB8AC3E}">
        <p14:creationId xmlns="" xmlns:p14="http://schemas.microsoft.com/office/powerpoint/2010/main" val="3072805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3172" name="Text Box 4"/>
          <p:cNvSpPr txBox="1">
            <a:spLocks noChangeArrowheads="1"/>
          </p:cNvSpPr>
          <p:nvPr/>
        </p:nvSpPr>
        <p:spPr bwMode="auto">
          <a:xfrm>
            <a:off x="9753601" y="6400802"/>
            <a:ext cx="184638" cy="366713"/>
          </a:xfrm>
          <a:prstGeom prst="rect">
            <a:avLst/>
          </a:prstGeom>
          <a:noFill/>
          <a:ln w="9525">
            <a:noFill/>
            <a:miter lim="800000"/>
            <a:headEnd/>
            <a:tailEnd/>
          </a:ln>
          <a:effectLst/>
        </p:spPr>
        <p:txBody>
          <a:bodyPr wrap="none">
            <a:spAutoFit/>
          </a:bodyPr>
          <a:lstStyle/>
          <a:p>
            <a:endParaRPr lang="en-US" b="1">
              <a:latin typeface="Times New Roman" pitchFamily="18" charset="0"/>
              <a:ea typeface="굴림" pitchFamily="50" charset="-127"/>
            </a:endParaRPr>
          </a:p>
        </p:txBody>
      </p:sp>
      <p:sp>
        <p:nvSpPr>
          <p:cNvPr id="11" name="Title 10"/>
          <p:cNvSpPr>
            <a:spLocks noGrp="1"/>
          </p:cNvSpPr>
          <p:nvPr>
            <p:ph type="title"/>
          </p:nvPr>
        </p:nvSpPr>
        <p:spPr>
          <a:xfrm>
            <a:off x="510654" y="0"/>
            <a:ext cx="10515600" cy="1325563"/>
          </a:xfrm>
        </p:spPr>
        <p:txBody>
          <a:bodyPr vert="horz" lIns="91440" tIns="45720" rIns="91440" bIns="45720" rtlCol="0" anchor="ctr">
            <a:normAutofit/>
          </a:bodyPr>
          <a:lstStyle/>
          <a:p>
            <a:r>
              <a:rPr lang="en-US" b="1" dirty="0">
                <a:ln w="22225">
                  <a:solidFill>
                    <a:schemeClr val="accent2">
                      <a:lumMod val="50000"/>
                    </a:schemeClr>
                  </a:solidFill>
                  <a:prstDash val="solid"/>
                </a:ln>
                <a:solidFill>
                  <a:schemeClr val="accent3">
                    <a:lumMod val="60000"/>
                    <a:lumOff val="40000"/>
                  </a:schemeClr>
                </a:solidFill>
              </a:rPr>
              <a:t>The ISO-OSI Reference Model</a:t>
            </a:r>
            <a:endParaRPr lang="en-IN" b="1" dirty="0">
              <a:ln w="22225">
                <a:solidFill>
                  <a:schemeClr val="accent2">
                    <a:lumMod val="50000"/>
                  </a:schemeClr>
                </a:solidFill>
                <a:prstDash val="solid"/>
              </a:ln>
              <a:solidFill>
                <a:schemeClr val="accent3">
                  <a:lumMod val="60000"/>
                  <a:lumOff val="40000"/>
                </a:schemeClr>
              </a:solidFill>
            </a:endParaRPr>
          </a:p>
        </p:txBody>
      </p:sp>
      <p:sp>
        <p:nvSpPr>
          <p:cNvPr id="12" name="Content Placeholder 11"/>
          <p:cNvSpPr>
            <a:spLocks noGrp="1"/>
          </p:cNvSpPr>
          <p:nvPr>
            <p:ph idx="1"/>
          </p:nvPr>
        </p:nvSpPr>
        <p:spPr>
          <a:xfrm>
            <a:off x="641445" y="1651378"/>
            <a:ext cx="10712355" cy="4978021"/>
          </a:xfrm>
        </p:spPr>
        <p:txBody>
          <a:bodyPr/>
          <a:lstStyle/>
          <a:p>
            <a:r>
              <a:rPr lang="en-US" altLang="ko-KR" sz="2600" dirty="0">
                <a:latin typeface="Century" panose="02040604050505020304" pitchFamily="18" charset="0"/>
                <a:ea typeface="굴림" pitchFamily="50" charset="-127"/>
              </a:rPr>
              <a:t>The </a:t>
            </a:r>
            <a:r>
              <a:rPr lang="en-US" altLang="ko-KR" sz="2600" b="1" dirty="0">
                <a:latin typeface="Century" panose="02040604050505020304" pitchFamily="18" charset="0"/>
                <a:ea typeface="굴림" pitchFamily="50" charset="-127"/>
              </a:rPr>
              <a:t>Open Systems Interconnection </a:t>
            </a:r>
            <a:r>
              <a:rPr lang="en-US" altLang="ko-KR" sz="2600" dirty="0">
                <a:latin typeface="Century" panose="02040604050505020304" pitchFamily="18" charset="0"/>
                <a:ea typeface="굴림" pitchFamily="50" charset="-127"/>
              </a:rPr>
              <a:t>(</a:t>
            </a:r>
            <a:r>
              <a:rPr lang="en-US" altLang="ko-KR" sz="2600" b="1" dirty="0">
                <a:solidFill>
                  <a:srgbClr val="2B4785"/>
                </a:solidFill>
                <a:latin typeface="Century" panose="02040604050505020304" pitchFamily="18" charset="0"/>
                <a:ea typeface="굴림" pitchFamily="50" charset="-127"/>
              </a:rPr>
              <a:t>OSI</a:t>
            </a:r>
            <a:r>
              <a:rPr lang="en-US" altLang="ko-KR" sz="2600" dirty="0">
                <a:latin typeface="Century" panose="02040604050505020304" pitchFamily="18" charset="0"/>
                <a:ea typeface="굴림" pitchFamily="50" charset="-127"/>
              </a:rPr>
              <a:t>)</a:t>
            </a:r>
            <a:r>
              <a:rPr lang="en-US" altLang="ko-KR" sz="2600" b="1" dirty="0">
                <a:latin typeface="Century" panose="02040604050505020304" pitchFamily="18" charset="0"/>
                <a:ea typeface="굴림" pitchFamily="50" charset="-127"/>
              </a:rPr>
              <a:t> </a:t>
            </a:r>
            <a:r>
              <a:rPr lang="en-US" altLang="ko-KR" sz="2600" dirty="0">
                <a:latin typeface="Century" panose="02040604050505020304" pitchFamily="18" charset="0"/>
                <a:ea typeface="굴림" pitchFamily="50" charset="-127"/>
              </a:rPr>
              <a:t>model:</a:t>
            </a:r>
          </a:p>
          <a:p>
            <a:r>
              <a:rPr lang="en-US" altLang="ko-KR" sz="2600" dirty="0">
                <a:latin typeface="Century" panose="02040604050505020304" pitchFamily="18" charset="0"/>
                <a:ea typeface="굴림" pitchFamily="50" charset="-127"/>
              </a:rPr>
              <a:t>Developed by </a:t>
            </a:r>
            <a:r>
              <a:rPr lang="en-US" altLang="ko-KR" sz="2600" i="1" dirty="0">
                <a:latin typeface="Century" panose="02040604050505020304" pitchFamily="18" charset="0"/>
                <a:ea typeface="굴림" pitchFamily="50" charset="-127"/>
              </a:rPr>
              <a:t>International Standards Organization (</a:t>
            </a:r>
            <a:r>
              <a:rPr lang="en-US" altLang="ko-KR" sz="2600" i="1" dirty="0">
                <a:solidFill>
                  <a:srgbClr val="2B4785"/>
                </a:solidFill>
                <a:latin typeface="Century" panose="02040604050505020304" pitchFamily="18" charset="0"/>
                <a:ea typeface="굴림" pitchFamily="50" charset="-127"/>
              </a:rPr>
              <a:t>ISO</a:t>
            </a:r>
            <a:r>
              <a:rPr lang="en-US" altLang="ko-KR" sz="2600" i="1" dirty="0">
                <a:latin typeface="Century" panose="02040604050505020304" pitchFamily="18" charset="0"/>
                <a:ea typeface="굴림" pitchFamily="50" charset="-127"/>
              </a:rPr>
              <a:t>) </a:t>
            </a:r>
            <a:r>
              <a:rPr lang="en-US" altLang="ko-KR" sz="2600" dirty="0">
                <a:latin typeface="Century" panose="02040604050505020304" pitchFamily="18" charset="0"/>
                <a:ea typeface="굴림" pitchFamily="50" charset="-127"/>
              </a:rPr>
              <a:t>in 1983 and revised in 1995.</a:t>
            </a:r>
          </a:p>
          <a:p>
            <a:r>
              <a:rPr lang="en-US" altLang="ko-KR" sz="2600" dirty="0">
                <a:latin typeface="Century" panose="02040604050505020304" pitchFamily="18" charset="0"/>
                <a:ea typeface="굴림" pitchFamily="50" charset="-127"/>
              </a:rPr>
              <a:t>First step towards international standardization of the protocols used in the various layers.</a:t>
            </a:r>
          </a:p>
          <a:p>
            <a:r>
              <a:rPr lang="en-US" altLang="ko-KR" sz="2600" dirty="0">
                <a:latin typeface="Century" panose="02040604050505020304" pitchFamily="18" charset="0"/>
                <a:ea typeface="굴림" pitchFamily="50" charset="-127"/>
              </a:rPr>
              <a:t>It deals with connecting </a:t>
            </a:r>
            <a:r>
              <a:rPr lang="en-US" altLang="ko-KR" sz="2600" b="1" dirty="0">
                <a:latin typeface="Century" panose="02040604050505020304" pitchFamily="18" charset="0"/>
                <a:ea typeface="굴림" pitchFamily="50" charset="-127"/>
              </a:rPr>
              <a:t>open systems </a:t>
            </a:r>
            <a:r>
              <a:rPr lang="en-US" altLang="ko-KR" sz="2600" dirty="0">
                <a:latin typeface="Century" panose="02040604050505020304" pitchFamily="18" charset="0"/>
                <a:ea typeface="굴림" pitchFamily="50" charset="-127"/>
              </a:rPr>
              <a:t>– </a:t>
            </a:r>
          </a:p>
          <a:p>
            <a:pPr lvl="1"/>
            <a:r>
              <a:rPr lang="en-US" altLang="ko-KR" dirty="0" err="1">
                <a:latin typeface="Century" panose="02040604050505020304" pitchFamily="18" charset="0"/>
                <a:ea typeface="굴림" pitchFamily="50" charset="-127"/>
              </a:rPr>
              <a:t>ie</a:t>
            </a:r>
            <a:r>
              <a:rPr lang="en-US" altLang="ko-KR" dirty="0">
                <a:latin typeface="Century" panose="02040604050505020304" pitchFamily="18" charset="0"/>
                <a:ea typeface="굴림" pitchFamily="50" charset="-127"/>
              </a:rPr>
              <a:t>., systems that are open for communication with other systems regardless of their heterogenous underlying architecture.</a:t>
            </a:r>
          </a:p>
          <a:p>
            <a:r>
              <a:rPr lang="en-US" altLang="ko-KR" sz="2600" dirty="0">
                <a:latin typeface="Century" panose="02040604050505020304" pitchFamily="18" charset="0"/>
              </a:rPr>
              <a:t>The OSI model allows </a:t>
            </a:r>
            <a:r>
              <a:rPr lang="en-US" altLang="ko-KR" sz="2600" dirty="0">
                <a:solidFill>
                  <a:srgbClr val="2B4785"/>
                </a:solidFill>
                <a:latin typeface="Century" panose="02040604050505020304" pitchFamily="18" charset="0"/>
              </a:rPr>
              <a:t>complete interoperability </a:t>
            </a:r>
            <a:r>
              <a:rPr lang="en-US" altLang="ko-KR" sz="2600" dirty="0">
                <a:latin typeface="Century" panose="02040604050505020304" pitchFamily="18" charset="0"/>
              </a:rPr>
              <a:t>between otherwise incompatible systems.</a:t>
            </a:r>
          </a:p>
          <a:p>
            <a:endParaRPr lang="en-US" altLang="ko-KR" sz="2600" dirty="0">
              <a:latin typeface="Century" panose="02040604050505020304" pitchFamily="18" charset="0"/>
              <a:ea typeface="굴림" pitchFamily="50" charset="-127"/>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 xmlns:p14="http://schemas.microsoft.com/office/powerpoint/2010/main" val="59016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715370" y="0"/>
            <a:ext cx="10515600" cy="1325563"/>
          </a:xfrm>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OSI Layered Architecture</a:t>
            </a:r>
          </a:p>
        </p:txBody>
      </p:sp>
      <p:sp>
        <p:nvSpPr>
          <p:cNvPr id="275459" name="Rectangle 3"/>
          <p:cNvSpPr>
            <a:spLocks noGrp="1" noChangeArrowheads="1"/>
          </p:cNvSpPr>
          <p:nvPr>
            <p:ph idx="1"/>
          </p:nvPr>
        </p:nvSpPr>
        <p:spPr>
          <a:xfrm>
            <a:off x="341194" y="1020407"/>
            <a:ext cx="11559654" cy="5701067"/>
          </a:xfrm>
        </p:spPr>
        <p:txBody>
          <a:bodyPr>
            <a:noAutofit/>
          </a:bodyPr>
          <a:lstStyle/>
          <a:p>
            <a:r>
              <a:rPr lang="en-US" altLang="ko-KR" sz="2200" dirty="0">
                <a:latin typeface="Century" panose="02040604050505020304" pitchFamily="18" charset="0"/>
              </a:rPr>
              <a:t>The OSI model is composed of </a:t>
            </a:r>
            <a:r>
              <a:rPr lang="en-US" altLang="ko-KR" sz="2200" b="1" dirty="0">
                <a:solidFill>
                  <a:srgbClr val="2B4785"/>
                </a:solidFill>
                <a:latin typeface="Century" panose="02040604050505020304" pitchFamily="18" charset="0"/>
              </a:rPr>
              <a:t>seven</a:t>
            </a:r>
            <a:r>
              <a:rPr lang="en-US" altLang="ko-KR" sz="2200" dirty="0">
                <a:solidFill>
                  <a:srgbClr val="2B4785"/>
                </a:solidFill>
                <a:latin typeface="Century" panose="02040604050505020304" pitchFamily="18" charset="0"/>
              </a:rPr>
              <a:t> </a:t>
            </a:r>
            <a:r>
              <a:rPr lang="en-US" altLang="ko-KR" sz="2200" b="1" dirty="0">
                <a:solidFill>
                  <a:srgbClr val="2B4785"/>
                </a:solidFill>
                <a:latin typeface="Century" panose="02040604050505020304" pitchFamily="18" charset="0"/>
              </a:rPr>
              <a:t>layers</a:t>
            </a:r>
            <a:r>
              <a:rPr lang="en-US" altLang="ko-KR" sz="2200" dirty="0">
                <a:latin typeface="Century" panose="02040604050505020304" pitchFamily="18" charset="0"/>
              </a:rPr>
              <a:t>.</a:t>
            </a:r>
          </a:p>
          <a:p>
            <a:pPr lvl="1"/>
            <a:r>
              <a:rPr lang="en-US" altLang="ko-KR" sz="2200" dirty="0">
                <a:latin typeface="Century" panose="02040604050505020304" pitchFamily="18" charset="0"/>
              </a:rPr>
              <a:t>Identified </a:t>
            </a:r>
            <a:r>
              <a:rPr lang="en-US" altLang="ko-KR" sz="2200" dirty="0">
                <a:solidFill>
                  <a:srgbClr val="2B4785"/>
                </a:solidFill>
                <a:latin typeface="Century" panose="02040604050505020304" pitchFamily="18" charset="0"/>
              </a:rPr>
              <a:t>the networking functions with related uses, </a:t>
            </a:r>
            <a:r>
              <a:rPr lang="en-US" altLang="ko-KR" sz="2200" dirty="0">
                <a:latin typeface="Century" panose="02040604050505020304" pitchFamily="18" charset="0"/>
              </a:rPr>
              <a:t>&amp; collected those functions into discrete groups that became the layers.</a:t>
            </a:r>
          </a:p>
          <a:p>
            <a:pPr lvl="1"/>
            <a:r>
              <a:rPr lang="en-US" altLang="ko-KR" sz="2200" dirty="0">
                <a:latin typeface="Century" panose="02040604050505020304" pitchFamily="18" charset="0"/>
              </a:rPr>
              <a:t>Each layer </a:t>
            </a:r>
            <a:r>
              <a:rPr lang="en-US" altLang="ko-KR" sz="2200" dirty="0">
                <a:solidFill>
                  <a:srgbClr val="2B4785"/>
                </a:solidFill>
                <a:latin typeface="Century" panose="02040604050505020304" pitchFamily="18" charset="0"/>
              </a:rPr>
              <a:t>uses the services of the layer immediately below it</a:t>
            </a:r>
            <a:r>
              <a:rPr lang="en-US" altLang="ko-KR" sz="2200" dirty="0">
                <a:latin typeface="Century" panose="02040604050505020304" pitchFamily="18" charset="0"/>
              </a:rPr>
              <a:t>.</a:t>
            </a:r>
          </a:p>
          <a:p>
            <a:pPr lvl="1"/>
            <a:r>
              <a:rPr lang="en-US" sz="2200" dirty="0">
                <a:latin typeface="Century" panose="02040604050505020304" pitchFamily="18" charset="0"/>
              </a:rPr>
              <a:t>Changes in one layer </a:t>
            </a:r>
            <a:r>
              <a:rPr lang="en-US" sz="2200" dirty="0">
                <a:solidFill>
                  <a:srgbClr val="2B4785"/>
                </a:solidFill>
                <a:latin typeface="Century" panose="02040604050505020304" pitchFamily="18" charset="0"/>
              </a:rPr>
              <a:t>does not require changes in other layers.</a:t>
            </a:r>
            <a:endParaRPr lang="en-US" altLang="ko-KR" sz="2200" dirty="0">
              <a:solidFill>
                <a:srgbClr val="2B4785"/>
              </a:solidFill>
              <a:latin typeface="Century" panose="02040604050505020304" pitchFamily="18" charset="0"/>
            </a:endParaRPr>
          </a:p>
          <a:p>
            <a:r>
              <a:rPr lang="en-US" altLang="ko-KR" sz="2200" b="1" dirty="0">
                <a:latin typeface="Century" panose="02040604050505020304" pitchFamily="18" charset="0"/>
              </a:rPr>
              <a:t>Principles behind the seven layer design:</a:t>
            </a:r>
          </a:p>
          <a:p>
            <a:pPr lvl="1"/>
            <a:r>
              <a:rPr lang="en-US" altLang="ko-KR" sz="2000" dirty="0">
                <a:latin typeface="Century" panose="02040604050505020304" pitchFamily="18" charset="0"/>
              </a:rPr>
              <a:t>A layer should be created where a </a:t>
            </a:r>
            <a:r>
              <a:rPr lang="en-US" altLang="ko-KR" sz="2000" dirty="0">
                <a:solidFill>
                  <a:srgbClr val="2B4785"/>
                </a:solidFill>
                <a:latin typeface="Century" panose="02040604050505020304" pitchFamily="18" charset="0"/>
              </a:rPr>
              <a:t>different abstraction </a:t>
            </a:r>
            <a:r>
              <a:rPr lang="en-US" altLang="ko-KR" sz="2000" dirty="0">
                <a:latin typeface="Century" panose="02040604050505020304" pitchFamily="18" charset="0"/>
              </a:rPr>
              <a:t>(concept) is needed. </a:t>
            </a:r>
          </a:p>
          <a:p>
            <a:pPr lvl="1"/>
            <a:r>
              <a:rPr lang="en-US" altLang="ko-KR" sz="2000" dirty="0">
                <a:latin typeface="Century" panose="02040604050505020304" pitchFamily="18" charset="0"/>
              </a:rPr>
              <a:t>Each layer should perform a </a:t>
            </a:r>
            <a:r>
              <a:rPr lang="en-US" altLang="ko-KR" sz="2000" dirty="0">
                <a:solidFill>
                  <a:srgbClr val="2B4785"/>
                </a:solidFill>
                <a:latin typeface="Century" panose="02040604050505020304" pitchFamily="18" charset="0"/>
              </a:rPr>
              <a:t>well-defined function</a:t>
            </a:r>
            <a:r>
              <a:rPr lang="en-US" altLang="ko-KR" sz="2000" dirty="0">
                <a:latin typeface="Century" panose="02040604050505020304" pitchFamily="18" charset="0"/>
              </a:rPr>
              <a:t>. </a:t>
            </a:r>
          </a:p>
          <a:p>
            <a:pPr lvl="1"/>
            <a:r>
              <a:rPr lang="en-US" altLang="ko-KR" sz="2000" dirty="0">
                <a:latin typeface="Century" panose="02040604050505020304" pitchFamily="18" charset="0"/>
              </a:rPr>
              <a:t>The function of each layer should be based on I</a:t>
            </a:r>
            <a:r>
              <a:rPr lang="en-US" altLang="ko-KR" sz="2000" dirty="0">
                <a:solidFill>
                  <a:srgbClr val="2B4785"/>
                </a:solidFill>
                <a:latin typeface="Century" panose="02040604050505020304" pitchFamily="18" charset="0"/>
              </a:rPr>
              <a:t>nternationally Standardized Protocols</a:t>
            </a:r>
            <a:r>
              <a:rPr lang="en-US" altLang="ko-KR" sz="2000" dirty="0">
                <a:latin typeface="Century" panose="02040604050505020304" pitchFamily="18" charset="0"/>
              </a:rPr>
              <a:t>.</a:t>
            </a:r>
          </a:p>
          <a:p>
            <a:pPr lvl="1"/>
            <a:r>
              <a:rPr lang="en-US" altLang="ko-KR" sz="2000" dirty="0">
                <a:latin typeface="Century" panose="02040604050505020304" pitchFamily="18" charset="0"/>
              </a:rPr>
              <a:t>The layer boundaries should be chosen </a:t>
            </a:r>
            <a:r>
              <a:rPr lang="en-US" altLang="ko-KR" sz="2000" dirty="0">
                <a:solidFill>
                  <a:srgbClr val="2B4785"/>
                </a:solidFill>
                <a:latin typeface="Century" panose="02040604050505020304" pitchFamily="18" charset="0"/>
              </a:rPr>
              <a:t>to minimize the information flow across the interfaces</a:t>
            </a:r>
            <a:r>
              <a:rPr lang="en-US" altLang="ko-KR" sz="2000" dirty="0">
                <a:latin typeface="Century" panose="02040604050505020304" pitchFamily="18" charset="0"/>
              </a:rPr>
              <a:t>.</a:t>
            </a:r>
          </a:p>
          <a:p>
            <a:pPr lvl="1"/>
            <a:r>
              <a:rPr lang="en-US" altLang="ko-KR" sz="2000" dirty="0">
                <a:latin typeface="Century" panose="02040604050505020304" pitchFamily="18" charset="0"/>
              </a:rPr>
              <a:t>The number of layers should be </a:t>
            </a:r>
          </a:p>
          <a:p>
            <a:pPr lvl="2"/>
            <a:r>
              <a:rPr lang="en-US" altLang="ko-KR" dirty="0">
                <a:solidFill>
                  <a:srgbClr val="2B4785"/>
                </a:solidFill>
                <a:latin typeface="Century" panose="02040604050505020304" pitchFamily="18" charset="0"/>
              </a:rPr>
              <a:t>large enough </a:t>
            </a:r>
            <a:r>
              <a:rPr lang="en-US" altLang="ko-KR" dirty="0">
                <a:latin typeface="Century" panose="02040604050505020304" pitchFamily="18" charset="0"/>
              </a:rPr>
              <a:t>that </a:t>
            </a:r>
            <a:r>
              <a:rPr lang="en-US" altLang="ko-KR" i="1" dirty="0">
                <a:latin typeface="Century" panose="02040604050505020304" pitchFamily="18" charset="0"/>
              </a:rPr>
              <a:t>distinct functions need not be put together </a:t>
            </a:r>
            <a:r>
              <a:rPr lang="en-US" altLang="ko-KR" dirty="0">
                <a:latin typeface="Century" panose="02040604050505020304" pitchFamily="18" charset="0"/>
              </a:rPr>
              <a:t>in same layer.</a:t>
            </a:r>
          </a:p>
          <a:p>
            <a:pPr lvl="2"/>
            <a:r>
              <a:rPr lang="en-US" altLang="ko-KR" dirty="0">
                <a:solidFill>
                  <a:srgbClr val="2B4785"/>
                </a:solidFill>
                <a:latin typeface="Century" panose="02040604050505020304" pitchFamily="18" charset="0"/>
              </a:rPr>
              <a:t>small enough </a:t>
            </a:r>
            <a:r>
              <a:rPr lang="en-US" altLang="ko-KR" dirty="0">
                <a:latin typeface="Century" panose="02040604050505020304" pitchFamily="18" charset="0"/>
              </a:rPr>
              <a:t>that the architecture does not become </a:t>
            </a:r>
            <a:r>
              <a:rPr lang="en-US" altLang="ko-KR" i="1" dirty="0">
                <a:latin typeface="Century" panose="02040604050505020304" pitchFamily="18" charset="0"/>
              </a:rPr>
              <a:t>unmanageable</a:t>
            </a:r>
            <a:r>
              <a:rPr lang="en-US" altLang="ko-KR" dirty="0">
                <a:latin typeface="Century" panose="02040604050505020304" pitchFamily="18" charset="0"/>
              </a:rPr>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 xmlns:p14="http://schemas.microsoft.com/office/powerpoint/2010/main" val="1977610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D6562258-0C0E-435A-949F-577F5BF42EE6}"/>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7" name="Picture 6">
            <a:extLst>
              <a:ext uri="{FF2B5EF4-FFF2-40B4-BE49-F238E27FC236}">
                <a16:creationId xmlns="" xmlns:a16="http://schemas.microsoft.com/office/drawing/2014/main" id="{8B2B073E-E4B5-48D3-8358-E40DFF9A230C}"/>
              </a:ext>
            </a:extLst>
          </p:cNvPr>
          <p:cNvPicPr>
            <a:picLocks noChangeAspect="1"/>
          </p:cNvPicPr>
          <p:nvPr/>
        </p:nvPicPr>
        <p:blipFill>
          <a:blip r:embed="rId2"/>
          <a:stretch>
            <a:fillRect/>
          </a:stretch>
        </p:blipFill>
        <p:spPr>
          <a:xfrm>
            <a:off x="2338865" y="0"/>
            <a:ext cx="7514271" cy="6858000"/>
          </a:xfrm>
          <a:prstGeom prst="rect">
            <a:avLst/>
          </a:prstGeom>
        </p:spPr>
      </p:pic>
    </p:spTree>
    <p:extLst>
      <p:ext uri="{BB962C8B-B14F-4D97-AF65-F5344CB8AC3E}">
        <p14:creationId xmlns="" xmlns:p14="http://schemas.microsoft.com/office/powerpoint/2010/main" val="946187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453019" y="727077"/>
            <a:ext cx="8895233" cy="518520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7510" name="Picture 6"/>
          <p:cNvPicPr>
            <a:picLocks noChangeAspect="1" noChangeArrowheads="1"/>
          </p:cNvPicPr>
          <p:nvPr/>
        </p:nvPicPr>
        <p:blipFill>
          <a:blip r:embed="rId3" cstate="print"/>
          <a:srcRect/>
          <a:stretch>
            <a:fillRect/>
          </a:stretch>
        </p:blipFill>
        <p:spPr bwMode="auto">
          <a:xfrm>
            <a:off x="2064045" y="862013"/>
            <a:ext cx="7211311" cy="5516562"/>
          </a:xfrm>
          <a:prstGeom prst="rect">
            <a:avLst/>
          </a:prstGeom>
          <a:noFill/>
          <a:ln w="9525">
            <a:noFill/>
            <a:miter lim="800000"/>
            <a:headEnd/>
            <a:tailEnd/>
          </a:ln>
          <a:effectLst/>
        </p:spPr>
      </p:pic>
      <p:sp>
        <p:nvSpPr>
          <p:cNvPr id="6" name="Title 5"/>
          <p:cNvSpPr>
            <a:spLocks noGrp="1"/>
          </p:cNvSpPr>
          <p:nvPr>
            <p:ph type="title"/>
          </p:nvPr>
        </p:nvSpPr>
        <p:spPr>
          <a:xfrm>
            <a:off x="142164" y="0"/>
            <a:ext cx="10515600" cy="1325563"/>
          </a:xfrm>
        </p:spPr>
        <p:txBody>
          <a:bodyPr/>
          <a:lstStyle/>
          <a:p>
            <a:r>
              <a:rPr lang="en-US" altLang="ko-KR" sz="3200" b="1" dirty="0">
                <a:ln w="22225">
                  <a:solidFill>
                    <a:schemeClr val="accent1">
                      <a:lumMod val="75000"/>
                    </a:schemeClr>
                  </a:solidFill>
                  <a:prstDash val="solid"/>
                </a:ln>
                <a:solidFill>
                  <a:schemeClr val="accent3">
                    <a:lumMod val="40000"/>
                    <a:lumOff val="60000"/>
                  </a:schemeClr>
                </a:solidFill>
              </a:rPr>
              <a:t>Peer-to-Peer Processes…</a:t>
            </a:r>
            <a:endParaRPr lang="en-IN" sz="3200" b="1" dirty="0">
              <a:ln w="22225">
                <a:solidFill>
                  <a:schemeClr val="accent1">
                    <a:lumMod val="75000"/>
                  </a:schemeClr>
                </a:solidFill>
                <a:prstDash val="solid"/>
              </a:ln>
              <a:solidFill>
                <a:schemeClr val="accent3">
                  <a:lumMod val="40000"/>
                  <a:lumOff val="60000"/>
                </a:schemeClr>
              </a:solidFill>
            </a:endParaRPr>
          </a:p>
        </p:txBody>
      </p:sp>
      <p:sp>
        <p:nvSpPr>
          <p:cNvPr id="7" name="Content Placeholder 6"/>
          <p:cNvSpPr>
            <a:spLocks noGrp="1"/>
          </p:cNvSpPr>
          <p:nvPr>
            <p:ph idx="1"/>
          </p:nvPr>
        </p:nvSpPr>
        <p:spPr>
          <a:xfrm>
            <a:off x="3633537" y="6400800"/>
            <a:ext cx="6019800" cy="350838"/>
          </a:xfrm>
        </p:spPr>
        <p:txBody>
          <a:bodyPr>
            <a:normAutofit fontScale="92500" lnSpcReduction="10000"/>
          </a:bodyPr>
          <a:lstStyle/>
          <a:p>
            <a:pPr marL="0" indent="0">
              <a:buNone/>
            </a:pPr>
            <a:r>
              <a:rPr lang="en-US" sz="2200" i="1" dirty="0">
                <a:solidFill>
                  <a:srgbClr val="B52141"/>
                </a:solidFill>
              </a:rPr>
              <a:t>The interaction between layers in the OSI Model</a:t>
            </a:r>
            <a:endParaRPr lang="en-IN" sz="2200" i="1" dirty="0">
              <a:solidFill>
                <a:srgbClr val="B5214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 xmlns:p14="http://schemas.microsoft.com/office/powerpoint/2010/main" val="2924655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37698" y="0"/>
            <a:ext cx="10515600" cy="1325563"/>
          </a:xfrm>
        </p:spPr>
        <p:txBody>
          <a:bodyPr vert="horz" lIns="91440" tIns="45720" rIns="91440" bIns="45720" rtlCol="0" anchor="ctr">
            <a:normAutofit/>
          </a:bodyPr>
          <a:lstStyle/>
          <a:p>
            <a:r>
              <a:rPr lang="en-US" b="1" dirty="0">
                <a:ln w="22225">
                  <a:solidFill>
                    <a:schemeClr val="accent2">
                      <a:lumMod val="50000"/>
                    </a:schemeClr>
                  </a:solidFill>
                  <a:prstDash val="solid"/>
                </a:ln>
                <a:solidFill>
                  <a:schemeClr val="accent3">
                    <a:lumMod val="60000"/>
                    <a:lumOff val="40000"/>
                  </a:schemeClr>
                </a:solidFill>
              </a:rPr>
              <a:t>Encapsulation</a:t>
            </a:r>
          </a:p>
        </p:txBody>
      </p:sp>
      <p:sp>
        <p:nvSpPr>
          <p:cNvPr id="53251" name="Rectangle 3"/>
          <p:cNvSpPr>
            <a:spLocks noGrp="1" noChangeArrowheads="1"/>
          </p:cNvSpPr>
          <p:nvPr>
            <p:ph idx="1"/>
          </p:nvPr>
        </p:nvSpPr>
        <p:spPr>
          <a:xfrm>
            <a:off x="237698" y="914400"/>
            <a:ext cx="11785980" cy="5486400"/>
          </a:xfrm>
        </p:spPr>
        <p:txBody>
          <a:bodyPr/>
          <a:lstStyle/>
          <a:p>
            <a:r>
              <a:rPr lang="en-US" sz="2200" dirty="0">
                <a:latin typeface="Century" panose="02040604050505020304" pitchFamily="18" charset="0"/>
              </a:rPr>
              <a:t>As the data flows down through the layers, each layer adds some </a:t>
            </a:r>
            <a:r>
              <a:rPr lang="en-US" sz="2200" dirty="0">
                <a:solidFill>
                  <a:srgbClr val="0070C0"/>
                </a:solidFill>
                <a:latin typeface="Century" panose="02040604050505020304" pitchFamily="18" charset="0"/>
              </a:rPr>
              <a:t>extra information</a:t>
            </a:r>
            <a:r>
              <a:rPr lang="en-US" sz="2200" dirty="0">
                <a:latin typeface="Century" panose="02040604050505020304" pitchFamily="18" charset="0"/>
              </a:rPr>
              <a:t> to the data in the form of headers or tailors.</a:t>
            </a:r>
          </a:p>
          <a:p>
            <a:r>
              <a:rPr lang="en-US" sz="2200" dirty="0">
                <a:latin typeface="Century" panose="02040604050505020304" pitchFamily="18" charset="0"/>
              </a:rPr>
              <a:t>This process of </a:t>
            </a:r>
            <a:r>
              <a:rPr lang="en-US" sz="2200" dirty="0">
                <a:solidFill>
                  <a:srgbClr val="2B4785"/>
                </a:solidFill>
                <a:latin typeface="Century" panose="02040604050505020304" pitchFamily="18" charset="0"/>
              </a:rPr>
              <a:t>wrapping data with headers and tailors </a:t>
            </a:r>
            <a:r>
              <a:rPr lang="en-US" sz="2200" dirty="0">
                <a:latin typeface="Century" panose="02040604050505020304" pitchFamily="18" charset="0"/>
              </a:rPr>
              <a:t>is called </a:t>
            </a:r>
            <a:r>
              <a:rPr lang="en-US" sz="2200" b="1" dirty="0">
                <a:solidFill>
                  <a:srgbClr val="2B4785"/>
                </a:solidFill>
                <a:latin typeface="Century" panose="02040604050505020304" pitchFamily="18" charset="0"/>
              </a:rPr>
              <a:t>Encapsulation</a:t>
            </a:r>
            <a:r>
              <a:rPr lang="en-US" sz="2200" dirty="0">
                <a:latin typeface="Century" panose="02040604050505020304" pitchFamily="18" charset="0"/>
              </a:rPr>
              <a:t>. At the receiver side, </a:t>
            </a:r>
            <a:r>
              <a:rPr lang="en-US" sz="2200" b="1" dirty="0">
                <a:solidFill>
                  <a:srgbClr val="2B4785"/>
                </a:solidFill>
                <a:latin typeface="Century" panose="02040604050505020304" pitchFamily="18" charset="0"/>
              </a:rPr>
              <a:t>De-Encapsulation</a:t>
            </a:r>
            <a:r>
              <a:rPr lang="en-US" sz="2200" dirty="0">
                <a:latin typeface="Century" panose="02040604050505020304" pitchFamily="18" charset="0"/>
              </a:rPr>
              <a:t> takes place.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pic>
        <p:nvPicPr>
          <p:cNvPr id="5" name="Picture 6">
            <a:extLst>
              <a:ext uri="{FF2B5EF4-FFF2-40B4-BE49-F238E27FC236}">
                <a16:creationId xmlns="" xmlns:a16="http://schemas.microsoft.com/office/drawing/2014/main" id="{7B7E0419-15B9-48E4-86F5-95DD6B06B9E1}"/>
              </a:ext>
            </a:extLst>
          </p:cNvPr>
          <p:cNvPicPr>
            <a:picLocks noChangeAspect="1" noChangeArrowheads="1"/>
          </p:cNvPicPr>
          <p:nvPr/>
        </p:nvPicPr>
        <p:blipFill>
          <a:blip r:embed="rId3" cstate="print"/>
          <a:srcRect/>
          <a:stretch>
            <a:fillRect/>
          </a:stretch>
        </p:blipFill>
        <p:spPr bwMode="auto">
          <a:xfrm>
            <a:off x="3048000" y="2472542"/>
            <a:ext cx="6434996" cy="3633536"/>
          </a:xfrm>
          <a:prstGeom prst="rect">
            <a:avLst/>
          </a:prstGeom>
          <a:noFill/>
          <a:ln w="9525">
            <a:noFill/>
            <a:miter lim="800000"/>
            <a:headEnd/>
            <a:tailEnd/>
          </a:ln>
          <a:effectLst/>
        </p:spPr>
      </p:pic>
      <p:sp>
        <p:nvSpPr>
          <p:cNvPr id="6" name="Text Box 7">
            <a:extLst>
              <a:ext uri="{FF2B5EF4-FFF2-40B4-BE49-F238E27FC236}">
                <a16:creationId xmlns="" xmlns:a16="http://schemas.microsoft.com/office/drawing/2014/main" id="{117E7B7F-DE1F-4692-9A1A-7CD9125A2181}"/>
              </a:ext>
            </a:extLst>
          </p:cNvPr>
          <p:cNvSpPr txBox="1">
            <a:spLocks noChangeArrowheads="1"/>
          </p:cNvSpPr>
          <p:nvPr/>
        </p:nvSpPr>
        <p:spPr bwMode="auto">
          <a:xfrm>
            <a:off x="2076450" y="6194415"/>
            <a:ext cx="8343900" cy="461665"/>
          </a:xfrm>
          <a:prstGeom prst="rect">
            <a:avLst/>
          </a:prstGeom>
          <a:noFill/>
          <a:ln w="12700">
            <a:noFill/>
            <a:miter lim="800000"/>
            <a:headEnd type="none" w="sm" len="sm"/>
            <a:tailEnd type="none" w="sm" len="sm"/>
          </a:ln>
          <a:effectLst/>
        </p:spPr>
        <p:txBody>
          <a:bodyPr wrap="square">
            <a:spAutoFit/>
          </a:bodyPr>
          <a:lstStyle/>
          <a:p>
            <a:pPr>
              <a:lnSpc>
                <a:spcPct val="120000"/>
              </a:lnSpc>
              <a:spcBef>
                <a:spcPct val="30000"/>
              </a:spcBef>
              <a:spcAft>
                <a:spcPct val="30000"/>
              </a:spcAft>
              <a:buClr>
                <a:schemeClr val="accent1"/>
              </a:buClr>
              <a:buSzPct val="100000"/>
            </a:pPr>
            <a:r>
              <a:rPr lang="en-US" altLang="ko-KR" sz="2000" i="1" dirty="0">
                <a:solidFill>
                  <a:srgbClr val="B52141"/>
                </a:solidFill>
                <a:latin typeface="Calibri" pitchFamily="34" charset="0"/>
                <a:cs typeface="Calibri" pitchFamily="34" charset="0"/>
              </a:rPr>
              <a:t>The data portion of a packet at level N-1 carries the whole packet from level N.</a:t>
            </a:r>
          </a:p>
        </p:txBody>
      </p:sp>
    </p:spTree>
    <p:extLst>
      <p:ext uri="{BB962C8B-B14F-4D97-AF65-F5344CB8AC3E}">
        <p14:creationId xmlns="" xmlns:p14="http://schemas.microsoft.com/office/powerpoint/2010/main" val="284928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ChangeArrowheads="1"/>
          </p:cNvSpPr>
          <p:nvPr>
            <p:ph type="title"/>
          </p:nvPr>
        </p:nvSpPr>
        <p:spPr/>
        <p:txBody>
          <a:bodyPr/>
          <a:lstStyle/>
          <a:p>
            <a:r>
              <a:rPr lang="en-US" sz="3200" b="1" dirty="0">
                <a:latin typeface="Baskerville Old Face" panose="02020602080505020303" pitchFamily="18" charset="0"/>
              </a:rPr>
              <a:t>Encapsulation…  Data Units at each Layer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pic>
        <p:nvPicPr>
          <p:cNvPr id="18438" name="Picture 6"/>
          <p:cNvPicPr>
            <a:picLocks noGrp="1" noChangeAspect="1" noChangeArrowheads="1"/>
          </p:cNvPicPr>
          <p:nvPr>
            <p:ph idx="4294967295"/>
          </p:nvPr>
        </p:nvPicPr>
        <p:blipFill>
          <a:blip r:embed="rId3" cstate="print"/>
          <a:srcRect l="945" t="3333" r="1759"/>
          <a:stretch>
            <a:fillRect/>
          </a:stretch>
        </p:blipFill>
        <p:spPr>
          <a:xfrm>
            <a:off x="1524001" y="1219200"/>
            <a:ext cx="9186863" cy="4800600"/>
          </a:xfrm>
        </p:spPr>
      </p:pic>
    </p:spTree>
    <p:extLst>
      <p:ext uri="{BB962C8B-B14F-4D97-AF65-F5344CB8AC3E}">
        <p14:creationId xmlns="" xmlns:p14="http://schemas.microsoft.com/office/powerpoint/2010/main" val="93195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kern="0" dirty="0">
                <a:solidFill>
                  <a:srgbClr val="000000"/>
                </a:solidFill>
                <a:latin typeface="Cambria Math" pitchFamily="18" charset="0"/>
                <a:ea typeface="Cambria Math" pitchFamily="18" charset="0"/>
              </a:rPr>
              <a:t>Encapsulation…  Data Units at each Layer</a:t>
            </a:r>
            <a:endParaRPr lang="en-IN" dirty="0"/>
          </a:p>
        </p:txBody>
      </p:sp>
      <p:pic>
        <p:nvPicPr>
          <p:cNvPr id="6" name="Picture 11"/>
          <p:cNvPicPr>
            <a:picLocks noGrp="1" noChangeAspect="1" noChangeArrowheads="1"/>
          </p:cNvPicPr>
          <p:nvPr>
            <p:ph idx="1"/>
          </p:nvPr>
        </p:nvPicPr>
        <p:blipFill>
          <a:blip r:embed="rId3" cstate="print"/>
          <a:srcRect/>
          <a:stretch>
            <a:fillRect/>
          </a:stretch>
        </p:blipFill>
        <p:spPr bwMode="auto">
          <a:xfrm>
            <a:off x="1828800" y="2286000"/>
            <a:ext cx="4495800" cy="3376202"/>
          </a:xfrm>
          <a:prstGeom prst="rect">
            <a:avLst/>
          </a:prstGeom>
          <a:noFill/>
          <a:ln w="9525">
            <a:noFill/>
            <a:miter lim="800000"/>
            <a:headEnd/>
            <a:tailEnd/>
          </a:ln>
          <a:effectLst/>
        </p:spPr>
      </p:pic>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a:p>
        </p:txBody>
      </p:sp>
      <p:pic>
        <p:nvPicPr>
          <p:cNvPr id="7" name="Picture 12"/>
          <p:cNvPicPr>
            <a:picLocks noChangeAspect="1" noChangeArrowheads="1"/>
          </p:cNvPicPr>
          <p:nvPr/>
        </p:nvPicPr>
        <p:blipFill>
          <a:blip r:embed="rId4" cstate="print"/>
          <a:srcRect/>
          <a:stretch>
            <a:fillRect/>
          </a:stretch>
        </p:blipFill>
        <p:spPr bwMode="auto">
          <a:xfrm>
            <a:off x="6629400" y="2209800"/>
            <a:ext cx="4038600" cy="3531212"/>
          </a:xfrm>
          <a:prstGeom prst="rect">
            <a:avLst/>
          </a:prstGeom>
          <a:noFill/>
          <a:ln w="9525">
            <a:noFill/>
            <a:miter lim="800000"/>
            <a:headEnd/>
            <a:tailEnd/>
          </a:ln>
          <a:effectLst/>
        </p:spPr>
      </p:pic>
      <p:sp>
        <p:nvSpPr>
          <p:cNvPr id="8" name="Content Placeholder 4"/>
          <p:cNvSpPr txBox="1">
            <a:spLocks/>
          </p:cNvSpPr>
          <p:nvPr/>
        </p:nvSpPr>
        <p:spPr bwMode="auto">
          <a:xfrm>
            <a:off x="3276600" y="1447800"/>
            <a:ext cx="16002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fontAlgn="base">
              <a:spcBef>
                <a:spcPct val="20000"/>
              </a:spcBef>
              <a:spcAft>
                <a:spcPct val="0"/>
              </a:spcAft>
              <a:buClr>
                <a:schemeClr val="accent1"/>
              </a:buClr>
              <a:buSzPct val="80000"/>
              <a:defRPr/>
            </a:pPr>
            <a:r>
              <a:rPr lang="en-US" sz="3200" b="1" kern="0" dirty="0">
                <a:solidFill>
                  <a:srgbClr val="2B4785"/>
                </a:solidFill>
                <a:latin typeface="Tw Cen MT" panose="020B0602020104020603" pitchFamily="34" charset="0"/>
              </a:rPr>
              <a:t>Sender</a:t>
            </a:r>
            <a:endParaRPr lang="en-IN" sz="3200" b="1" kern="0" dirty="0">
              <a:solidFill>
                <a:srgbClr val="2B4785"/>
              </a:solidFill>
              <a:latin typeface="Tw Cen MT" panose="020B0602020104020603" pitchFamily="34" charset="0"/>
            </a:endParaRPr>
          </a:p>
        </p:txBody>
      </p:sp>
      <p:sp>
        <p:nvSpPr>
          <p:cNvPr id="9" name="Content Placeholder 4"/>
          <p:cNvSpPr txBox="1">
            <a:spLocks/>
          </p:cNvSpPr>
          <p:nvPr/>
        </p:nvSpPr>
        <p:spPr bwMode="auto">
          <a:xfrm>
            <a:off x="7620000" y="1447800"/>
            <a:ext cx="1905000"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fontAlgn="base">
              <a:spcBef>
                <a:spcPct val="20000"/>
              </a:spcBef>
              <a:spcAft>
                <a:spcPct val="0"/>
              </a:spcAft>
              <a:buClr>
                <a:schemeClr val="accent1"/>
              </a:buClr>
              <a:buSzPct val="80000"/>
              <a:defRPr/>
            </a:pPr>
            <a:r>
              <a:rPr lang="en-US" sz="3200" b="1" kern="0" dirty="0">
                <a:solidFill>
                  <a:srgbClr val="2B4785"/>
                </a:solidFill>
                <a:latin typeface="Tw Cen MT" panose="020B0602020104020603" pitchFamily="34" charset="0"/>
              </a:rPr>
              <a:t>Receiver</a:t>
            </a:r>
            <a:endParaRPr lang="en-IN" sz="3200" b="1" kern="0" dirty="0">
              <a:solidFill>
                <a:srgbClr val="2B4785"/>
              </a:solidFill>
              <a:latin typeface="Tw Cen MT" panose="020B0602020104020603" pitchFamily="34" charset="0"/>
            </a:endParaRPr>
          </a:p>
        </p:txBody>
      </p:sp>
    </p:spTree>
    <p:extLst>
      <p:ext uri="{BB962C8B-B14F-4D97-AF65-F5344CB8AC3E}">
        <p14:creationId xmlns="" xmlns:p14="http://schemas.microsoft.com/office/powerpoint/2010/main" val="338020183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1. Physical Layer</a:t>
            </a:r>
          </a:p>
        </p:txBody>
      </p:sp>
      <p:sp>
        <p:nvSpPr>
          <p:cNvPr id="186371" name="Rectangle 3"/>
          <p:cNvSpPr>
            <a:spLocks noGrp="1" noChangeArrowheads="1"/>
          </p:cNvSpPr>
          <p:nvPr>
            <p:ph idx="1"/>
          </p:nvPr>
        </p:nvSpPr>
        <p:spPr>
          <a:xfrm>
            <a:off x="559558" y="1405732"/>
            <a:ext cx="11122926" cy="5090602"/>
          </a:xfrm>
        </p:spPr>
        <p:txBody>
          <a:bodyPr/>
          <a:lstStyle/>
          <a:p>
            <a:pPr>
              <a:lnSpc>
                <a:spcPct val="110000"/>
              </a:lnSpc>
              <a:spcBef>
                <a:spcPts val="424"/>
              </a:spcBef>
            </a:pPr>
            <a:r>
              <a:rPr lang="en-US" sz="2400" dirty="0">
                <a:latin typeface="Century" panose="02040604050505020304" pitchFamily="18" charset="0"/>
              </a:rPr>
              <a:t>The bottom layer of the OSI model.</a:t>
            </a:r>
          </a:p>
          <a:p>
            <a:pPr>
              <a:lnSpc>
                <a:spcPct val="110000"/>
              </a:lnSpc>
              <a:spcBef>
                <a:spcPts val="424"/>
              </a:spcBef>
            </a:pPr>
            <a:r>
              <a:rPr lang="en-US" altLang="ko-KR" sz="2600" dirty="0">
                <a:latin typeface="Century" panose="02040604050505020304" pitchFamily="18" charset="0"/>
              </a:rPr>
              <a:t>Coordinates the </a:t>
            </a:r>
            <a:r>
              <a:rPr lang="en-US" altLang="ko-KR" sz="2600" dirty="0">
                <a:solidFill>
                  <a:srgbClr val="2B4785"/>
                </a:solidFill>
                <a:latin typeface="Century" panose="02040604050505020304" pitchFamily="18" charset="0"/>
              </a:rPr>
              <a:t>functions required to transmit a </a:t>
            </a:r>
            <a:r>
              <a:rPr lang="en-US" altLang="ko-KR" sz="2600" b="1" dirty="0">
                <a:solidFill>
                  <a:srgbClr val="2B4785"/>
                </a:solidFill>
                <a:latin typeface="Century" panose="02040604050505020304" pitchFamily="18" charset="0"/>
              </a:rPr>
              <a:t>raw bit stream</a:t>
            </a:r>
            <a:r>
              <a:rPr lang="en-US" altLang="ko-KR" sz="2600" dirty="0">
                <a:solidFill>
                  <a:srgbClr val="2B4785"/>
                </a:solidFill>
                <a:latin typeface="Century" panose="02040604050505020304" pitchFamily="18" charset="0"/>
              </a:rPr>
              <a:t> over a physical medium</a:t>
            </a:r>
            <a:r>
              <a:rPr lang="en-US" altLang="ko-KR" sz="2600" dirty="0">
                <a:latin typeface="Century" panose="02040604050505020304" pitchFamily="18" charset="0"/>
              </a:rPr>
              <a:t>.</a:t>
            </a:r>
          </a:p>
          <a:p>
            <a:pPr>
              <a:lnSpc>
                <a:spcPct val="110000"/>
              </a:lnSpc>
              <a:spcBef>
                <a:spcPts val="424"/>
              </a:spcBef>
            </a:pPr>
            <a:r>
              <a:rPr lang="en-US" altLang="ko-KR" sz="2600" dirty="0">
                <a:latin typeface="Century" panose="02040604050505020304" pitchFamily="18" charset="0"/>
              </a:rPr>
              <a:t>Responsible for </a:t>
            </a:r>
            <a:r>
              <a:rPr lang="en-US" altLang="ko-KR" sz="2600" dirty="0">
                <a:solidFill>
                  <a:srgbClr val="FF0000"/>
                </a:solidFill>
                <a:latin typeface="Century" panose="02040604050505020304" pitchFamily="18" charset="0"/>
              </a:rPr>
              <a:t>movements of individual </a:t>
            </a:r>
            <a:r>
              <a:rPr lang="en-US" altLang="ko-KR" sz="2600" u="sng" dirty="0">
                <a:solidFill>
                  <a:srgbClr val="FF0000"/>
                </a:solidFill>
                <a:latin typeface="Century" panose="02040604050505020304" pitchFamily="18" charset="0"/>
              </a:rPr>
              <a:t>bits</a:t>
            </a:r>
            <a:r>
              <a:rPr lang="en-US" altLang="ko-KR" sz="2600" dirty="0">
                <a:solidFill>
                  <a:srgbClr val="FF0000"/>
                </a:solidFill>
                <a:latin typeface="Century" panose="02040604050505020304" pitchFamily="18" charset="0"/>
              </a:rPr>
              <a:t> from </a:t>
            </a:r>
            <a:r>
              <a:rPr lang="en-US" altLang="ko-KR" sz="2600" u="sng" dirty="0">
                <a:solidFill>
                  <a:srgbClr val="FF0000"/>
                </a:solidFill>
                <a:latin typeface="Century" panose="02040604050505020304" pitchFamily="18" charset="0"/>
              </a:rPr>
              <a:t>one hop (node) to the next</a:t>
            </a:r>
            <a:r>
              <a:rPr lang="en-US" altLang="ko-KR" sz="2600" dirty="0">
                <a:solidFill>
                  <a:srgbClr val="FF0000"/>
                </a:solidFill>
                <a:latin typeface="Century" panose="02040604050505020304" pitchFamily="18"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pic>
        <p:nvPicPr>
          <p:cNvPr id="186372" name="Picture 4"/>
          <p:cNvPicPr>
            <a:picLocks noChangeAspect="1" noChangeArrowheads="1"/>
          </p:cNvPicPr>
          <p:nvPr/>
        </p:nvPicPr>
        <p:blipFill>
          <a:blip r:embed="rId2" cstate="print"/>
          <a:srcRect/>
          <a:stretch>
            <a:fillRect/>
          </a:stretch>
        </p:blipFill>
        <p:spPr bwMode="auto">
          <a:xfrm>
            <a:off x="2590800" y="3581401"/>
            <a:ext cx="7436866" cy="2561491"/>
          </a:xfrm>
          <a:prstGeom prst="rect">
            <a:avLst/>
          </a:prstGeom>
          <a:noFill/>
          <a:ln w="9525">
            <a:noFill/>
            <a:miter lim="800000"/>
            <a:headEnd/>
            <a:tailEnd/>
          </a:ln>
          <a:effectLst/>
        </p:spPr>
      </p:pic>
    </p:spTree>
    <p:extLst>
      <p:ext uri="{BB962C8B-B14F-4D97-AF65-F5344CB8AC3E}">
        <p14:creationId xmlns="" xmlns:p14="http://schemas.microsoft.com/office/powerpoint/2010/main" val="1830359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627797" y="532263"/>
            <a:ext cx="11013743" cy="5644700"/>
          </a:xfrm>
        </p:spPr>
        <p:txBody>
          <a:bodyPr>
            <a:noAutofit/>
          </a:bodyPr>
          <a:lstStyle/>
          <a:p>
            <a:r>
              <a:rPr lang="en-US" altLang="ko-KR" dirty="0">
                <a:latin typeface="Century" panose="02040604050505020304" pitchFamily="18" charset="0"/>
              </a:rPr>
              <a:t> </a:t>
            </a:r>
            <a:r>
              <a:rPr lang="en-US" altLang="ko-KR" b="1" dirty="0">
                <a:latin typeface="Century" panose="02040604050505020304" pitchFamily="18" charset="0"/>
              </a:rPr>
              <a:t>Physical layer functions </a:t>
            </a:r>
            <a:r>
              <a:rPr lang="en-US" altLang="ko-KR" dirty="0">
                <a:latin typeface="Century" panose="02040604050505020304" pitchFamily="18" charset="0"/>
              </a:rPr>
              <a:t>are the following:</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Physical characteristics of interfaces and transmission medium</a:t>
            </a:r>
            <a:r>
              <a:rPr lang="en-US" altLang="ko-KR" dirty="0">
                <a:latin typeface="Century" panose="02040604050505020304" pitchFamily="18" charset="0"/>
              </a:rPr>
              <a:t>.</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Representation of bits </a:t>
            </a:r>
            <a:r>
              <a:rPr lang="en-US" altLang="ko-KR" dirty="0">
                <a:latin typeface="Century" panose="02040604050505020304" pitchFamily="18" charset="0"/>
              </a:rPr>
              <a:t>-  encoding techniques.</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Data rate</a:t>
            </a:r>
            <a:r>
              <a:rPr lang="en-US" altLang="ko-KR" dirty="0">
                <a:latin typeface="Century" panose="02040604050505020304" pitchFamily="18" charset="0"/>
              </a:rPr>
              <a:t>: transmission rate </a:t>
            </a:r>
            <a:r>
              <a:rPr lang="en-US" altLang="ko-KR" i="1" dirty="0">
                <a:latin typeface="Century" panose="02040604050505020304" pitchFamily="18" charset="0"/>
              </a:rPr>
              <a:t>(bps - bits per second).</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Synchronization of bits </a:t>
            </a:r>
            <a:r>
              <a:rPr lang="en-US" altLang="ko-KR" i="1" dirty="0">
                <a:latin typeface="Century" panose="02040604050505020304" pitchFamily="18" charset="0"/>
              </a:rPr>
              <a:t>– between sender and receiver clocks.</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Line configuration </a:t>
            </a:r>
            <a:r>
              <a:rPr lang="en-US" altLang="ko-KR" dirty="0">
                <a:latin typeface="Century" panose="02040604050505020304" pitchFamily="18" charset="0"/>
              </a:rPr>
              <a:t>– </a:t>
            </a:r>
            <a:r>
              <a:rPr lang="en-US" altLang="ko-KR" i="1" dirty="0">
                <a:latin typeface="Century" panose="02040604050505020304" pitchFamily="18" charset="0"/>
              </a:rPr>
              <a:t>point to point / multipoint.</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Physical topology </a:t>
            </a:r>
            <a:r>
              <a:rPr lang="en-US" altLang="ko-KR" dirty="0">
                <a:latin typeface="Century" panose="02040604050505020304" pitchFamily="18" charset="0"/>
              </a:rPr>
              <a:t>– star, mesh, ring, bus, hybrid etc.</a:t>
            </a:r>
          </a:p>
          <a:p>
            <a:pPr lvl="1"/>
            <a:r>
              <a:rPr lang="en-US" altLang="ko-KR" dirty="0">
                <a:latin typeface="Century" panose="02040604050505020304" pitchFamily="18" charset="0"/>
              </a:rPr>
              <a:t> </a:t>
            </a:r>
            <a:r>
              <a:rPr lang="en-US" altLang="ko-KR" dirty="0">
                <a:solidFill>
                  <a:srgbClr val="00B0F0"/>
                </a:solidFill>
                <a:latin typeface="Century" panose="02040604050505020304" pitchFamily="18" charset="0"/>
              </a:rPr>
              <a:t>Transmission mode </a:t>
            </a:r>
            <a:r>
              <a:rPr lang="en-US" altLang="ko-KR" i="1" dirty="0">
                <a:latin typeface="Century" panose="02040604050505020304" pitchFamily="18" charset="0"/>
              </a:rPr>
              <a:t>– simplex/ half duplex/ full duplex.</a:t>
            </a:r>
          </a:p>
          <a:p>
            <a:r>
              <a:rPr lang="en-US" dirty="0">
                <a:latin typeface="Century" panose="02040604050505020304" pitchFamily="18" charset="0"/>
              </a:rPr>
              <a:t>Converts bits into electronic signals for outgoing messages.</a:t>
            </a:r>
          </a:p>
          <a:p>
            <a:r>
              <a:rPr lang="en-US" dirty="0">
                <a:latin typeface="Century" panose="02040604050505020304" pitchFamily="18" charset="0"/>
              </a:rPr>
              <a:t>Converts electronic signals into bits for incoming messages.</a:t>
            </a:r>
          </a:p>
          <a:p>
            <a:r>
              <a:rPr lang="en-US" b="1" dirty="0">
                <a:latin typeface="Century" panose="02040604050505020304" pitchFamily="18" charset="0"/>
              </a:rPr>
              <a:t>Repeater</a:t>
            </a:r>
            <a:r>
              <a:rPr lang="en-US" dirty="0">
                <a:latin typeface="Century" panose="02040604050505020304" pitchFamily="18" charset="0"/>
              </a:rPr>
              <a:t> is a device of the physical layer.</a:t>
            </a:r>
          </a:p>
          <a:p>
            <a:r>
              <a:rPr lang="en-US" dirty="0">
                <a:latin typeface="Century" panose="02040604050505020304" pitchFamily="18" charset="0"/>
              </a:rPr>
              <a:t>Physical layer </a:t>
            </a:r>
            <a:r>
              <a:rPr lang="en-US" b="1" dirty="0">
                <a:latin typeface="Century" panose="02040604050505020304" pitchFamily="18" charset="0"/>
              </a:rPr>
              <a:t>protocols</a:t>
            </a:r>
            <a:r>
              <a:rPr lang="en-US" dirty="0">
                <a:latin typeface="Century" panose="02040604050505020304" pitchFamily="18" charset="0"/>
              </a:rPr>
              <a:t> are </a:t>
            </a:r>
            <a:r>
              <a:rPr lang="en-US" dirty="0">
                <a:solidFill>
                  <a:srgbClr val="7030A0"/>
                </a:solidFill>
                <a:latin typeface="Century" panose="02040604050505020304" pitchFamily="18" charset="0"/>
              </a:rPr>
              <a:t>encoding techniques (RZ, NRZ, Manchester </a:t>
            </a:r>
            <a:r>
              <a:rPr lang="en-US" dirty="0" err="1">
                <a:solidFill>
                  <a:srgbClr val="7030A0"/>
                </a:solidFill>
                <a:latin typeface="Century" panose="02040604050505020304" pitchFamily="18" charset="0"/>
              </a:rPr>
              <a:t>etc</a:t>
            </a:r>
            <a:r>
              <a:rPr lang="en-US" dirty="0">
                <a:solidFill>
                  <a:srgbClr val="7030A0"/>
                </a:solidFill>
                <a:latin typeface="Century" panose="02040604050505020304" pitchFamily="18" charset="0"/>
              </a:rPr>
              <a:t>).</a:t>
            </a:r>
            <a:endParaRPr lang="en-US" dirty="0">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 xmlns:p14="http://schemas.microsoft.com/office/powerpoint/2010/main" val="481770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7" name="Rectangle 3"/>
          <p:cNvSpPr>
            <a:spLocks noGrp="1" noChangeArrowheads="1"/>
          </p:cNvSpPr>
          <p:nvPr>
            <p:ph idx="1"/>
          </p:nvPr>
        </p:nvSpPr>
        <p:spPr>
          <a:xfrm>
            <a:off x="382137" y="327546"/>
            <a:ext cx="10971663" cy="6250675"/>
          </a:xfrm>
        </p:spPr>
        <p:txBody>
          <a:bodyPr>
            <a:normAutofit/>
          </a:bodyPr>
          <a:lstStyle/>
          <a:p>
            <a:r>
              <a:rPr lang="en-US" altLang="ko-KR" dirty="0">
                <a:latin typeface="Century" panose="02040604050505020304" pitchFamily="18" charset="0"/>
              </a:rPr>
              <a:t>Design issues are</a:t>
            </a:r>
          </a:p>
          <a:p>
            <a:pPr lvl="1"/>
            <a:r>
              <a:rPr lang="en-US" altLang="ko-KR" dirty="0">
                <a:latin typeface="Century" panose="02040604050505020304" pitchFamily="18" charset="0"/>
              </a:rPr>
              <a:t>to make sure that when one side sends a 1 bit, it is received by the other side as a 1 bit, not as a 0 bit, </a:t>
            </a:r>
          </a:p>
          <a:p>
            <a:pPr lvl="1"/>
            <a:r>
              <a:rPr lang="en-US" altLang="ko-KR" dirty="0">
                <a:latin typeface="Century" panose="02040604050505020304" pitchFamily="18" charset="0"/>
              </a:rPr>
              <a:t>what electrical signals used to represent a 1 and a 0,</a:t>
            </a:r>
          </a:p>
          <a:p>
            <a:pPr lvl="1"/>
            <a:r>
              <a:rPr lang="en-US" altLang="ko-KR" dirty="0">
                <a:latin typeface="Century" panose="02040604050505020304" pitchFamily="18" charset="0"/>
              </a:rPr>
              <a:t>how many nanoseconds a bit lasts,</a:t>
            </a:r>
          </a:p>
          <a:p>
            <a:pPr lvl="1"/>
            <a:r>
              <a:rPr lang="en-US" altLang="ko-KR" dirty="0">
                <a:latin typeface="Century" panose="02040604050505020304" pitchFamily="18" charset="0"/>
              </a:rPr>
              <a:t>whether transmission may proceed simultaneously in both directions,</a:t>
            </a:r>
          </a:p>
          <a:p>
            <a:pPr lvl="1"/>
            <a:r>
              <a:rPr lang="en-US" altLang="ko-KR" dirty="0">
                <a:latin typeface="Century" panose="02040604050505020304" pitchFamily="18" charset="0"/>
              </a:rPr>
              <a:t>how the initial connection is established,</a:t>
            </a:r>
          </a:p>
          <a:p>
            <a:pPr lvl="1"/>
            <a:r>
              <a:rPr lang="en-US" altLang="ko-KR" dirty="0">
                <a:latin typeface="Century" panose="02040604050505020304" pitchFamily="18" charset="0"/>
              </a:rPr>
              <a:t>how it is torn down when both sides are finished,</a:t>
            </a:r>
          </a:p>
          <a:p>
            <a:pPr lvl="1"/>
            <a:r>
              <a:rPr lang="en-US" altLang="ko-KR" dirty="0">
                <a:latin typeface="Century" panose="02040604050505020304" pitchFamily="18" charset="0"/>
              </a:rPr>
              <a:t>how many pins the network connector has, </a:t>
            </a:r>
            <a:r>
              <a:rPr lang="en-US" altLang="ko-KR" sz="2800" dirty="0">
                <a:latin typeface="Century" panose="02040604050505020304" pitchFamily="18" charset="0"/>
              </a:rPr>
              <a:t>what each pin is used for.</a:t>
            </a:r>
          </a:p>
          <a:p>
            <a:r>
              <a:rPr lang="en-US" altLang="ko-KR" dirty="0">
                <a:latin typeface="Century" panose="02040604050505020304" pitchFamily="18" charset="0"/>
              </a:rPr>
              <a:t>These design issues deal with </a:t>
            </a:r>
          </a:p>
          <a:p>
            <a:pPr lvl="1"/>
            <a:r>
              <a:rPr lang="en-US" altLang="ko-KR" dirty="0">
                <a:latin typeface="Century" panose="02040604050505020304" pitchFamily="18" charset="0"/>
              </a:rPr>
              <a:t>mechanical, electrical, &amp; timing interfaces, </a:t>
            </a:r>
          </a:p>
          <a:p>
            <a:pPr lvl="1"/>
            <a:r>
              <a:rPr lang="en-US" altLang="ko-KR" dirty="0">
                <a:latin typeface="Century" panose="02040604050505020304" pitchFamily="18" charset="0"/>
              </a:rPr>
              <a:t>the physical transmission medium, which lies below the physical layer,</a:t>
            </a:r>
          </a:p>
          <a:p>
            <a:pPr lvl="1"/>
            <a:r>
              <a:rPr lang="en-US" sz="2800" dirty="0">
                <a:latin typeface="Century" panose="02040604050505020304" pitchFamily="18" charset="0"/>
              </a:rPr>
              <a:t>and interfaces like </a:t>
            </a:r>
            <a:r>
              <a:rPr lang="en-US" altLang="ko-KR" sz="2800" dirty="0">
                <a:latin typeface="Century" panose="02040604050505020304" pitchFamily="18" charset="0"/>
              </a:rPr>
              <a:t>cable, connector etc</a:t>
            </a:r>
            <a:r>
              <a:rPr lang="en-US" sz="2800" dirty="0">
                <a:latin typeface="Century" panose="02040604050505020304" pitchFamily="18" charset="0"/>
              </a:rPr>
              <a:t>.</a:t>
            </a:r>
            <a:endParaRPr lang="en-US" altLang="ko-KR" sz="2800" dirty="0">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 xmlns:p14="http://schemas.microsoft.com/office/powerpoint/2010/main" val="1181812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19585" y="0"/>
            <a:ext cx="10515600" cy="1325563"/>
          </a:xfrm>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2. Data Link Layer</a:t>
            </a:r>
          </a:p>
        </p:txBody>
      </p:sp>
      <p:sp>
        <p:nvSpPr>
          <p:cNvPr id="225283" name="Rectangle 3"/>
          <p:cNvSpPr>
            <a:spLocks noGrp="1" noChangeArrowheads="1"/>
          </p:cNvSpPr>
          <p:nvPr>
            <p:ph idx="1"/>
          </p:nvPr>
        </p:nvSpPr>
        <p:spPr>
          <a:xfrm>
            <a:off x="536812" y="1163424"/>
            <a:ext cx="10816988" cy="5192926"/>
          </a:xfrm>
        </p:spPr>
        <p:txBody>
          <a:bodyPr>
            <a:noAutofit/>
          </a:bodyPr>
          <a:lstStyle/>
          <a:p>
            <a:r>
              <a:rPr kumimoji="0" lang="en-US" altLang="ko-KR" dirty="0">
                <a:latin typeface="Century" panose="02040604050505020304" pitchFamily="18" charset="0"/>
              </a:rPr>
              <a:t>Responsible for </a:t>
            </a:r>
            <a:r>
              <a:rPr kumimoji="0" lang="en-US" altLang="ko-KR" dirty="0">
                <a:solidFill>
                  <a:srgbClr val="B52141"/>
                </a:solidFill>
                <a:latin typeface="Century" panose="02040604050505020304" pitchFamily="18" charset="0"/>
              </a:rPr>
              <a:t>moving </a:t>
            </a:r>
            <a:r>
              <a:rPr kumimoji="0" lang="en-US" altLang="ko-KR" b="1" i="1" u="sng" dirty="0">
                <a:solidFill>
                  <a:srgbClr val="B52141"/>
                </a:solidFill>
                <a:latin typeface="Century" panose="02040604050505020304" pitchFamily="18" charset="0"/>
              </a:rPr>
              <a:t>frames</a:t>
            </a:r>
            <a:r>
              <a:rPr kumimoji="0" lang="en-US" altLang="ko-KR" dirty="0">
                <a:solidFill>
                  <a:srgbClr val="B52141"/>
                </a:solidFill>
                <a:latin typeface="Century" panose="02040604050505020304" pitchFamily="18" charset="0"/>
              </a:rPr>
              <a:t> from </a:t>
            </a:r>
            <a:r>
              <a:rPr kumimoji="0" lang="en-US" altLang="ko-KR" u="sng" dirty="0">
                <a:solidFill>
                  <a:srgbClr val="B52141"/>
                </a:solidFill>
                <a:latin typeface="Century" panose="02040604050505020304" pitchFamily="18" charset="0"/>
              </a:rPr>
              <a:t>one hop (node) to the next</a:t>
            </a:r>
            <a:r>
              <a:rPr kumimoji="0" lang="en-US" altLang="ko-KR" dirty="0">
                <a:solidFill>
                  <a:srgbClr val="B52141"/>
                </a:solidFill>
                <a:latin typeface="Century" panose="02040604050505020304" pitchFamily="18" charset="0"/>
              </a:rPr>
              <a:t>.</a:t>
            </a:r>
          </a:p>
          <a:p>
            <a:endParaRPr lang="en-US" altLang="ko-KR" sz="3200" dirty="0">
              <a:solidFill>
                <a:srgbClr val="B52141"/>
              </a:solidFill>
              <a:latin typeface="Century" panose="02040604050505020304" pitchFamily="18" charset="0"/>
            </a:endParaRPr>
          </a:p>
          <a:p>
            <a:endParaRPr lang="en-US" altLang="ko-KR" sz="3200" dirty="0">
              <a:solidFill>
                <a:srgbClr val="B52141"/>
              </a:solidFill>
              <a:latin typeface="Century" panose="02040604050505020304" pitchFamily="18" charset="0"/>
            </a:endParaRPr>
          </a:p>
          <a:p>
            <a:endParaRPr lang="en-US" altLang="ko-KR" sz="3200" dirty="0">
              <a:solidFill>
                <a:srgbClr val="B52141"/>
              </a:solidFill>
              <a:latin typeface="Century" panose="02040604050505020304" pitchFamily="18" charset="0"/>
            </a:endParaRPr>
          </a:p>
          <a:p>
            <a:endParaRPr lang="en-US" altLang="ko-KR" sz="3200" dirty="0">
              <a:solidFill>
                <a:srgbClr val="B52141"/>
              </a:solidFill>
              <a:latin typeface="Century" panose="02040604050505020304" pitchFamily="18" charset="0"/>
            </a:endParaRPr>
          </a:p>
          <a:p>
            <a:r>
              <a:rPr lang="en-US" sz="2400" dirty="0">
                <a:latin typeface="Century" panose="02040604050505020304" pitchFamily="18" charset="0"/>
              </a:rPr>
              <a:t>The PDU of the data link layer is called </a:t>
            </a:r>
            <a:r>
              <a:rPr lang="en-US" sz="2400" b="1" dirty="0">
                <a:solidFill>
                  <a:srgbClr val="2B4785"/>
                </a:solidFill>
                <a:latin typeface="Century" panose="02040604050505020304" pitchFamily="18" charset="0"/>
              </a:rPr>
              <a:t>frame</a:t>
            </a:r>
            <a:r>
              <a:rPr lang="en-US" sz="2400" dirty="0">
                <a:latin typeface="Century" panose="02040604050505020304" pitchFamily="18" charset="0"/>
              </a:rPr>
              <a:t>.</a:t>
            </a:r>
          </a:p>
          <a:p>
            <a:r>
              <a:rPr lang="en-US" sz="2400" dirty="0">
                <a:latin typeface="Century" panose="02040604050505020304" pitchFamily="18" charset="0"/>
              </a:rPr>
              <a:t>DLL handles </a:t>
            </a:r>
            <a:r>
              <a:rPr lang="en-US" sz="2400" b="1" i="1" dirty="0">
                <a:latin typeface="Century" panose="02040604050505020304" pitchFamily="18" charset="0"/>
              </a:rPr>
              <a:t>data frames</a:t>
            </a:r>
            <a:r>
              <a:rPr lang="en-US" sz="2400" b="1" dirty="0">
                <a:latin typeface="Century" panose="02040604050505020304" pitchFamily="18" charset="0"/>
              </a:rPr>
              <a:t> </a:t>
            </a:r>
            <a:r>
              <a:rPr lang="en-US" sz="2400" dirty="0">
                <a:latin typeface="Century" panose="02040604050505020304" pitchFamily="18" charset="0"/>
              </a:rPr>
              <a:t>between the NL and the PL.</a:t>
            </a:r>
          </a:p>
          <a:p>
            <a:pPr lvl="1"/>
            <a:r>
              <a:rPr lang="en-US" dirty="0">
                <a:latin typeface="Century" panose="02040604050505020304" pitchFamily="18" charset="0"/>
              </a:rPr>
              <a:t>At the sending end, DLL handles </a:t>
            </a:r>
            <a:r>
              <a:rPr lang="en-US" dirty="0">
                <a:solidFill>
                  <a:srgbClr val="2B4785"/>
                </a:solidFill>
                <a:latin typeface="Century" panose="02040604050505020304" pitchFamily="18" charset="0"/>
              </a:rPr>
              <a:t>conversion of data into raw formats</a:t>
            </a:r>
            <a:r>
              <a:rPr lang="en-US" dirty="0">
                <a:latin typeface="Century" panose="02040604050505020304" pitchFamily="18" charset="0"/>
              </a:rPr>
              <a:t> that can be handled by the PL.</a:t>
            </a:r>
          </a:p>
          <a:p>
            <a:pPr lvl="1"/>
            <a:r>
              <a:rPr lang="en-US" dirty="0">
                <a:latin typeface="Century" panose="02040604050505020304" pitchFamily="18" charset="0"/>
              </a:rPr>
              <a:t>At the receiving end, this layer </a:t>
            </a:r>
            <a:r>
              <a:rPr lang="en-US" dirty="0">
                <a:solidFill>
                  <a:srgbClr val="2B4785"/>
                </a:solidFill>
                <a:latin typeface="Century" panose="02040604050505020304" pitchFamily="18" charset="0"/>
              </a:rPr>
              <a:t>packages raw data from the PL into data frames </a:t>
            </a:r>
            <a:r>
              <a:rPr lang="en-US" dirty="0">
                <a:latin typeface="Century" panose="02040604050505020304" pitchFamily="18" charset="0"/>
              </a:rPr>
              <a:t>for delivery to the NL.</a:t>
            </a:r>
          </a:p>
          <a:p>
            <a:endParaRPr lang="en-US" altLang="ko-KR" sz="3200" dirty="0">
              <a:solidFill>
                <a:srgbClr val="B52141"/>
              </a:solidFill>
              <a:latin typeface="Century" panose="020406040505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pic>
        <p:nvPicPr>
          <p:cNvPr id="225287" name="Picture 7"/>
          <p:cNvPicPr>
            <a:picLocks noChangeAspect="1" noChangeArrowheads="1"/>
          </p:cNvPicPr>
          <p:nvPr/>
        </p:nvPicPr>
        <p:blipFill>
          <a:blip r:embed="rId2" cstate="print"/>
          <a:srcRect/>
          <a:stretch>
            <a:fillRect/>
          </a:stretch>
        </p:blipFill>
        <p:spPr bwMode="auto">
          <a:xfrm>
            <a:off x="3254991" y="1676508"/>
            <a:ext cx="5791200" cy="2083379"/>
          </a:xfrm>
          <a:prstGeom prst="rect">
            <a:avLst/>
          </a:prstGeom>
          <a:noFill/>
          <a:ln w="9525">
            <a:noFill/>
            <a:miter lim="800000"/>
            <a:headEnd/>
            <a:tailEnd/>
          </a:ln>
          <a:effectLst/>
        </p:spPr>
      </p:pic>
    </p:spTree>
    <p:extLst>
      <p:ext uri="{BB962C8B-B14F-4D97-AF65-F5344CB8AC3E}">
        <p14:creationId xmlns="" xmlns:p14="http://schemas.microsoft.com/office/powerpoint/2010/main" val="2842264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Rectangle 3"/>
          <p:cNvSpPr>
            <a:spLocks noGrp="1" noChangeArrowheads="1"/>
          </p:cNvSpPr>
          <p:nvPr>
            <p:ph idx="1"/>
          </p:nvPr>
        </p:nvSpPr>
        <p:spPr>
          <a:xfrm>
            <a:off x="838199" y="491319"/>
            <a:ext cx="10871579" cy="5685644"/>
          </a:xfrm>
        </p:spPr>
        <p:txBody>
          <a:bodyPr>
            <a:normAutofit fontScale="92500"/>
          </a:bodyPr>
          <a:lstStyle/>
          <a:p>
            <a:r>
              <a:rPr lang="en-US" dirty="0">
                <a:latin typeface="Century" panose="02040604050505020304" pitchFamily="18" charset="0"/>
              </a:rPr>
              <a:t>Data link layer is divided into 2 sublayers.</a:t>
            </a:r>
          </a:p>
          <a:p>
            <a:pPr lvl="1"/>
            <a:r>
              <a:rPr lang="en-US" b="1" dirty="0">
                <a:solidFill>
                  <a:srgbClr val="2B4785"/>
                </a:solidFill>
                <a:latin typeface="Century" panose="02040604050505020304" pitchFamily="18" charset="0"/>
              </a:rPr>
              <a:t>Logical Link Control (LLC) sub layer </a:t>
            </a:r>
          </a:p>
          <a:p>
            <a:pPr lvl="1"/>
            <a:r>
              <a:rPr lang="en-US" b="1" dirty="0">
                <a:solidFill>
                  <a:srgbClr val="2B4785"/>
                </a:solidFill>
                <a:latin typeface="Century" panose="02040604050505020304" pitchFamily="18" charset="0"/>
              </a:rPr>
              <a:t>Medium Access Control (MAC) sub layer </a:t>
            </a:r>
          </a:p>
          <a:p>
            <a:r>
              <a:rPr lang="en-US" dirty="0">
                <a:latin typeface="Century" panose="02040604050505020304" pitchFamily="18" charset="0"/>
              </a:rPr>
              <a:t>The major duties of the data link layer are:</a:t>
            </a:r>
          </a:p>
          <a:p>
            <a:pPr lvl="1"/>
            <a:r>
              <a:rPr lang="en-US" altLang="ko-KR" sz="2800" dirty="0">
                <a:latin typeface="Century" panose="02040604050505020304" pitchFamily="18" charset="0"/>
              </a:rPr>
              <a:t> </a:t>
            </a:r>
            <a:r>
              <a:rPr lang="en-US" altLang="ko-KR" sz="2800" b="1" dirty="0">
                <a:solidFill>
                  <a:srgbClr val="FF0000"/>
                </a:solidFill>
                <a:latin typeface="Century" panose="02040604050505020304" pitchFamily="18" charset="0"/>
              </a:rPr>
              <a:t>Framing</a:t>
            </a:r>
            <a:r>
              <a:rPr lang="en-US" altLang="ko-KR" sz="2800" dirty="0">
                <a:solidFill>
                  <a:srgbClr val="FF0000"/>
                </a:solidFill>
                <a:latin typeface="Century" panose="02040604050505020304" pitchFamily="18" charset="0"/>
              </a:rPr>
              <a:t> </a:t>
            </a:r>
            <a:r>
              <a:rPr lang="en-US" altLang="ko-KR" sz="2800" dirty="0">
                <a:latin typeface="Century" panose="02040604050505020304" pitchFamily="18" charset="0"/>
              </a:rPr>
              <a:t>– </a:t>
            </a:r>
            <a:r>
              <a:rPr lang="en-US" altLang="ko-KR" sz="2800" i="1" dirty="0">
                <a:latin typeface="Century" panose="02040604050505020304" pitchFamily="18" charset="0"/>
              </a:rPr>
              <a:t>creating and managing frames.</a:t>
            </a:r>
          </a:p>
          <a:p>
            <a:pPr lvl="1"/>
            <a:r>
              <a:rPr lang="en-US" altLang="ko-KR" sz="2800" dirty="0">
                <a:solidFill>
                  <a:srgbClr val="FF0000"/>
                </a:solidFill>
                <a:latin typeface="Century" panose="02040604050505020304" pitchFamily="18" charset="0"/>
              </a:rPr>
              <a:t> </a:t>
            </a:r>
            <a:r>
              <a:rPr lang="en-US" altLang="ko-KR" sz="2800" b="1" dirty="0">
                <a:solidFill>
                  <a:srgbClr val="FF0000"/>
                </a:solidFill>
                <a:latin typeface="Century" panose="02040604050505020304" pitchFamily="18" charset="0"/>
              </a:rPr>
              <a:t>Physical addressing</a:t>
            </a:r>
            <a:r>
              <a:rPr lang="en-US" altLang="ko-KR" sz="2800" dirty="0">
                <a:latin typeface="Century" panose="02040604050505020304" pitchFamily="18" charset="0"/>
              </a:rPr>
              <a:t>: </a:t>
            </a:r>
            <a:r>
              <a:rPr lang="en-US" altLang="ko-KR" sz="2800" i="1" dirty="0">
                <a:latin typeface="Century" panose="02040604050505020304" pitchFamily="18" charset="0"/>
              </a:rPr>
              <a:t>frame header contains this address</a:t>
            </a:r>
            <a:r>
              <a:rPr lang="en-US" altLang="ko-KR" sz="2800" dirty="0">
                <a:latin typeface="Century" panose="02040604050505020304" pitchFamily="18" charset="0"/>
              </a:rPr>
              <a:t>.</a:t>
            </a:r>
          </a:p>
          <a:p>
            <a:pPr lvl="2"/>
            <a:r>
              <a:rPr lang="en-US" altLang="ko-KR" sz="2400" b="1" dirty="0">
                <a:latin typeface="Century" panose="02040604050505020304" pitchFamily="18" charset="0"/>
              </a:rPr>
              <a:t>MAC address</a:t>
            </a:r>
            <a:r>
              <a:rPr lang="en-US" altLang="ko-KR" sz="2400" dirty="0">
                <a:latin typeface="Century" panose="02040604050505020304" pitchFamily="18" charset="0"/>
              </a:rPr>
              <a:t>, which is hard coded into Network Interface Card (NIC) and is of </a:t>
            </a:r>
            <a:r>
              <a:rPr lang="en-US" altLang="ko-KR" sz="2400" b="1" dirty="0">
                <a:latin typeface="Century" panose="02040604050505020304" pitchFamily="18" charset="0"/>
              </a:rPr>
              <a:t>48-bit</a:t>
            </a:r>
            <a:r>
              <a:rPr lang="en-US" altLang="ko-KR" sz="2400" dirty="0">
                <a:latin typeface="Century" panose="02040604050505020304" pitchFamily="18" charset="0"/>
              </a:rPr>
              <a:t> represented by Hexadecimal format.</a:t>
            </a:r>
          </a:p>
          <a:p>
            <a:pPr lvl="1"/>
            <a:r>
              <a:rPr lang="en-US" altLang="ko-KR" sz="2800" dirty="0">
                <a:latin typeface="Century" panose="02040604050505020304" pitchFamily="18" charset="0"/>
              </a:rPr>
              <a:t> </a:t>
            </a:r>
            <a:r>
              <a:rPr lang="en-US" altLang="ko-KR" sz="2800" b="1" dirty="0">
                <a:solidFill>
                  <a:srgbClr val="FF0000"/>
                </a:solidFill>
                <a:latin typeface="Century" panose="02040604050505020304" pitchFamily="18" charset="0"/>
              </a:rPr>
              <a:t>Flow control </a:t>
            </a:r>
            <a:r>
              <a:rPr lang="en-US" altLang="ko-KR" sz="2800" dirty="0">
                <a:latin typeface="Century" panose="02040604050505020304" pitchFamily="18" charset="0"/>
              </a:rPr>
              <a:t>– </a:t>
            </a:r>
            <a:r>
              <a:rPr lang="en-US" altLang="ko-KR" sz="2800" i="1" dirty="0">
                <a:latin typeface="Century" panose="02040604050505020304" pitchFamily="18" charset="0"/>
              </a:rPr>
              <a:t>prevents overwhelming the receiver.</a:t>
            </a:r>
          </a:p>
          <a:p>
            <a:pPr lvl="1"/>
            <a:r>
              <a:rPr lang="en-US" altLang="ko-KR" sz="2800" dirty="0">
                <a:latin typeface="Century" panose="02040604050505020304" pitchFamily="18" charset="0"/>
              </a:rPr>
              <a:t> </a:t>
            </a:r>
            <a:r>
              <a:rPr lang="en-US" altLang="ko-KR" sz="2800" b="1" dirty="0">
                <a:solidFill>
                  <a:srgbClr val="FF0000"/>
                </a:solidFill>
                <a:latin typeface="Century" panose="02040604050505020304" pitchFamily="18" charset="0"/>
              </a:rPr>
              <a:t>Error control </a:t>
            </a:r>
            <a:r>
              <a:rPr lang="en-US" altLang="ko-KR" sz="2800" dirty="0">
                <a:latin typeface="Century" panose="02040604050505020304" pitchFamily="18" charset="0"/>
              </a:rPr>
              <a:t>– </a:t>
            </a:r>
            <a:r>
              <a:rPr lang="en-US" altLang="ko-KR" sz="2800" i="1" dirty="0">
                <a:latin typeface="Century" panose="02040604050505020304" pitchFamily="18" charset="0"/>
              </a:rPr>
              <a:t>detect and retransmit damaged frames (trailer).</a:t>
            </a:r>
          </a:p>
          <a:p>
            <a:pPr lvl="1"/>
            <a:r>
              <a:rPr lang="en-US" altLang="ko-KR" sz="2800" dirty="0">
                <a:latin typeface="Century" panose="02040604050505020304" pitchFamily="18" charset="0"/>
              </a:rPr>
              <a:t> </a:t>
            </a:r>
            <a:r>
              <a:rPr lang="en-US" altLang="ko-KR" sz="2800" b="1" dirty="0">
                <a:solidFill>
                  <a:srgbClr val="FF0000"/>
                </a:solidFill>
                <a:latin typeface="Century" panose="02040604050505020304" pitchFamily="18" charset="0"/>
              </a:rPr>
              <a:t>Access control </a:t>
            </a:r>
            <a:r>
              <a:rPr lang="en-US" altLang="ko-KR" sz="2800" dirty="0">
                <a:latin typeface="Century" panose="02040604050505020304" pitchFamily="18" charset="0"/>
              </a:rPr>
              <a:t>– </a:t>
            </a:r>
            <a:r>
              <a:rPr lang="en-US" altLang="ko-KR" sz="2800" i="1" dirty="0">
                <a:latin typeface="Century" panose="02040604050505020304" pitchFamily="18" charset="0"/>
              </a:rPr>
              <a:t>how to access link amongst multiple devices.</a:t>
            </a:r>
          </a:p>
          <a:p>
            <a:r>
              <a:rPr lang="en-US" dirty="0">
                <a:latin typeface="Century" panose="02040604050505020304" pitchFamily="18" charset="0"/>
              </a:rPr>
              <a:t>Data Link layer </a:t>
            </a:r>
            <a:r>
              <a:rPr lang="en-US" b="1" dirty="0">
                <a:latin typeface="Century" panose="02040604050505020304" pitchFamily="18" charset="0"/>
              </a:rPr>
              <a:t>protocols</a:t>
            </a:r>
            <a:r>
              <a:rPr lang="en-US" dirty="0">
                <a:latin typeface="Century" panose="02040604050505020304" pitchFamily="18" charset="0"/>
              </a:rPr>
              <a:t> are </a:t>
            </a:r>
            <a:r>
              <a:rPr lang="en-US" dirty="0">
                <a:solidFill>
                  <a:srgbClr val="2B4785"/>
                </a:solidFill>
                <a:latin typeface="Century" panose="02040604050505020304" pitchFamily="18" charset="0"/>
              </a:rPr>
              <a:t>sliding window protocol, CRC, hamming code, CSMA, CSMA/CD, CSMA/CA, Token Passing etc.</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 xmlns:p14="http://schemas.microsoft.com/office/powerpoint/2010/main" val="2572940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8E3AF12-01A8-4508-8A60-A96336284436}"/>
              </a:ext>
            </a:extLst>
          </p:cNvPr>
          <p:cNvSpPr>
            <a:spLocks noGrp="1"/>
          </p:cNvSpPr>
          <p:nvPr>
            <p:ph idx="1"/>
          </p:nvPr>
        </p:nvSpPr>
        <p:spPr>
          <a:xfrm>
            <a:off x="600501" y="163773"/>
            <a:ext cx="10753299" cy="6291618"/>
          </a:xfrm>
        </p:spPr>
        <p:txBody>
          <a:bodyPr>
            <a:normAutofit/>
          </a:bodyPr>
          <a:lstStyle/>
          <a:p>
            <a:r>
              <a:rPr lang="en-US" sz="2400" dirty="0">
                <a:latin typeface="Century" panose="02040604050505020304" pitchFamily="18" charset="0"/>
              </a:rPr>
              <a:t>Main task: </a:t>
            </a:r>
            <a:r>
              <a:rPr lang="en-US" sz="2400" dirty="0">
                <a:solidFill>
                  <a:srgbClr val="2B4785"/>
                </a:solidFill>
                <a:latin typeface="Century" panose="02040604050505020304" pitchFamily="18" charset="0"/>
              </a:rPr>
              <a:t>Error Control</a:t>
            </a:r>
          </a:p>
          <a:p>
            <a:pPr lvl="1"/>
            <a:r>
              <a:rPr lang="en-US" dirty="0">
                <a:latin typeface="Century" panose="02040604050505020304" pitchFamily="18" charset="0"/>
              </a:rPr>
              <a:t>to transform a raw transmission facility into a line that appears free of undetected transmission errors to the network layer.</a:t>
            </a:r>
          </a:p>
          <a:p>
            <a:pPr lvl="1"/>
            <a:r>
              <a:rPr lang="en-US" dirty="0">
                <a:latin typeface="Century" panose="02040604050505020304" pitchFamily="18" charset="0"/>
              </a:rPr>
              <a:t>sender break up the input data into data frames </a:t>
            </a:r>
            <a:r>
              <a:rPr lang="en-US" i="1" dirty="0">
                <a:latin typeface="Century" panose="02040604050505020304" pitchFamily="18" charset="0"/>
              </a:rPr>
              <a:t>(typically a few hundred or a few thousand bytes) </a:t>
            </a:r>
            <a:r>
              <a:rPr lang="en-US" dirty="0">
                <a:latin typeface="Century" panose="02040604050505020304" pitchFamily="18" charset="0"/>
              </a:rPr>
              <a:t>and transmit the frames sequentially.</a:t>
            </a:r>
          </a:p>
          <a:p>
            <a:pPr lvl="1"/>
            <a:r>
              <a:rPr lang="en-US" dirty="0">
                <a:latin typeface="Century" panose="02040604050505020304" pitchFamily="18" charset="0"/>
              </a:rPr>
              <a:t>If the service is reliable, the receiver confirms correct receipt of each frame by sending back an </a:t>
            </a:r>
            <a:r>
              <a:rPr lang="en-US" dirty="0">
                <a:solidFill>
                  <a:srgbClr val="2B4785"/>
                </a:solidFill>
                <a:latin typeface="Century" panose="02040604050505020304" pitchFamily="18" charset="0"/>
              </a:rPr>
              <a:t>acknowledgement</a:t>
            </a:r>
            <a:r>
              <a:rPr lang="en-US" dirty="0">
                <a:latin typeface="Century" panose="02040604050505020304" pitchFamily="18" charset="0"/>
              </a:rPr>
              <a:t> frame. </a:t>
            </a:r>
          </a:p>
          <a:p>
            <a:r>
              <a:rPr lang="en-US" sz="2400" dirty="0">
                <a:latin typeface="Century" panose="02040604050505020304" pitchFamily="18" charset="0"/>
              </a:rPr>
              <a:t>Another Issue: </a:t>
            </a:r>
            <a:r>
              <a:rPr lang="en-US" sz="2400" dirty="0">
                <a:solidFill>
                  <a:srgbClr val="2B4785"/>
                </a:solidFill>
                <a:latin typeface="Century" panose="02040604050505020304" pitchFamily="18" charset="0"/>
              </a:rPr>
              <a:t>Flow control</a:t>
            </a:r>
          </a:p>
          <a:p>
            <a:pPr lvl="1"/>
            <a:r>
              <a:rPr lang="en-US" dirty="0">
                <a:latin typeface="Century" panose="02040604050505020304" pitchFamily="18" charset="0"/>
              </a:rPr>
              <a:t>how to keep a fast transmitter from drowning a slow receiver in data.</a:t>
            </a:r>
          </a:p>
          <a:p>
            <a:pPr lvl="1"/>
            <a:r>
              <a:rPr lang="en-US" dirty="0">
                <a:latin typeface="Century" panose="02040604050505020304" pitchFamily="18" charset="0"/>
              </a:rPr>
              <a:t>traffic regulation mechanism is often needed to let the transmitter know how much buffer space the receiver has.	</a:t>
            </a:r>
          </a:p>
          <a:p>
            <a:r>
              <a:rPr lang="en-US" sz="2400" dirty="0">
                <a:latin typeface="Century" panose="02040604050505020304" pitchFamily="18" charset="0"/>
              </a:rPr>
              <a:t>Additional issue in broadcast networks:</a:t>
            </a:r>
          </a:p>
          <a:p>
            <a:pPr lvl="1"/>
            <a:r>
              <a:rPr lang="en-US" dirty="0">
                <a:latin typeface="Century" panose="02040604050505020304" pitchFamily="18" charset="0"/>
              </a:rPr>
              <a:t>how to </a:t>
            </a:r>
            <a:r>
              <a:rPr lang="en-US" dirty="0">
                <a:solidFill>
                  <a:srgbClr val="2B4785"/>
                </a:solidFill>
                <a:latin typeface="Century" panose="02040604050505020304" pitchFamily="18" charset="0"/>
              </a:rPr>
              <a:t>control access to the shared channel</a:t>
            </a:r>
            <a:r>
              <a:rPr lang="en-US" dirty="0">
                <a:latin typeface="Century" panose="02040604050505020304" pitchFamily="18" charset="0"/>
              </a:rPr>
              <a:t>.</a:t>
            </a:r>
          </a:p>
          <a:p>
            <a:pPr lvl="1"/>
            <a:r>
              <a:rPr lang="en-US" dirty="0">
                <a:latin typeface="Century" panose="02040604050505020304" pitchFamily="18" charset="0"/>
              </a:rPr>
              <a:t>MAC sublayer handles the access control in broadcast networks.</a:t>
            </a:r>
            <a:endParaRPr lang="en-IN" dirty="0">
              <a:latin typeface="Century" panose="02040604050505020304" pitchFamily="18" charset="0"/>
            </a:endParaRPr>
          </a:p>
        </p:txBody>
      </p:sp>
      <p:sp>
        <p:nvSpPr>
          <p:cNvPr id="4" name="Slide Number Placeholder 3">
            <a:extLst>
              <a:ext uri="{FF2B5EF4-FFF2-40B4-BE49-F238E27FC236}">
                <a16:creationId xmlns="" xmlns:a16="http://schemas.microsoft.com/office/drawing/2014/main" id="{D0FB8CC8-2D76-46FF-8126-091BF97A2042}"/>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 xmlns:p14="http://schemas.microsoft.com/office/powerpoint/2010/main" val="186775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838200" y="337829"/>
            <a:ext cx="10515600" cy="1325563"/>
          </a:xfrm>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3. Network Layer</a:t>
            </a:r>
          </a:p>
        </p:txBody>
      </p:sp>
      <p:sp>
        <p:nvSpPr>
          <p:cNvPr id="233475" name="Rectangle 3"/>
          <p:cNvSpPr>
            <a:spLocks noGrp="1" noChangeArrowheads="1"/>
          </p:cNvSpPr>
          <p:nvPr>
            <p:ph idx="1"/>
          </p:nvPr>
        </p:nvSpPr>
        <p:spPr>
          <a:xfrm>
            <a:off x="838200" y="1374887"/>
            <a:ext cx="10515600" cy="4351338"/>
          </a:xfrm>
        </p:spPr>
        <p:txBody>
          <a:bodyPr>
            <a:normAutofit/>
          </a:bodyPr>
          <a:lstStyle/>
          <a:p>
            <a:r>
              <a:rPr kumimoji="0" lang="en-US" altLang="ko-KR" sz="2600" dirty="0">
                <a:latin typeface="Century" panose="02040604050505020304" pitchFamily="18" charset="0"/>
              </a:rPr>
              <a:t>Responsible for the delivery of individual </a:t>
            </a:r>
            <a:r>
              <a:rPr kumimoji="0" lang="en-US" altLang="ko-KR" sz="2600" b="1" u="sng" dirty="0">
                <a:solidFill>
                  <a:srgbClr val="B52141"/>
                </a:solidFill>
                <a:latin typeface="Century" panose="02040604050505020304" pitchFamily="18" charset="0"/>
              </a:rPr>
              <a:t>packets</a:t>
            </a:r>
            <a:r>
              <a:rPr kumimoji="0" lang="en-US" altLang="ko-KR" sz="2600" dirty="0">
                <a:solidFill>
                  <a:srgbClr val="B52141"/>
                </a:solidFill>
                <a:latin typeface="Century" panose="02040604050505020304" pitchFamily="18" charset="0"/>
              </a:rPr>
              <a:t> from the </a:t>
            </a:r>
            <a:r>
              <a:rPr kumimoji="0" lang="en-US" altLang="ko-KR" sz="2600" b="1" u="sng" dirty="0">
                <a:solidFill>
                  <a:srgbClr val="B52141"/>
                </a:solidFill>
                <a:latin typeface="Century" panose="02040604050505020304" pitchFamily="18" charset="0"/>
              </a:rPr>
              <a:t>source host </a:t>
            </a:r>
            <a:r>
              <a:rPr kumimoji="0" lang="en-US" altLang="ko-KR" sz="2600" u="sng" dirty="0">
                <a:solidFill>
                  <a:srgbClr val="B52141"/>
                </a:solidFill>
                <a:latin typeface="Century" panose="02040604050505020304" pitchFamily="18" charset="0"/>
              </a:rPr>
              <a:t>to the </a:t>
            </a:r>
            <a:r>
              <a:rPr kumimoji="0" lang="en-US" altLang="ko-KR" sz="2600" b="1" u="sng" dirty="0">
                <a:solidFill>
                  <a:srgbClr val="B52141"/>
                </a:solidFill>
                <a:latin typeface="Century" panose="02040604050505020304" pitchFamily="18" charset="0"/>
              </a:rPr>
              <a:t>destination host</a:t>
            </a:r>
            <a:r>
              <a:rPr kumimoji="0" lang="en-US" altLang="ko-KR" sz="2600" u="sng" dirty="0">
                <a:solidFill>
                  <a:srgbClr val="B52141"/>
                </a:solidFill>
                <a:latin typeface="Century" panose="02040604050505020304" pitchFamily="18" charset="0"/>
              </a:rPr>
              <a:t>.</a:t>
            </a:r>
          </a:p>
          <a:p>
            <a:pPr>
              <a:lnSpc>
                <a:spcPct val="90000"/>
              </a:lnSpc>
            </a:pPr>
            <a:r>
              <a:rPr lang="en-US" sz="2600" dirty="0">
                <a:latin typeface="Century" panose="02040604050505020304" pitchFamily="18" charset="0"/>
              </a:rPr>
              <a:t>Functions:  </a:t>
            </a:r>
            <a:r>
              <a:rPr lang="en-US" sz="2600" b="1" dirty="0">
                <a:solidFill>
                  <a:srgbClr val="2B4785"/>
                </a:solidFill>
                <a:latin typeface="Century" panose="02040604050505020304" pitchFamily="18" charset="0"/>
              </a:rPr>
              <a:t>Logical (IP) addressing   &amp;  Routing</a:t>
            </a:r>
          </a:p>
          <a:p>
            <a:pPr lvl="1">
              <a:lnSpc>
                <a:spcPct val="90000"/>
              </a:lnSpc>
            </a:pPr>
            <a:r>
              <a:rPr lang="en-US" sz="2600" dirty="0">
                <a:latin typeface="Century" panose="02040604050505020304" pitchFamily="18" charset="0"/>
              </a:rPr>
              <a:t>Logical address / </a:t>
            </a:r>
            <a:r>
              <a:rPr lang="en-US" sz="2600" dirty="0">
                <a:solidFill>
                  <a:srgbClr val="2B4785"/>
                </a:solidFill>
                <a:latin typeface="Century" panose="02040604050505020304" pitchFamily="18" charset="0"/>
              </a:rPr>
              <a:t>IP address </a:t>
            </a:r>
            <a:r>
              <a:rPr lang="en-US" sz="2600" dirty="0">
                <a:latin typeface="Century" panose="02040604050505020304" pitchFamily="18" charset="0"/>
              </a:rPr>
              <a:t>- </a:t>
            </a:r>
            <a:r>
              <a:rPr lang="en-US" sz="2600" dirty="0">
                <a:solidFill>
                  <a:srgbClr val="2B4785"/>
                </a:solidFill>
                <a:latin typeface="Century" panose="02040604050505020304" pitchFamily="18" charset="0"/>
              </a:rPr>
              <a:t>32-bits</a:t>
            </a:r>
            <a:r>
              <a:rPr lang="en-US" sz="2600" dirty="0">
                <a:latin typeface="Century" panose="02040604050505020304" pitchFamily="18" charset="0"/>
              </a:rPr>
              <a:t> represented in dotted decimal format.</a:t>
            </a:r>
          </a:p>
          <a:p>
            <a:pPr>
              <a:lnSpc>
                <a:spcPct val="90000"/>
              </a:lnSpc>
            </a:pPr>
            <a:r>
              <a:rPr lang="en-US" sz="2600" dirty="0">
                <a:latin typeface="Century" panose="02040604050505020304" pitchFamily="18" charset="0"/>
              </a:rPr>
              <a:t>The PDU of network layer is a </a:t>
            </a:r>
            <a:r>
              <a:rPr lang="en-US" sz="2600" b="1" dirty="0">
                <a:solidFill>
                  <a:srgbClr val="B52141"/>
                </a:solidFill>
                <a:latin typeface="Century" panose="02040604050505020304" pitchFamily="18" charset="0"/>
              </a:rPr>
              <a:t>packet</a:t>
            </a:r>
            <a:r>
              <a:rPr lang="en-US" sz="2600" dirty="0">
                <a:latin typeface="Century" panose="02040604050505020304" pitchFamily="18" charset="0"/>
              </a:rPr>
              <a:t>.</a:t>
            </a:r>
          </a:p>
          <a:p>
            <a:pPr>
              <a:lnSpc>
                <a:spcPct val="90000"/>
              </a:lnSpc>
            </a:pPr>
            <a:endParaRPr lang="en-US" sz="2600" dirty="0">
              <a:latin typeface="Century" panose="02040604050505020304" pitchFamily="18" charset="0"/>
            </a:endParaRPr>
          </a:p>
          <a:p>
            <a:pPr lvl="1">
              <a:lnSpc>
                <a:spcPct val="90000"/>
              </a:lnSpc>
            </a:pPr>
            <a:endParaRPr lang="en-US" sz="2600" b="1" dirty="0">
              <a:solidFill>
                <a:srgbClr val="2B4785"/>
              </a:solidFill>
              <a:latin typeface="Century" panose="02040604050505020304" pitchFamily="18" charset="0"/>
            </a:endParaRPr>
          </a:p>
          <a:p>
            <a:endParaRPr kumimoji="0" lang="en-US" altLang="ko-KR" sz="2600" u="sng" dirty="0">
              <a:solidFill>
                <a:srgbClr val="B52141"/>
              </a:solidFill>
              <a:latin typeface="Century" panose="020406040505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pic>
        <p:nvPicPr>
          <p:cNvPr id="233480" name="Picture 8"/>
          <p:cNvPicPr>
            <a:picLocks noChangeAspect="1" noChangeArrowheads="1"/>
          </p:cNvPicPr>
          <p:nvPr/>
        </p:nvPicPr>
        <p:blipFill>
          <a:blip r:embed="rId3" cstate="print"/>
          <a:srcRect/>
          <a:stretch>
            <a:fillRect/>
          </a:stretch>
        </p:blipFill>
        <p:spPr bwMode="auto">
          <a:xfrm>
            <a:off x="3534321" y="4191904"/>
            <a:ext cx="6779736" cy="2529571"/>
          </a:xfrm>
          <a:prstGeom prst="rect">
            <a:avLst/>
          </a:prstGeom>
          <a:noFill/>
          <a:ln w="9525">
            <a:noFill/>
            <a:miter lim="800000"/>
            <a:headEnd/>
            <a:tailEnd/>
          </a:ln>
          <a:effectLst/>
        </p:spPr>
      </p:pic>
    </p:spTree>
    <p:extLst>
      <p:ext uri="{BB962C8B-B14F-4D97-AF65-F5344CB8AC3E}">
        <p14:creationId xmlns="" xmlns:p14="http://schemas.microsoft.com/office/powerpoint/2010/main" val="2566122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838200" y="450376"/>
            <a:ext cx="10515600" cy="5726587"/>
          </a:xfrm>
        </p:spPr>
        <p:txBody>
          <a:bodyPr>
            <a:normAutofit/>
          </a:bodyPr>
          <a:lstStyle/>
          <a:p>
            <a:pPr>
              <a:spcBef>
                <a:spcPts val="676"/>
              </a:spcBef>
            </a:pPr>
            <a:r>
              <a:rPr lang="en-US" sz="2600" dirty="0">
                <a:latin typeface="Century" panose="02040604050505020304" pitchFamily="18" charset="0"/>
              </a:rPr>
              <a:t>Handles </a:t>
            </a:r>
            <a:r>
              <a:rPr lang="en-US" sz="2600" dirty="0">
                <a:solidFill>
                  <a:srgbClr val="2B4785"/>
                </a:solidFill>
                <a:latin typeface="Century" panose="02040604050505020304" pitchFamily="18" charset="0"/>
              </a:rPr>
              <a:t>addressing messages </a:t>
            </a:r>
            <a:r>
              <a:rPr lang="en-US" sz="2600" dirty="0">
                <a:latin typeface="Century" panose="02040604050505020304" pitchFamily="18" charset="0"/>
              </a:rPr>
              <a:t>for delivery, as well as translates logical/IP addresses into corresponding physical/MAC addresses.</a:t>
            </a:r>
          </a:p>
          <a:p>
            <a:pPr>
              <a:spcBef>
                <a:spcPts val="676"/>
              </a:spcBef>
            </a:pPr>
            <a:r>
              <a:rPr lang="en-US" sz="2600" dirty="0">
                <a:latin typeface="Century" panose="02040604050505020304" pitchFamily="18" charset="0"/>
              </a:rPr>
              <a:t>Responsible for deciding </a:t>
            </a:r>
            <a:r>
              <a:rPr lang="en-US" sz="2600" dirty="0">
                <a:solidFill>
                  <a:srgbClr val="2B4785"/>
                </a:solidFill>
                <a:latin typeface="Century" panose="02040604050505020304" pitchFamily="18" charset="0"/>
              </a:rPr>
              <a:t>how to route transmissions </a:t>
            </a:r>
            <a:r>
              <a:rPr lang="en-US" sz="2600" dirty="0">
                <a:latin typeface="Century" panose="02040604050505020304" pitchFamily="18" charset="0"/>
              </a:rPr>
              <a:t>between computers, for the </a:t>
            </a:r>
            <a:r>
              <a:rPr lang="en-US" sz="2600" dirty="0">
                <a:solidFill>
                  <a:srgbClr val="2B4785"/>
                </a:solidFill>
                <a:latin typeface="Century" panose="02040604050505020304" pitchFamily="18" charset="0"/>
              </a:rPr>
              <a:t>delivery of a packet possibly </a:t>
            </a:r>
            <a:r>
              <a:rPr lang="en-US" sz="2600" u="sng" dirty="0">
                <a:solidFill>
                  <a:srgbClr val="2B4785"/>
                </a:solidFill>
                <a:latin typeface="Century" panose="02040604050505020304" pitchFamily="18" charset="0"/>
              </a:rPr>
              <a:t>across multiple networks</a:t>
            </a:r>
            <a:r>
              <a:rPr lang="en-US" sz="2600" dirty="0">
                <a:solidFill>
                  <a:srgbClr val="2B4785"/>
                </a:solidFill>
                <a:latin typeface="Century" panose="02040604050505020304" pitchFamily="18" charset="0"/>
              </a:rPr>
              <a:t>.</a:t>
            </a:r>
          </a:p>
          <a:p>
            <a:pPr lvl="1">
              <a:spcBef>
                <a:spcPts val="676"/>
              </a:spcBef>
            </a:pPr>
            <a:r>
              <a:rPr lang="en-US" sz="2600" i="1" dirty="0">
                <a:solidFill>
                  <a:srgbClr val="2B4785"/>
                </a:solidFill>
                <a:latin typeface="Century" panose="02040604050505020304" pitchFamily="18" charset="0"/>
              </a:rPr>
              <a:t>It two systems are connected to the same link/network, there is usually no need for a network layer. </a:t>
            </a:r>
          </a:p>
          <a:p>
            <a:pPr lvl="1">
              <a:spcBef>
                <a:spcPts val="676"/>
              </a:spcBef>
            </a:pPr>
            <a:r>
              <a:rPr lang="en-US" sz="2600" dirty="0">
                <a:latin typeface="Century" panose="02040604050505020304" pitchFamily="18" charset="0"/>
              </a:rPr>
              <a:t>However, if the two systems are attached to different networks with connecting devices like </a:t>
            </a:r>
            <a:r>
              <a:rPr lang="en-US" sz="2600" dirty="0">
                <a:solidFill>
                  <a:srgbClr val="2B4785"/>
                </a:solidFill>
                <a:latin typeface="Century" panose="02040604050505020304" pitchFamily="18" charset="0"/>
              </a:rPr>
              <a:t>routers</a:t>
            </a:r>
            <a:r>
              <a:rPr lang="en-US" sz="2600" dirty="0">
                <a:latin typeface="Century" panose="02040604050505020304" pitchFamily="18" charset="0"/>
              </a:rPr>
              <a:t> between the networks, NL is needed to accomplish the delivery.</a:t>
            </a:r>
          </a:p>
          <a:p>
            <a:pPr>
              <a:spcBef>
                <a:spcPts val="676"/>
              </a:spcBef>
            </a:pPr>
            <a:r>
              <a:rPr lang="en-US" sz="2600" dirty="0">
                <a:latin typeface="Century" panose="02040604050505020304" pitchFamily="18" charset="0"/>
              </a:rPr>
              <a:t>Also handles </a:t>
            </a:r>
            <a:r>
              <a:rPr lang="en-US" sz="2600" dirty="0">
                <a:solidFill>
                  <a:srgbClr val="2B4785"/>
                </a:solidFill>
                <a:latin typeface="Century" panose="02040604050505020304" pitchFamily="18" charset="0"/>
              </a:rPr>
              <a:t>packet switching </a:t>
            </a:r>
            <a:r>
              <a:rPr lang="en-US" sz="2600" dirty="0">
                <a:latin typeface="Century" panose="02040604050505020304" pitchFamily="18" charset="0"/>
              </a:rPr>
              <a:t>and </a:t>
            </a:r>
            <a:r>
              <a:rPr lang="en-US" sz="2600" dirty="0">
                <a:solidFill>
                  <a:srgbClr val="2B4785"/>
                </a:solidFill>
                <a:latin typeface="Century" panose="02040604050505020304" pitchFamily="18" charset="0"/>
              </a:rPr>
              <a:t>network congestion control</a:t>
            </a:r>
            <a:r>
              <a:rPr lang="en-US" sz="2600" dirty="0">
                <a:latin typeface="Century" panose="02040604050505020304" pitchFamily="18" charset="0"/>
              </a:rPr>
              <a:t>.</a:t>
            </a:r>
          </a:p>
          <a:p>
            <a:pPr>
              <a:spcBef>
                <a:spcPts val="676"/>
              </a:spcBef>
            </a:pPr>
            <a:r>
              <a:rPr lang="en-US" sz="2600" dirty="0">
                <a:latin typeface="Century" panose="02040604050505020304" pitchFamily="18" charset="0"/>
              </a:rPr>
              <a:t>Network layer </a:t>
            </a:r>
            <a:r>
              <a:rPr lang="en-US" sz="2600" b="1" dirty="0">
                <a:latin typeface="Century" panose="02040604050505020304" pitchFamily="18" charset="0"/>
              </a:rPr>
              <a:t>protocols</a:t>
            </a:r>
            <a:r>
              <a:rPr lang="en-US" sz="2600" dirty="0">
                <a:latin typeface="Century" panose="02040604050505020304" pitchFamily="18" charset="0"/>
              </a:rPr>
              <a:t> are </a:t>
            </a:r>
            <a:r>
              <a:rPr lang="en-GB" sz="2600" dirty="0">
                <a:solidFill>
                  <a:srgbClr val="2B4785"/>
                </a:solidFill>
                <a:latin typeface="Century" panose="02040604050505020304" pitchFamily="18" charset="0"/>
              </a:rPr>
              <a:t>IP, IPX, AppleTalk.</a:t>
            </a:r>
            <a:endParaRPr lang="en-US" sz="2600" dirty="0">
              <a:solidFill>
                <a:srgbClr val="2B4785"/>
              </a:solidFill>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 xmlns:p14="http://schemas.microsoft.com/office/powerpoint/2010/main" val="2161881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B7917BEE-6B25-40F7-BF86-5FA157B59B1E}"/>
              </a:ext>
            </a:extLst>
          </p:cNvPr>
          <p:cNvSpPr>
            <a:spLocks noGrp="1"/>
          </p:cNvSpPr>
          <p:nvPr>
            <p:ph idx="1"/>
          </p:nvPr>
        </p:nvSpPr>
        <p:spPr>
          <a:xfrm>
            <a:off x="627797" y="532263"/>
            <a:ext cx="11013743" cy="5644700"/>
          </a:xfrm>
        </p:spPr>
        <p:txBody>
          <a:bodyPr>
            <a:normAutofit/>
          </a:bodyPr>
          <a:lstStyle/>
          <a:p>
            <a:r>
              <a:rPr lang="en-US" dirty="0">
                <a:latin typeface="Century" panose="02040604050505020304" pitchFamily="18" charset="0"/>
              </a:rPr>
              <a:t>The network layer controls the operation of the </a:t>
            </a:r>
            <a:r>
              <a:rPr lang="en-US" b="1" dirty="0">
                <a:solidFill>
                  <a:srgbClr val="2B4785"/>
                </a:solidFill>
                <a:latin typeface="Century" panose="02040604050505020304" pitchFamily="18" charset="0"/>
              </a:rPr>
              <a:t>subnet</a:t>
            </a:r>
            <a:r>
              <a:rPr lang="en-US" dirty="0">
                <a:latin typeface="Century" panose="02040604050505020304" pitchFamily="18" charset="0"/>
              </a:rPr>
              <a:t>. </a:t>
            </a:r>
          </a:p>
          <a:p>
            <a:r>
              <a:rPr lang="en-US" dirty="0">
                <a:latin typeface="Century" panose="02040604050505020304" pitchFamily="18" charset="0"/>
              </a:rPr>
              <a:t>A key design issue: determining how packets are routed from source to destination. </a:t>
            </a:r>
          </a:p>
          <a:p>
            <a:pPr lvl="1"/>
            <a:r>
              <a:rPr lang="en-US" sz="2800" dirty="0">
                <a:latin typeface="Century" panose="02040604050505020304" pitchFamily="18" charset="0"/>
              </a:rPr>
              <a:t>based on </a:t>
            </a:r>
            <a:r>
              <a:rPr lang="en-US" sz="2800" b="1" dirty="0">
                <a:solidFill>
                  <a:srgbClr val="2B4785"/>
                </a:solidFill>
                <a:latin typeface="Century" panose="02040604050505020304" pitchFamily="18" charset="0"/>
              </a:rPr>
              <a:t>static</a:t>
            </a:r>
            <a:r>
              <a:rPr lang="en-US" sz="2800" dirty="0">
                <a:latin typeface="Century" panose="02040604050505020304" pitchFamily="18" charset="0"/>
              </a:rPr>
              <a:t> tables that are ‘‘wired into’’ and rarely changed, or</a:t>
            </a:r>
          </a:p>
          <a:p>
            <a:pPr lvl="1"/>
            <a:r>
              <a:rPr lang="en-US" sz="2800" b="1" dirty="0">
                <a:solidFill>
                  <a:srgbClr val="2B4785"/>
                </a:solidFill>
                <a:latin typeface="Century" panose="02040604050505020304" pitchFamily="18" charset="0"/>
              </a:rPr>
              <a:t>dynamic</a:t>
            </a:r>
            <a:r>
              <a:rPr lang="en-US" sz="2800" dirty="0">
                <a:latin typeface="Century" panose="02040604050505020304" pitchFamily="18" charset="0"/>
              </a:rPr>
              <a:t> tables that are updated automatically to </a:t>
            </a:r>
            <a:r>
              <a:rPr lang="en-US" sz="2800" dirty="0">
                <a:solidFill>
                  <a:srgbClr val="2B4785"/>
                </a:solidFill>
                <a:latin typeface="Century" panose="02040604050505020304" pitchFamily="18" charset="0"/>
              </a:rPr>
              <a:t>avoid failed components, </a:t>
            </a:r>
            <a:r>
              <a:rPr lang="en-US" sz="2800" dirty="0">
                <a:latin typeface="Century" panose="02040604050505020304" pitchFamily="18" charset="0"/>
              </a:rPr>
              <a:t>considering the </a:t>
            </a:r>
            <a:r>
              <a:rPr lang="en-US" sz="2800" dirty="0">
                <a:solidFill>
                  <a:srgbClr val="2B4785"/>
                </a:solidFill>
                <a:latin typeface="Century" panose="02040604050505020304" pitchFamily="18" charset="0"/>
              </a:rPr>
              <a:t>current network load</a:t>
            </a:r>
            <a:r>
              <a:rPr lang="en-US" sz="2800" dirty="0">
                <a:latin typeface="Century" panose="02040604050505020304" pitchFamily="18" charset="0"/>
              </a:rPr>
              <a:t>. </a:t>
            </a:r>
          </a:p>
          <a:p>
            <a:r>
              <a:rPr lang="en-US" b="1" dirty="0">
                <a:solidFill>
                  <a:srgbClr val="2B4785"/>
                </a:solidFill>
                <a:latin typeface="Century" panose="02040604050505020304" pitchFamily="18" charset="0"/>
              </a:rPr>
              <a:t>Handle congestions</a:t>
            </a:r>
            <a:r>
              <a:rPr lang="en-US" dirty="0">
                <a:latin typeface="Century" panose="02040604050505020304" pitchFamily="18" charset="0"/>
              </a:rPr>
              <a:t>, if too many packets are present in the subnet at the same time.</a:t>
            </a:r>
          </a:p>
          <a:p>
            <a:r>
              <a:rPr lang="en-US" dirty="0">
                <a:latin typeface="Century" panose="02040604050505020304" pitchFamily="18" charset="0"/>
              </a:rPr>
              <a:t>The </a:t>
            </a:r>
            <a:r>
              <a:rPr lang="en-US" b="1" dirty="0">
                <a:solidFill>
                  <a:srgbClr val="2B4785"/>
                </a:solidFill>
                <a:latin typeface="Century" panose="02040604050505020304" pitchFamily="18" charset="0"/>
              </a:rPr>
              <a:t>quality of service (QoS) </a:t>
            </a:r>
            <a:r>
              <a:rPr lang="en-US" dirty="0">
                <a:latin typeface="Century" panose="02040604050505020304" pitchFamily="18" charset="0"/>
              </a:rPr>
              <a:t>provided </a:t>
            </a:r>
            <a:r>
              <a:rPr lang="en-US" i="1" dirty="0">
                <a:latin typeface="Century" panose="02040604050505020304" pitchFamily="18" charset="0"/>
              </a:rPr>
              <a:t>(delay, transit time, jitter, etc.) </a:t>
            </a:r>
            <a:r>
              <a:rPr lang="en-US" dirty="0">
                <a:latin typeface="Century" panose="02040604050505020304" pitchFamily="18" charset="0"/>
              </a:rPr>
              <a:t>is also a network layer issue.</a:t>
            </a:r>
            <a:endParaRPr lang="en-IN" dirty="0">
              <a:latin typeface="Century" panose="02040604050505020304" pitchFamily="18" charset="0"/>
            </a:endParaRPr>
          </a:p>
        </p:txBody>
      </p:sp>
      <p:sp>
        <p:nvSpPr>
          <p:cNvPr id="4" name="Slide Number Placeholder 3">
            <a:extLst>
              <a:ext uri="{FF2B5EF4-FFF2-40B4-BE49-F238E27FC236}">
                <a16:creationId xmlns="" xmlns:a16="http://schemas.microsoft.com/office/drawing/2014/main" id="{E6629867-E649-4CEA-9363-2C2A6C06488A}"/>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 xmlns:p14="http://schemas.microsoft.com/office/powerpoint/2010/main" val="809423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7" name="Rectangle 5"/>
          <p:cNvSpPr>
            <a:spLocks noGrp="1" noChangeArrowheads="1"/>
          </p:cNvSpPr>
          <p:nvPr>
            <p:ph type="title"/>
          </p:nvPr>
        </p:nvSpPr>
        <p:spPr>
          <a:xfrm>
            <a:off x="524302" y="107451"/>
            <a:ext cx="10515600" cy="1325563"/>
          </a:xfrm>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4. Transport Layer</a:t>
            </a:r>
          </a:p>
        </p:txBody>
      </p:sp>
      <p:sp>
        <p:nvSpPr>
          <p:cNvPr id="5" name="Content Placeholder 4"/>
          <p:cNvSpPr>
            <a:spLocks noGrp="1"/>
          </p:cNvSpPr>
          <p:nvPr>
            <p:ph idx="1"/>
          </p:nvPr>
        </p:nvSpPr>
        <p:spPr>
          <a:xfrm>
            <a:off x="524303" y="1433013"/>
            <a:ext cx="11171828" cy="5288461"/>
          </a:xfrm>
        </p:spPr>
        <p:txBody>
          <a:bodyPr>
            <a:normAutofit fontScale="92500"/>
          </a:bodyPr>
          <a:lstStyle/>
          <a:p>
            <a:r>
              <a:rPr lang="en-US" altLang="ko-KR" sz="2400" dirty="0">
                <a:solidFill>
                  <a:srgbClr val="000000"/>
                </a:solidFill>
                <a:latin typeface="Century" panose="02040604050505020304" pitchFamily="18" charset="0"/>
                <a:ea typeface="굴림" pitchFamily="50" charset="-127"/>
              </a:rPr>
              <a:t>Responsible for the </a:t>
            </a:r>
            <a:r>
              <a:rPr lang="en-US" altLang="ko-KR" sz="2400" dirty="0">
                <a:solidFill>
                  <a:srgbClr val="B52141"/>
                </a:solidFill>
                <a:latin typeface="Century" panose="02040604050505020304" pitchFamily="18" charset="0"/>
                <a:ea typeface="굴림" pitchFamily="50" charset="-127"/>
              </a:rPr>
              <a:t>delivery of </a:t>
            </a:r>
            <a:r>
              <a:rPr lang="en-US" altLang="ko-KR" sz="2400" b="1" u="sng" dirty="0">
                <a:solidFill>
                  <a:srgbClr val="B52141"/>
                </a:solidFill>
                <a:latin typeface="Century" panose="02040604050505020304" pitchFamily="18" charset="0"/>
                <a:ea typeface="굴림" pitchFamily="50" charset="-127"/>
              </a:rPr>
              <a:t>segments</a:t>
            </a:r>
            <a:r>
              <a:rPr lang="en-US" altLang="ko-KR" sz="2400" dirty="0">
                <a:solidFill>
                  <a:srgbClr val="B52141"/>
                </a:solidFill>
                <a:latin typeface="Century" panose="02040604050505020304" pitchFamily="18" charset="0"/>
                <a:ea typeface="굴림" pitchFamily="50" charset="-127"/>
              </a:rPr>
              <a:t> from </a:t>
            </a:r>
            <a:r>
              <a:rPr lang="en-US" altLang="ko-KR" sz="2400" u="sng" dirty="0">
                <a:solidFill>
                  <a:srgbClr val="B52141"/>
                </a:solidFill>
                <a:latin typeface="Century" panose="02040604050505020304" pitchFamily="18" charset="0"/>
                <a:ea typeface="굴림" pitchFamily="50" charset="-127"/>
              </a:rPr>
              <a:t>source </a:t>
            </a:r>
            <a:r>
              <a:rPr lang="en-US" altLang="ko-KR" sz="2400" b="1" u="sng" dirty="0">
                <a:solidFill>
                  <a:srgbClr val="B52141"/>
                </a:solidFill>
                <a:latin typeface="Century" panose="02040604050505020304" pitchFamily="18" charset="0"/>
                <a:ea typeface="굴림" pitchFamily="50" charset="-127"/>
              </a:rPr>
              <a:t>process</a:t>
            </a:r>
            <a:r>
              <a:rPr lang="en-US" altLang="ko-KR" sz="2400" u="sng" dirty="0">
                <a:solidFill>
                  <a:srgbClr val="B52141"/>
                </a:solidFill>
                <a:latin typeface="Century" panose="02040604050505020304" pitchFamily="18" charset="0"/>
                <a:ea typeface="굴림" pitchFamily="50" charset="-127"/>
              </a:rPr>
              <a:t> to destination </a:t>
            </a:r>
            <a:r>
              <a:rPr lang="en-US" altLang="ko-KR" sz="2400" b="1" u="sng" dirty="0">
                <a:solidFill>
                  <a:srgbClr val="B52141"/>
                </a:solidFill>
                <a:latin typeface="Century" panose="02040604050505020304" pitchFamily="18" charset="0"/>
                <a:ea typeface="굴림" pitchFamily="50" charset="-127"/>
              </a:rPr>
              <a:t>process</a:t>
            </a:r>
            <a:r>
              <a:rPr lang="en-US" altLang="ko-KR" sz="2400" dirty="0">
                <a:solidFill>
                  <a:srgbClr val="B52141"/>
                </a:solidFill>
                <a:latin typeface="Century" panose="02040604050505020304" pitchFamily="18" charset="0"/>
                <a:ea typeface="굴림" pitchFamily="50" charset="-127"/>
              </a:rPr>
              <a:t>.</a:t>
            </a:r>
          </a:p>
          <a:p>
            <a:r>
              <a:rPr lang="en-US" sz="2400" dirty="0">
                <a:latin typeface="Century" panose="02040604050505020304" pitchFamily="18" charset="0"/>
                <a:ea typeface="굴림" pitchFamily="50" charset="-127"/>
              </a:rPr>
              <a:t>Takes care of </a:t>
            </a:r>
            <a:r>
              <a:rPr lang="en-US" sz="2400" b="1" kern="0" dirty="0">
                <a:solidFill>
                  <a:srgbClr val="B52141"/>
                </a:solidFill>
                <a:latin typeface="Century" panose="02040604050505020304" pitchFamily="18" charset="0"/>
                <a:cs typeface="Calibri" pitchFamily="34" charset="0"/>
              </a:rPr>
              <a:t>end to end delivery </a:t>
            </a:r>
            <a:r>
              <a:rPr lang="en-US" sz="2400" dirty="0">
                <a:latin typeface="Century" panose="02040604050505020304" pitchFamily="18" charset="0"/>
                <a:ea typeface="굴림" pitchFamily="50" charset="-127"/>
              </a:rPr>
              <a:t>of the </a:t>
            </a:r>
            <a:r>
              <a:rPr lang="en-US" sz="2400" b="1" kern="0" dirty="0">
                <a:solidFill>
                  <a:srgbClr val="B52141"/>
                </a:solidFill>
                <a:latin typeface="Century" panose="02040604050505020304" pitchFamily="18" charset="0"/>
                <a:cs typeface="Calibri" pitchFamily="34" charset="0"/>
              </a:rPr>
              <a:t>entire message.</a:t>
            </a:r>
          </a:p>
          <a:p>
            <a:endParaRPr lang="en-US" altLang="ko-KR" sz="2400" b="1" dirty="0">
              <a:solidFill>
                <a:srgbClr val="B52141"/>
              </a:solidFill>
              <a:latin typeface="Century" panose="02040604050505020304" pitchFamily="18" charset="0"/>
              <a:ea typeface="굴림" pitchFamily="50" charset="-127"/>
            </a:endParaRPr>
          </a:p>
          <a:p>
            <a:endParaRPr lang="en-US" altLang="ko-KR" sz="2400" b="1" dirty="0">
              <a:solidFill>
                <a:srgbClr val="B52141"/>
              </a:solidFill>
              <a:latin typeface="Century" panose="02040604050505020304" pitchFamily="18" charset="0"/>
              <a:ea typeface="굴림" pitchFamily="50" charset="-127"/>
            </a:endParaRPr>
          </a:p>
          <a:p>
            <a:endParaRPr lang="en-US" altLang="ko-KR" sz="2400" b="1" dirty="0">
              <a:solidFill>
                <a:srgbClr val="B52141"/>
              </a:solidFill>
              <a:latin typeface="Century" panose="02040604050505020304" pitchFamily="18" charset="0"/>
              <a:ea typeface="굴림" pitchFamily="50" charset="-127"/>
            </a:endParaRPr>
          </a:p>
          <a:p>
            <a:endParaRPr lang="en-US" altLang="ko-KR" sz="2400" b="1" dirty="0">
              <a:solidFill>
                <a:srgbClr val="B52141"/>
              </a:solidFill>
              <a:latin typeface="Century" panose="02040604050505020304" pitchFamily="18" charset="0"/>
              <a:ea typeface="굴림" pitchFamily="50" charset="-127"/>
            </a:endParaRPr>
          </a:p>
          <a:p>
            <a:endParaRPr lang="en-US" altLang="ko-KR" sz="2400" b="1" dirty="0">
              <a:solidFill>
                <a:srgbClr val="B52141"/>
              </a:solidFill>
              <a:latin typeface="Century" panose="02040604050505020304" pitchFamily="18" charset="0"/>
              <a:ea typeface="굴림" pitchFamily="50" charset="-127"/>
            </a:endParaRPr>
          </a:p>
          <a:p>
            <a:endParaRPr lang="en-US" altLang="ko-KR" sz="2400" b="1" dirty="0">
              <a:solidFill>
                <a:srgbClr val="B52141"/>
              </a:solidFill>
              <a:latin typeface="Century" panose="02040604050505020304" pitchFamily="18" charset="0"/>
              <a:ea typeface="굴림" pitchFamily="50" charset="-127"/>
            </a:endParaRPr>
          </a:p>
          <a:p>
            <a:r>
              <a:rPr lang="en-US" sz="2200" dirty="0">
                <a:latin typeface="Century" panose="02040604050505020304" pitchFamily="18" charset="0"/>
              </a:rPr>
              <a:t>Manages the flow by segmenting long data streams into smaller data chunks called “segment”.</a:t>
            </a:r>
          </a:p>
          <a:p>
            <a:r>
              <a:rPr lang="en-US" sz="2200" dirty="0">
                <a:latin typeface="Century" panose="02040604050505020304" pitchFamily="18" charset="0"/>
              </a:rPr>
              <a:t>Reassembles chunks into their original sequence at the receiving end.</a:t>
            </a:r>
          </a:p>
          <a:p>
            <a:r>
              <a:rPr lang="en-US" sz="2200" dirty="0">
                <a:latin typeface="Century" panose="02040604050505020304" pitchFamily="18" charset="0"/>
              </a:rPr>
              <a:t>Provides acknowledgements of successful transmissions and requests resends for packets which arrive with errors.</a:t>
            </a:r>
            <a:endParaRPr lang="en-IN" sz="2200" dirty="0">
              <a:latin typeface="Century" panose="020406040505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253960" name="Picture 8"/>
          <p:cNvPicPr>
            <a:picLocks noChangeAspect="1" noChangeArrowheads="1"/>
          </p:cNvPicPr>
          <p:nvPr/>
        </p:nvPicPr>
        <p:blipFill>
          <a:blip r:embed="rId2" cstate="print"/>
          <a:srcRect/>
          <a:stretch>
            <a:fillRect/>
          </a:stretch>
        </p:blipFill>
        <p:spPr bwMode="auto">
          <a:xfrm>
            <a:off x="3228975" y="2286001"/>
            <a:ext cx="5734051" cy="2521737"/>
          </a:xfrm>
          <a:prstGeom prst="rect">
            <a:avLst/>
          </a:prstGeom>
          <a:noFill/>
          <a:ln w="9525">
            <a:noFill/>
            <a:miter lim="800000"/>
            <a:headEnd/>
            <a:tailEnd/>
          </a:ln>
          <a:effectLst/>
        </p:spPr>
      </p:pic>
    </p:spTree>
    <p:extLst>
      <p:ext uri="{BB962C8B-B14F-4D97-AF65-F5344CB8AC3E}">
        <p14:creationId xmlns="" xmlns:p14="http://schemas.microsoft.com/office/powerpoint/2010/main" val="801653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82036F56-A8CB-4C34-99A5-CDC4317519B9}"/>
              </a:ext>
            </a:extLst>
          </p:cNvPr>
          <p:cNvSpPr>
            <a:spLocks noGrp="1"/>
          </p:cNvSpPr>
          <p:nvPr>
            <p:ph idx="1"/>
          </p:nvPr>
        </p:nvSpPr>
        <p:spPr>
          <a:xfrm>
            <a:off x="510654" y="421872"/>
            <a:ext cx="10624782" cy="4354844"/>
          </a:xfrm>
        </p:spPr>
        <p:txBody>
          <a:bodyPr>
            <a:normAutofit/>
          </a:bodyPr>
          <a:lstStyle/>
          <a:p>
            <a:r>
              <a:rPr lang="en-US" sz="2600" dirty="0">
                <a:latin typeface="Century" panose="02040604050505020304" pitchFamily="18" charset="0"/>
              </a:rPr>
              <a:t>TL is a </a:t>
            </a:r>
            <a:r>
              <a:rPr lang="en-US" sz="2600" dirty="0">
                <a:solidFill>
                  <a:srgbClr val="2B4785"/>
                </a:solidFill>
                <a:latin typeface="Century" panose="02040604050505020304" pitchFamily="18" charset="0"/>
              </a:rPr>
              <a:t>true end-to-end layer</a:t>
            </a:r>
            <a:r>
              <a:rPr lang="en-US" sz="2600" dirty="0">
                <a:latin typeface="Century" panose="02040604050505020304" pitchFamily="18" charset="0"/>
              </a:rPr>
              <a:t>, from the source to the destination. 	</a:t>
            </a:r>
          </a:p>
          <a:p>
            <a:pPr lvl="1"/>
            <a:r>
              <a:rPr lang="en-US" sz="2600" dirty="0" err="1">
                <a:latin typeface="Century" panose="02040604050505020304" pitchFamily="18" charset="0"/>
              </a:rPr>
              <a:t>ie</a:t>
            </a:r>
            <a:r>
              <a:rPr lang="en-US" sz="2600" dirty="0">
                <a:latin typeface="Century" panose="02040604050505020304" pitchFamily="18" charset="0"/>
              </a:rPr>
              <a:t>, a program on the source machine carries on a conversation with a similar program on the destination machine,</a:t>
            </a:r>
          </a:p>
          <a:p>
            <a:pPr lvl="1"/>
            <a:r>
              <a:rPr lang="en-US" sz="2600" dirty="0">
                <a:latin typeface="Century" panose="02040604050505020304" pitchFamily="18" charset="0"/>
              </a:rPr>
              <a:t>using the message headers and control messages.</a:t>
            </a:r>
          </a:p>
          <a:p>
            <a:r>
              <a:rPr lang="en-US" sz="2600" i="1" dirty="0">
                <a:latin typeface="Century" panose="02040604050505020304" pitchFamily="18" charset="0"/>
              </a:rPr>
              <a:t>But, in the lower layers, the protocols are between each machine and its immediate neighbors (routers), and not between the ultimate source and destination machines.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5" name="Picture 4">
            <a:extLst>
              <a:ext uri="{FF2B5EF4-FFF2-40B4-BE49-F238E27FC236}">
                <a16:creationId xmlns="" xmlns:a16="http://schemas.microsoft.com/office/drawing/2014/main" id="{243B67D3-5C3B-4EDA-BB9B-BE1017997637}"/>
              </a:ext>
            </a:extLst>
          </p:cNvPr>
          <p:cNvPicPr>
            <a:picLocks noChangeAspect="1" noChangeArrowheads="1"/>
          </p:cNvPicPr>
          <p:nvPr/>
        </p:nvPicPr>
        <p:blipFill>
          <a:blip r:embed="rId3" cstate="print"/>
          <a:stretch>
            <a:fillRect/>
          </a:stretch>
        </p:blipFill>
        <p:spPr bwMode="auto">
          <a:xfrm>
            <a:off x="2800350" y="3886200"/>
            <a:ext cx="7027339" cy="2438400"/>
          </a:xfrm>
          <a:prstGeom prst="rect">
            <a:avLst/>
          </a:prstGeom>
          <a:noFill/>
          <a:ln w="9525">
            <a:noFill/>
            <a:miter lim="800000"/>
            <a:headEnd/>
            <a:tailEnd/>
          </a:ln>
          <a:effectLst/>
        </p:spPr>
      </p:pic>
    </p:spTree>
    <p:extLst>
      <p:ext uri="{BB962C8B-B14F-4D97-AF65-F5344CB8AC3E}">
        <p14:creationId xmlns="" xmlns:p14="http://schemas.microsoft.com/office/powerpoint/2010/main" val="294837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82036F56-A8CB-4C34-99A5-CDC4317519B9}"/>
              </a:ext>
            </a:extLst>
          </p:cNvPr>
          <p:cNvSpPr>
            <a:spLocks noGrp="1"/>
          </p:cNvSpPr>
          <p:nvPr>
            <p:ph idx="1"/>
          </p:nvPr>
        </p:nvSpPr>
        <p:spPr>
          <a:xfrm>
            <a:off x="838200" y="573206"/>
            <a:ext cx="11185478" cy="5603757"/>
          </a:xfrm>
        </p:spPr>
        <p:txBody>
          <a:bodyPr>
            <a:noAutofit/>
          </a:bodyPr>
          <a:lstStyle/>
          <a:p>
            <a:r>
              <a:rPr lang="en-US" sz="2600" dirty="0">
                <a:latin typeface="Century" panose="02040604050505020304" pitchFamily="18" charset="0"/>
              </a:rPr>
              <a:t>Basic function:</a:t>
            </a:r>
          </a:p>
          <a:p>
            <a:pPr lvl="1"/>
            <a:r>
              <a:rPr lang="en-US" sz="2600" dirty="0">
                <a:latin typeface="Century" panose="02040604050505020304" pitchFamily="18" charset="0"/>
              </a:rPr>
              <a:t>To accept data from the upper layer, split it up into smaller units if needed,</a:t>
            </a:r>
          </a:p>
          <a:p>
            <a:pPr lvl="1"/>
            <a:r>
              <a:rPr lang="en-US" sz="2600" dirty="0">
                <a:latin typeface="Century" panose="02040604050505020304" pitchFamily="18" charset="0"/>
              </a:rPr>
              <a:t>pass these to the network layer, and ensure that the pieces all arrive correctly at the other end. </a:t>
            </a:r>
          </a:p>
          <a:p>
            <a:r>
              <a:rPr lang="en-US" sz="2600" dirty="0">
                <a:latin typeface="Century" panose="02040604050505020304" pitchFamily="18" charset="0"/>
              </a:rPr>
              <a:t>All this must be done efficiently and in a way that isolates the upper layers from the inevitable changes in the hardware.</a:t>
            </a:r>
          </a:p>
          <a:p>
            <a:r>
              <a:rPr lang="en-US" sz="2600" dirty="0">
                <a:latin typeface="Century" panose="02040604050505020304" pitchFamily="18" charset="0"/>
              </a:rPr>
              <a:t>Also determines what </a:t>
            </a:r>
            <a:r>
              <a:rPr lang="en-US" sz="2600" b="1" dirty="0">
                <a:solidFill>
                  <a:srgbClr val="2B4785"/>
                </a:solidFill>
                <a:latin typeface="Century" panose="02040604050505020304" pitchFamily="18" charset="0"/>
              </a:rPr>
              <a:t>type of service (</a:t>
            </a:r>
            <a:r>
              <a:rPr lang="en-US" sz="2600" b="1" dirty="0" err="1">
                <a:solidFill>
                  <a:srgbClr val="2B4785"/>
                </a:solidFill>
                <a:latin typeface="Century" panose="02040604050505020304" pitchFamily="18" charset="0"/>
              </a:rPr>
              <a:t>ToS</a:t>
            </a:r>
            <a:r>
              <a:rPr lang="en-US" sz="2600" b="1" dirty="0">
                <a:solidFill>
                  <a:srgbClr val="2B4785"/>
                </a:solidFill>
                <a:latin typeface="Century" panose="02040604050505020304" pitchFamily="18" charset="0"/>
              </a:rPr>
              <a:t>) </a:t>
            </a:r>
            <a:r>
              <a:rPr lang="en-US" sz="2600" dirty="0">
                <a:latin typeface="Century" panose="02040604050505020304" pitchFamily="18" charset="0"/>
              </a:rPr>
              <a:t>to provide</a:t>
            </a:r>
          </a:p>
          <a:p>
            <a:pPr lvl="1"/>
            <a:r>
              <a:rPr lang="en-US" sz="2600" dirty="0">
                <a:latin typeface="Century" panose="02040604050505020304" pitchFamily="18" charset="0"/>
              </a:rPr>
              <a:t>The most popular type is an </a:t>
            </a:r>
            <a:r>
              <a:rPr lang="en-US" sz="2600" dirty="0">
                <a:solidFill>
                  <a:srgbClr val="2B4785"/>
                </a:solidFill>
                <a:latin typeface="Century" panose="02040604050505020304" pitchFamily="18" charset="0"/>
              </a:rPr>
              <a:t>error free point-to-point </a:t>
            </a:r>
            <a:r>
              <a:rPr lang="en-US" sz="2600" b="1" dirty="0">
                <a:solidFill>
                  <a:srgbClr val="2B4785"/>
                </a:solidFill>
                <a:latin typeface="Century" panose="02040604050505020304" pitchFamily="18" charset="0"/>
              </a:rPr>
              <a:t>channel</a:t>
            </a:r>
            <a:r>
              <a:rPr lang="en-US" sz="2600" dirty="0">
                <a:solidFill>
                  <a:srgbClr val="2B4785"/>
                </a:solidFill>
                <a:latin typeface="Century" panose="02040604050505020304" pitchFamily="18" charset="0"/>
              </a:rPr>
              <a:t> </a:t>
            </a:r>
            <a:r>
              <a:rPr lang="en-US" sz="2600" dirty="0">
                <a:latin typeface="Century" panose="02040604050505020304" pitchFamily="18" charset="0"/>
              </a:rPr>
              <a:t>that delivers messages or bytes in the order in which they were sent. </a:t>
            </a:r>
          </a:p>
          <a:p>
            <a:pPr lvl="1"/>
            <a:r>
              <a:rPr lang="en-US" sz="2600" dirty="0">
                <a:latin typeface="Century" panose="02040604050505020304" pitchFamily="18" charset="0"/>
              </a:rPr>
              <a:t>Other kind of service is the transporting of </a:t>
            </a:r>
            <a:r>
              <a:rPr lang="en-US" sz="2600" dirty="0">
                <a:solidFill>
                  <a:srgbClr val="2B4785"/>
                </a:solidFill>
                <a:latin typeface="Century" panose="02040604050505020304" pitchFamily="18" charset="0"/>
              </a:rPr>
              <a:t>isolated messages with no guarantee</a:t>
            </a:r>
            <a:r>
              <a:rPr lang="en-US" sz="2600" dirty="0">
                <a:latin typeface="Century" panose="02040604050505020304" pitchFamily="18" charset="0"/>
              </a:rPr>
              <a:t> about the order of delivery, and the </a:t>
            </a:r>
            <a:r>
              <a:rPr lang="en-US" sz="2600" dirty="0">
                <a:solidFill>
                  <a:srgbClr val="2B4785"/>
                </a:solidFill>
                <a:latin typeface="Century" panose="02040604050505020304" pitchFamily="18" charset="0"/>
              </a:rPr>
              <a:t>broadcasting</a:t>
            </a:r>
            <a:r>
              <a:rPr lang="en-US" sz="2600" dirty="0">
                <a:latin typeface="Century" panose="02040604050505020304" pitchFamily="18" charset="0"/>
              </a:rPr>
              <a:t> of messages to multiple destinations. </a:t>
            </a:r>
          </a:p>
          <a:p>
            <a:r>
              <a:rPr lang="en-US" sz="2600" dirty="0">
                <a:latin typeface="Century" panose="02040604050505020304" pitchFamily="18" charset="0"/>
              </a:rPr>
              <a:t>The </a:t>
            </a:r>
            <a:r>
              <a:rPr lang="en-US" sz="2600" dirty="0" err="1">
                <a:latin typeface="Century" panose="02040604050505020304" pitchFamily="18" charset="0"/>
              </a:rPr>
              <a:t>ToS</a:t>
            </a:r>
            <a:r>
              <a:rPr lang="en-US" sz="2600" dirty="0">
                <a:latin typeface="Century" panose="02040604050505020304" pitchFamily="18" charset="0"/>
              </a:rPr>
              <a:t> is determined when the connection is established.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dirty="0"/>
          </a:p>
        </p:txBody>
      </p:sp>
    </p:spTree>
    <p:extLst>
      <p:ext uri="{BB962C8B-B14F-4D97-AF65-F5344CB8AC3E}">
        <p14:creationId xmlns="" xmlns:p14="http://schemas.microsoft.com/office/powerpoint/2010/main" val="1547258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838200" y="545910"/>
            <a:ext cx="10515600" cy="5631053"/>
          </a:xfrm>
        </p:spPr>
        <p:txBody>
          <a:bodyPr>
            <a:noAutofit/>
          </a:bodyPr>
          <a:lstStyle/>
          <a:p>
            <a:r>
              <a:rPr lang="en-US" sz="2600" dirty="0">
                <a:latin typeface="Century" panose="02040604050505020304" pitchFamily="18" charset="0"/>
              </a:rPr>
              <a:t>The major duties performed by the transport layer are:</a:t>
            </a:r>
          </a:p>
          <a:p>
            <a:pPr lvl="1"/>
            <a:r>
              <a:rPr lang="en-US" sz="2600" dirty="0">
                <a:latin typeface="Century" panose="02040604050505020304" pitchFamily="18" charset="0"/>
              </a:rPr>
              <a:t>Service Port addressing (</a:t>
            </a:r>
            <a:r>
              <a:rPr lang="en-US" sz="2600" b="1" dirty="0">
                <a:solidFill>
                  <a:srgbClr val="2B4785"/>
                </a:solidFill>
                <a:latin typeface="Century" panose="02040604050505020304" pitchFamily="18" charset="0"/>
              </a:rPr>
              <a:t>socket</a:t>
            </a:r>
            <a:r>
              <a:rPr lang="en-US" sz="2600" dirty="0">
                <a:latin typeface="Century" panose="02040604050505020304" pitchFamily="18" charset="0"/>
              </a:rPr>
              <a:t> </a:t>
            </a:r>
            <a:r>
              <a:rPr lang="en-US" sz="2600" dirty="0">
                <a:solidFill>
                  <a:srgbClr val="2B4785"/>
                </a:solidFill>
                <a:latin typeface="Century" panose="02040604050505020304" pitchFamily="18" charset="0"/>
              </a:rPr>
              <a:t>address</a:t>
            </a:r>
            <a:r>
              <a:rPr lang="en-US" sz="2600" dirty="0">
                <a:latin typeface="Century" panose="02040604050505020304" pitchFamily="18" charset="0"/>
              </a:rPr>
              <a:t>)</a:t>
            </a:r>
          </a:p>
          <a:p>
            <a:pPr lvl="2"/>
            <a:r>
              <a:rPr lang="en-US" sz="2600" dirty="0">
                <a:latin typeface="Century" panose="02040604050505020304" pitchFamily="18" charset="0"/>
              </a:rPr>
              <a:t>IP + port no. </a:t>
            </a:r>
            <a:r>
              <a:rPr lang="en-US" sz="2600" i="1" dirty="0">
                <a:latin typeface="Century" panose="02040604050505020304" pitchFamily="18" charset="0"/>
              </a:rPr>
              <a:t>(identifies machine and the communicating process in it)</a:t>
            </a:r>
          </a:p>
          <a:p>
            <a:pPr lvl="2"/>
            <a:r>
              <a:rPr lang="en-US" sz="2600" i="1" dirty="0">
                <a:latin typeface="Century" panose="02040604050505020304" pitchFamily="18" charset="0"/>
              </a:rPr>
              <a:t>NL gets each packet to the correct computer, the transport layer get the entire message to the correct process on that computer.</a:t>
            </a:r>
          </a:p>
          <a:p>
            <a:pPr lvl="1"/>
            <a:r>
              <a:rPr lang="en-US" sz="2600" dirty="0">
                <a:latin typeface="Century" panose="02040604050505020304" pitchFamily="18" charset="0"/>
              </a:rPr>
              <a:t>Segmentation and reassembly – segments with sequence no. for reassembly</a:t>
            </a:r>
          </a:p>
          <a:p>
            <a:pPr lvl="1"/>
            <a:r>
              <a:rPr lang="en-US" sz="2600" dirty="0">
                <a:latin typeface="Century" panose="02040604050505020304" pitchFamily="18" charset="0"/>
              </a:rPr>
              <a:t>Connection Control - connectionless or connection oriented</a:t>
            </a:r>
          </a:p>
          <a:p>
            <a:pPr lvl="1"/>
            <a:r>
              <a:rPr lang="en-US" sz="2600" dirty="0">
                <a:latin typeface="Century" panose="02040604050505020304" pitchFamily="18" charset="0"/>
              </a:rPr>
              <a:t>Flow control  - end to end</a:t>
            </a:r>
          </a:p>
          <a:p>
            <a:pPr lvl="1"/>
            <a:r>
              <a:rPr lang="en-US" sz="2600" dirty="0">
                <a:latin typeface="Century" panose="02040604050505020304" pitchFamily="18" charset="0"/>
              </a:rPr>
              <a:t>Error control - end to end</a:t>
            </a:r>
          </a:p>
          <a:p>
            <a:r>
              <a:rPr lang="en-US" sz="2600" dirty="0">
                <a:latin typeface="Century" panose="02040604050505020304" pitchFamily="18" charset="0"/>
              </a:rPr>
              <a:t>Transport layer </a:t>
            </a:r>
            <a:r>
              <a:rPr lang="en-US" sz="2600" b="1" dirty="0">
                <a:latin typeface="Century" panose="02040604050505020304" pitchFamily="18" charset="0"/>
              </a:rPr>
              <a:t>protocols</a:t>
            </a:r>
            <a:r>
              <a:rPr lang="en-US" sz="2600" dirty="0">
                <a:latin typeface="Century" panose="02040604050505020304" pitchFamily="18" charset="0"/>
              </a:rPr>
              <a:t> include </a:t>
            </a:r>
            <a:r>
              <a:rPr lang="en-US" sz="2600" dirty="0">
                <a:solidFill>
                  <a:srgbClr val="2B4785"/>
                </a:solidFill>
                <a:latin typeface="Century" panose="02040604050505020304" pitchFamily="18" charset="0"/>
              </a:rPr>
              <a:t>TCP (Transmission Control Protocol) and UDP (User Datagram Protocol).</a:t>
            </a:r>
            <a:endParaRPr lang="en-US" sz="2600" b="1" dirty="0">
              <a:solidFill>
                <a:srgbClr val="2B4785"/>
              </a:solidFill>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 xmlns:p14="http://schemas.microsoft.com/office/powerpoint/2010/main" val="1436490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483358" y="0"/>
            <a:ext cx="10515600" cy="1325563"/>
          </a:xfrm>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5. Session Layer</a:t>
            </a:r>
          </a:p>
        </p:txBody>
      </p:sp>
      <p:sp>
        <p:nvSpPr>
          <p:cNvPr id="281603" name="Rectangle 3"/>
          <p:cNvSpPr>
            <a:spLocks noGrp="1" noChangeArrowheads="1"/>
          </p:cNvSpPr>
          <p:nvPr>
            <p:ph idx="1"/>
          </p:nvPr>
        </p:nvSpPr>
        <p:spPr>
          <a:xfrm>
            <a:off x="838200" y="1105469"/>
            <a:ext cx="10515600" cy="5616006"/>
          </a:xfrm>
        </p:spPr>
        <p:txBody>
          <a:bodyPr>
            <a:normAutofit/>
          </a:bodyPr>
          <a:lstStyle/>
          <a:p>
            <a:r>
              <a:rPr kumimoji="0" lang="en-US" altLang="ko-KR" dirty="0">
                <a:solidFill>
                  <a:srgbClr val="B52141"/>
                </a:solidFill>
                <a:latin typeface="Century" panose="02040604050505020304" pitchFamily="18" charset="0"/>
              </a:rPr>
              <a:t>Responsible for </a:t>
            </a:r>
            <a:r>
              <a:rPr kumimoji="0" lang="en-US" altLang="ko-KR" b="1" dirty="0">
                <a:solidFill>
                  <a:srgbClr val="B52141"/>
                </a:solidFill>
                <a:latin typeface="Century" panose="02040604050505020304" pitchFamily="18" charset="0"/>
              </a:rPr>
              <a:t>dialog control </a:t>
            </a:r>
            <a:r>
              <a:rPr kumimoji="0" lang="en-US" altLang="ko-KR" dirty="0">
                <a:solidFill>
                  <a:srgbClr val="B52141"/>
                </a:solidFill>
                <a:latin typeface="Century" panose="02040604050505020304" pitchFamily="18" charset="0"/>
              </a:rPr>
              <a:t>and </a:t>
            </a:r>
            <a:r>
              <a:rPr kumimoji="0" lang="en-US" altLang="ko-KR" b="1" dirty="0">
                <a:solidFill>
                  <a:srgbClr val="B52141"/>
                </a:solidFill>
                <a:latin typeface="Century" panose="02040604050505020304" pitchFamily="18" charset="0"/>
              </a:rPr>
              <a:t>synchronization</a:t>
            </a:r>
            <a:r>
              <a:rPr kumimoji="0" lang="en-US" altLang="ko-KR" dirty="0">
                <a:solidFill>
                  <a:srgbClr val="B52141"/>
                </a:solidFill>
                <a:latin typeface="Century" panose="02040604050505020304" pitchFamily="18" charset="0"/>
              </a:rPr>
              <a:t>.</a:t>
            </a:r>
          </a:p>
          <a:p>
            <a:endParaRPr lang="en-US" altLang="ko-KR" dirty="0">
              <a:solidFill>
                <a:srgbClr val="B52141"/>
              </a:solidFill>
              <a:latin typeface="Century" panose="02040604050505020304" pitchFamily="18" charset="0"/>
            </a:endParaRPr>
          </a:p>
          <a:p>
            <a:endParaRPr kumimoji="0" lang="en-US" altLang="ko-KR" dirty="0">
              <a:solidFill>
                <a:srgbClr val="B52141"/>
              </a:solidFill>
              <a:latin typeface="Century" panose="02040604050505020304" pitchFamily="18" charset="0"/>
            </a:endParaRPr>
          </a:p>
          <a:p>
            <a:endParaRPr lang="en-US" altLang="ko-KR" dirty="0">
              <a:solidFill>
                <a:srgbClr val="B52141"/>
              </a:solidFill>
              <a:latin typeface="Century" panose="02040604050505020304" pitchFamily="18" charset="0"/>
            </a:endParaRPr>
          </a:p>
          <a:p>
            <a:endParaRPr kumimoji="0" lang="en-US" altLang="ko-KR" dirty="0">
              <a:solidFill>
                <a:srgbClr val="B52141"/>
              </a:solidFill>
              <a:latin typeface="Century" panose="02040604050505020304" pitchFamily="18" charset="0"/>
            </a:endParaRPr>
          </a:p>
          <a:p>
            <a:endParaRPr lang="en-US" altLang="ko-KR" dirty="0">
              <a:solidFill>
                <a:srgbClr val="B52141"/>
              </a:solidFill>
              <a:latin typeface="Century" panose="02040604050505020304" pitchFamily="18" charset="0"/>
            </a:endParaRPr>
          </a:p>
          <a:p>
            <a:endParaRPr lang="en-US" altLang="ko-KR" sz="3200" dirty="0">
              <a:solidFill>
                <a:srgbClr val="B52141"/>
              </a:solidFill>
              <a:latin typeface="Century" panose="02040604050505020304" pitchFamily="18" charset="0"/>
            </a:endParaRPr>
          </a:p>
          <a:p>
            <a:pPr lvl="1"/>
            <a:r>
              <a:rPr lang="en-US" dirty="0">
                <a:latin typeface="Century" panose="02040604050505020304" pitchFamily="18" charset="0"/>
              </a:rPr>
              <a:t>Initiating, maintaining and terminating sessions</a:t>
            </a:r>
          </a:p>
          <a:p>
            <a:pPr lvl="1"/>
            <a:r>
              <a:rPr lang="en-US" dirty="0">
                <a:latin typeface="Century" panose="02040604050505020304" pitchFamily="18" charset="0"/>
              </a:rPr>
              <a:t>Security and access control to session information </a:t>
            </a:r>
            <a:r>
              <a:rPr lang="en-US" i="1" dirty="0">
                <a:latin typeface="Century" panose="02040604050505020304" pitchFamily="18" charset="0"/>
              </a:rPr>
              <a:t>(via session participant identification)</a:t>
            </a:r>
            <a:endParaRPr lang="en-US" altLang="ko-KR" i="1" dirty="0">
              <a:solidFill>
                <a:srgbClr val="B52141"/>
              </a:solidFill>
              <a:latin typeface="Century" panose="02040604050505020304" pitchFamily="18" charset="0"/>
            </a:endParaRPr>
          </a:p>
          <a:p>
            <a:r>
              <a:rPr lang="en-US" sz="2400" dirty="0">
                <a:latin typeface="Century" panose="02040604050505020304" pitchFamily="18" charset="0"/>
              </a:rPr>
              <a:t>Session layer </a:t>
            </a:r>
            <a:r>
              <a:rPr lang="en-US" sz="2400" b="1" dirty="0">
                <a:latin typeface="Century" panose="02040604050505020304" pitchFamily="18" charset="0"/>
              </a:rPr>
              <a:t>protocols</a:t>
            </a:r>
            <a:r>
              <a:rPr lang="en-US" sz="2400" dirty="0">
                <a:latin typeface="Century" panose="02040604050505020304" pitchFamily="18" charset="0"/>
              </a:rPr>
              <a:t> are </a:t>
            </a:r>
            <a:r>
              <a:rPr lang="en-US" sz="2400" dirty="0">
                <a:solidFill>
                  <a:srgbClr val="2B4785"/>
                </a:solidFill>
                <a:latin typeface="Century" panose="02040604050505020304" pitchFamily="18" charset="0"/>
              </a:rPr>
              <a:t>SQL, ASP (AppleTalk Session Protocol), Remote Procedure Call (RPC), X Window System.</a:t>
            </a:r>
            <a:endParaRPr lang="en-US" altLang="ko-KR" sz="24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a:p>
            <a:pPr lvl="1">
              <a:buFont typeface="Wingdings" pitchFamily="2" charset="2"/>
              <a:buNone/>
            </a:pPr>
            <a:endParaRPr lang="en-US" altLang="ko-KR" sz="3200" dirty="0">
              <a:solidFill>
                <a:srgbClr val="B52141"/>
              </a:solidFill>
              <a:latin typeface="Century" panose="020406040505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pic>
        <p:nvPicPr>
          <p:cNvPr id="281605" name="Picture 5"/>
          <p:cNvPicPr>
            <a:picLocks noChangeAspect="1" noChangeArrowheads="1"/>
          </p:cNvPicPr>
          <p:nvPr/>
        </p:nvPicPr>
        <p:blipFill>
          <a:blip r:embed="rId2" cstate="print"/>
          <a:srcRect/>
          <a:stretch>
            <a:fillRect/>
          </a:stretch>
        </p:blipFill>
        <p:spPr bwMode="auto">
          <a:xfrm>
            <a:off x="5243200" y="1682086"/>
            <a:ext cx="5755758" cy="2882404"/>
          </a:xfrm>
          <a:prstGeom prst="rect">
            <a:avLst/>
          </a:prstGeom>
          <a:noFill/>
          <a:ln w="9525">
            <a:noFill/>
            <a:miter lim="800000"/>
            <a:headEnd/>
            <a:tailEnd/>
          </a:ln>
          <a:effectLst/>
        </p:spPr>
      </p:pic>
    </p:spTree>
    <p:extLst>
      <p:ext uri="{BB962C8B-B14F-4D97-AF65-F5344CB8AC3E}">
        <p14:creationId xmlns="" xmlns:p14="http://schemas.microsoft.com/office/powerpoint/2010/main" val="2454283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73F2F5C-1FF6-407D-AED4-5189BD06E7AC}"/>
              </a:ext>
            </a:extLst>
          </p:cNvPr>
          <p:cNvSpPr>
            <a:spLocks noGrp="1"/>
          </p:cNvSpPr>
          <p:nvPr>
            <p:ph idx="1"/>
          </p:nvPr>
        </p:nvSpPr>
        <p:spPr>
          <a:xfrm>
            <a:off x="838200" y="504967"/>
            <a:ext cx="10515600" cy="5671996"/>
          </a:xfrm>
        </p:spPr>
        <p:txBody>
          <a:bodyPr>
            <a:normAutofit/>
          </a:bodyPr>
          <a:lstStyle/>
          <a:p>
            <a:pPr algn="l"/>
            <a:r>
              <a:rPr lang="en-US" sz="2600" dirty="0">
                <a:latin typeface="Century" panose="02040604050505020304" pitchFamily="18" charset="0"/>
              </a:rPr>
              <a:t>The session layer allows </a:t>
            </a:r>
            <a:r>
              <a:rPr lang="en-US" sz="2600" dirty="0">
                <a:solidFill>
                  <a:srgbClr val="2B4785"/>
                </a:solidFill>
                <a:latin typeface="Century" panose="02040604050505020304" pitchFamily="18" charset="0"/>
              </a:rPr>
              <a:t>users on different machines to establish </a:t>
            </a:r>
            <a:r>
              <a:rPr lang="en-US" sz="2600" b="1" dirty="0">
                <a:solidFill>
                  <a:srgbClr val="2B4785"/>
                </a:solidFill>
                <a:latin typeface="Century" panose="02040604050505020304" pitchFamily="18" charset="0"/>
              </a:rPr>
              <a:t>sessions </a:t>
            </a:r>
            <a:r>
              <a:rPr lang="en-US" sz="2600" dirty="0">
                <a:solidFill>
                  <a:srgbClr val="2B4785"/>
                </a:solidFill>
                <a:latin typeface="Century" panose="02040604050505020304" pitchFamily="18" charset="0"/>
              </a:rPr>
              <a:t>between them</a:t>
            </a:r>
            <a:r>
              <a:rPr lang="en-US" sz="2600" dirty="0">
                <a:latin typeface="Century" panose="02040604050505020304" pitchFamily="18" charset="0"/>
              </a:rPr>
              <a:t>. </a:t>
            </a:r>
          </a:p>
          <a:p>
            <a:r>
              <a:rPr lang="en-US" sz="2600" dirty="0">
                <a:latin typeface="Century" panose="02040604050505020304" pitchFamily="18" charset="0"/>
              </a:rPr>
              <a:t>Defines how to establish, maintaining and terminates session between two communication hosts.</a:t>
            </a:r>
          </a:p>
          <a:p>
            <a:r>
              <a:rPr lang="en-US" sz="2600" dirty="0">
                <a:latin typeface="Century" panose="02040604050505020304" pitchFamily="18" charset="0"/>
              </a:rPr>
              <a:t>Applications on either end of the session are able to exchange data for the duration of the session</a:t>
            </a:r>
          </a:p>
          <a:p>
            <a:pPr algn="l"/>
            <a:r>
              <a:rPr lang="en-US" sz="2600" dirty="0">
                <a:latin typeface="Century" panose="02040604050505020304" pitchFamily="18" charset="0"/>
              </a:rPr>
              <a:t>Sessions offer various services, including </a:t>
            </a:r>
          </a:p>
          <a:p>
            <a:pPr lvl="1"/>
            <a:r>
              <a:rPr lang="en-US" sz="2600" b="1" dirty="0">
                <a:solidFill>
                  <a:srgbClr val="2B4785"/>
                </a:solidFill>
                <a:latin typeface="Century" panose="02040604050505020304" pitchFamily="18" charset="0"/>
              </a:rPr>
              <a:t>dialog control </a:t>
            </a:r>
            <a:r>
              <a:rPr lang="en-US" sz="2600" dirty="0">
                <a:latin typeface="Century" panose="02040604050505020304" pitchFamily="18" charset="0"/>
              </a:rPr>
              <a:t>(keeping track of whose turn it is to transmit), </a:t>
            </a:r>
          </a:p>
          <a:p>
            <a:pPr lvl="1"/>
            <a:r>
              <a:rPr lang="en-US" sz="2600" b="1" dirty="0">
                <a:solidFill>
                  <a:srgbClr val="2B4785"/>
                </a:solidFill>
                <a:latin typeface="Century" panose="02040604050505020304" pitchFamily="18" charset="0"/>
              </a:rPr>
              <a:t>token management </a:t>
            </a:r>
            <a:r>
              <a:rPr lang="en-US" sz="2600" dirty="0">
                <a:latin typeface="Century" panose="02040604050505020304" pitchFamily="18" charset="0"/>
              </a:rPr>
              <a:t>(preventing two parties from attempting the same critical operation simultaneously), and </a:t>
            </a:r>
          </a:p>
          <a:p>
            <a:pPr lvl="1"/>
            <a:r>
              <a:rPr lang="en-US" sz="2600" b="1" dirty="0">
                <a:solidFill>
                  <a:srgbClr val="2B4785"/>
                </a:solidFill>
                <a:latin typeface="Century" panose="02040604050505020304" pitchFamily="18" charset="0"/>
              </a:rPr>
              <a:t>synchronization</a:t>
            </a:r>
            <a:r>
              <a:rPr lang="en-US" sz="2600" b="1" dirty="0">
                <a:latin typeface="Century" panose="02040604050505020304" pitchFamily="18" charset="0"/>
              </a:rPr>
              <a:t> </a:t>
            </a:r>
            <a:r>
              <a:rPr lang="en-US" sz="2600" dirty="0">
                <a:latin typeface="Century" panose="02040604050505020304" pitchFamily="18" charset="0"/>
              </a:rPr>
              <a:t>(checkpointing long transmissions to allow them to pick up from where they left off in the event of a crash and subsequent recovery).</a:t>
            </a:r>
            <a:endParaRPr lang="en-IN" sz="2600" dirty="0">
              <a:latin typeface="Century" panose="02040604050505020304" pitchFamily="18" charset="0"/>
            </a:endParaRPr>
          </a:p>
        </p:txBody>
      </p:sp>
      <p:sp>
        <p:nvSpPr>
          <p:cNvPr id="4" name="Slide Number Placeholder 3">
            <a:extLst>
              <a:ext uri="{FF2B5EF4-FFF2-40B4-BE49-F238E27FC236}">
                <a16:creationId xmlns="" xmlns:a16="http://schemas.microsoft.com/office/drawing/2014/main" id="{86D38B84-81AD-453F-A638-C90DF26A52DB}"/>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 xmlns:p14="http://schemas.microsoft.com/office/powerpoint/2010/main" val="113155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6. Presentation Layer</a:t>
            </a:r>
          </a:p>
        </p:txBody>
      </p:sp>
      <p:sp>
        <p:nvSpPr>
          <p:cNvPr id="244739" name="Rectangle 3"/>
          <p:cNvSpPr>
            <a:spLocks noGrp="1" noChangeArrowheads="1"/>
          </p:cNvSpPr>
          <p:nvPr>
            <p:ph idx="1"/>
          </p:nvPr>
        </p:nvSpPr>
        <p:spPr>
          <a:xfrm>
            <a:off x="838200" y="1487606"/>
            <a:ext cx="10515600" cy="4689357"/>
          </a:xfrm>
        </p:spPr>
        <p:txBody>
          <a:bodyPr>
            <a:normAutofit/>
          </a:bodyPr>
          <a:lstStyle/>
          <a:p>
            <a:r>
              <a:rPr lang="en-US" sz="2600" dirty="0">
                <a:latin typeface="Century" panose="02040604050505020304" pitchFamily="18" charset="0"/>
              </a:rPr>
              <a:t>Unlike the lower layers, which are mostly concerned with moving bits around, the </a:t>
            </a:r>
            <a:r>
              <a:rPr lang="en-US" sz="2600" b="1" dirty="0">
                <a:latin typeface="Century" panose="02040604050505020304" pitchFamily="18" charset="0"/>
              </a:rPr>
              <a:t>presentation layer </a:t>
            </a:r>
            <a:r>
              <a:rPr lang="en-US" sz="2600" dirty="0">
                <a:latin typeface="Century" panose="02040604050505020304" pitchFamily="18" charset="0"/>
              </a:rPr>
              <a:t>is concerned with the </a:t>
            </a:r>
            <a:r>
              <a:rPr lang="en-US" sz="2600" b="1" dirty="0">
                <a:solidFill>
                  <a:srgbClr val="2B4785"/>
                </a:solidFill>
                <a:latin typeface="Century" panose="02040604050505020304" pitchFamily="18" charset="0"/>
              </a:rPr>
              <a:t>syntax and semantics</a:t>
            </a:r>
            <a:r>
              <a:rPr lang="en-US" sz="2600" dirty="0">
                <a:latin typeface="Century" panose="02040604050505020304" pitchFamily="18" charset="0"/>
              </a:rPr>
              <a:t> of the information transmitted. </a:t>
            </a:r>
            <a:endParaRPr lang="en-US" altLang="ko-KR" sz="2600" dirty="0">
              <a:solidFill>
                <a:srgbClr val="B52141"/>
              </a:solidFill>
              <a:latin typeface="Century" panose="02040604050505020304" pitchFamily="18" charset="0"/>
            </a:endParaRPr>
          </a:p>
          <a:p>
            <a:r>
              <a:rPr lang="en-US" altLang="ko-KR" sz="2600" dirty="0">
                <a:solidFill>
                  <a:srgbClr val="B52141"/>
                </a:solidFill>
                <a:latin typeface="Century" panose="02040604050505020304" pitchFamily="18" charset="0"/>
              </a:rPr>
              <a:t>Responsible for </a:t>
            </a:r>
            <a:r>
              <a:rPr lang="en-US" altLang="ko-KR" sz="2600" b="1" dirty="0">
                <a:solidFill>
                  <a:srgbClr val="B52141"/>
                </a:solidFill>
                <a:latin typeface="Century" panose="02040604050505020304" pitchFamily="18" charset="0"/>
              </a:rPr>
              <a:t>translation </a:t>
            </a:r>
            <a:r>
              <a:rPr lang="en-US" altLang="ko-KR" sz="2600" dirty="0">
                <a:solidFill>
                  <a:srgbClr val="B52141"/>
                </a:solidFill>
                <a:latin typeface="Century" panose="02040604050505020304" pitchFamily="18" charset="0"/>
              </a:rPr>
              <a:t>(format conversion), </a:t>
            </a:r>
            <a:r>
              <a:rPr lang="en-US" altLang="ko-KR" sz="2600" b="1" dirty="0">
                <a:solidFill>
                  <a:srgbClr val="B52141"/>
                </a:solidFill>
                <a:latin typeface="Century" panose="02040604050505020304" pitchFamily="18" charset="0"/>
              </a:rPr>
              <a:t>compression</a:t>
            </a:r>
            <a:r>
              <a:rPr lang="en-US" altLang="ko-KR" sz="2600" dirty="0">
                <a:solidFill>
                  <a:srgbClr val="B52141"/>
                </a:solidFill>
                <a:latin typeface="Century" panose="02040604050505020304" pitchFamily="18" charset="0"/>
              </a:rPr>
              <a:t>, and </a:t>
            </a:r>
            <a:r>
              <a:rPr lang="en-US" altLang="ko-KR" sz="2600" b="1" dirty="0">
                <a:solidFill>
                  <a:srgbClr val="B52141"/>
                </a:solidFill>
                <a:latin typeface="Century" panose="02040604050505020304" pitchFamily="18" charset="0"/>
              </a:rPr>
              <a:t>encryption</a:t>
            </a:r>
            <a:r>
              <a:rPr lang="en-US" altLang="ko-KR" sz="2600" dirty="0">
                <a:solidFill>
                  <a:srgbClr val="B52141"/>
                </a:solidFill>
                <a:latin typeface="Century" panose="02040604050505020304" pitchFamily="18" charset="0"/>
              </a:rPr>
              <a: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pic>
        <p:nvPicPr>
          <p:cNvPr id="6" name="Picture 7"/>
          <p:cNvPicPr>
            <a:picLocks noChangeAspect="1" noChangeArrowheads="1"/>
          </p:cNvPicPr>
          <p:nvPr/>
        </p:nvPicPr>
        <p:blipFill>
          <a:blip r:embed="rId2" cstate="print"/>
          <a:stretch>
            <a:fillRect/>
          </a:stretch>
        </p:blipFill>
        <p:spPr bwMode="auto">
          <a:xfrm>
            <a:off x="2895600" y="3832284"/>
            <a:ext cx="7086600" cy="2409913"/>
          </a:xfrm>
          <a:prstGeom prst="rect">
            <a:avLst/>
          </a:prstGeom>
          <a:noFill/>
          <a:ln w="9525">
            <a:noFill/>
            <a:miter lim="800000"/>
            <a:headEnd/>
            <a:tailEnd/>
          </a:ln>
          <a:effectLst/>
        </p:spPr>
      </p:pic>
    </p:spTree>
    <p:extLst>
      <p:ext uri="{BB962C8B-B14F-4D97-AF65-F5344CB8AC3E}">
        <p14:creationId xmlns="" xmlns:p14="http://schemas.microsoft.com/office/powerpoint/2010/main" val="49681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D577899-E738-4DE9-9EA1-170C6D7E2CEA}"/>
              </a:ext>
            </a:extLst>
          </p:cNvPr>
          <p:cNvSpPr>
            <a:spLocks noGrp="1"/>
          </p:cNvSpPr>
          <p:nvPr>
            <p:ph idx="1"/>
          </p:nvPr>
        </p:nvSpPr>
        <p:spPr>
          <a:xfrm>
            <a:off x="838200" y="477672"/>
            <a:ext cx="10515600" cy="5699291"/>
          </a:xfrm>
        </p:spPr>
        <p:txBody>
          <a:bodyPr>
            <a:normAutofit/>
          </a:bodyPr>
          <a:lstStyle/>
          <a:p>
            <a:pPr algn="l"/>
            <a:r>
              <a:rPr lang="en-US" dirty="0">
                <a:latin typeface="Century" panose="02040604050505020304" pitchFamily="18" charset="0"/>
              </a:rPr>
              <a:t>In order to make it possible for computers with </a:t>
            </a:r>
            <a:r>
              <a:rPr lang="en-US" dirty="0">
                <a:solidFill>
                  <a:srgbClr val="2B4785"/>
                </a:solidFill>
                <a:latin typeface="Century" panose="02040604050505020304" pitchFamily="18" charset="0"/>
              </a:rPr>
              <a:t>different internal data representations </a:t>
            </a:r>
            <a:r>
              <a:rPr lang="en-US" dirty="0">
                <a:latin typeface="Century" panose="02040604050505020304" pitchFamily="18" charset="0"/>
              </a:rPr>
              <a:t>to communicate, </a:t>
            </a:r>
          </a:p>
          <a:p>
            <a:pPr lvl="1"/>
            <a:r>
              <a:rPr lang="en-US" sz="2800" dirty="0">
                <a:latin typeface="Century" panose="02040604050505020304" pitchFamily="18" charset="0"/>
              </a:rPr>
              <a:t>the data structures to be exchanged can be defined in an abstract way, </a:t>
            </a:r>
          </a:p>
          <a:p>
            <a:pPr lvl="1"/>
            <a:r>
              <a:rPr lang="en-US" sz="2800" dirty="0">
                <a:latin typeface="Century" panose="02040604050505020304" pitchFamily="18" charset="0"/>
              </a:rPr>
              <a:t>along with a standard encoding to be used ‘‘on the wire.’’ </a:t>
            </a:r>
          </a:p>
          <a:p>
            <a:pPr algn="l"/>
            <a:r>
              <a:rPr lang="en-US" dirty="0">
                <a:latin typeface="Century" panose="02040604050505020304" pitchFamily="18" charset="0"/>
              </a:rPr>
              <a:t>This layer manages these abstract data structures and allows higher-level data structures </a:t>
            </a:r>
            <a:r>
              <a:rPr lang="en-US" i="1" dirty="0">
                <a:latin typeface="Century" panose="02040604050505020304" pitchFamily="18" charset="0"/>
              </a:rPr>
              <a:t>(</a:t>
            </a:r>
            <a:r>
              <a:rPr lang="en-US" i="1" dirty="0" err="1">
                <a:latin typeface="Century" panose="02040604050505020304" pitchFamily="18" charset="0"/>
              </a:rPr>
              <a:t>eg.</a:t>
            </a:r>
            <a:r>
              <a:rPr lang="en-US" i="1" dirty="0">
                <a:latin typeface="Century" panose="02040604050505020304" pitchFamily="18" charset="0"/>
              </a:rPr>
              <a:t>, banking records)</a:t>
            </a:r>
            <a:r>
              <a:rPr lang="en-US" dirty="0">
                <a:latin typeface="Century" panose="02040604050505020304" pitchFamily="18" charset="0"/>
              </a:rPr>
              <a:t> to be defined and </a:t>
            </a:r>
            <a:r>
              <a:rPr lang="en-IN" dirty="0">
                <a:latin typeface="Century" panose="02040604050505020304" pitchFamily="18" charset="0"/>
              </a:rPr>
              <a:t>exchanged.</a:t>
            </a:r>
          </a:p>
          <a:p>
            <a:pPr>
              <a:spcBef>
                <a:spcPts val="500"/>
              </a:spcBef>
              <a:spcAft>
                <a:spcPts val="500"/>
              </a:spcAft>
            </a:pPr>
            <a:r>
              <a:rPr lang="en-US" dirty="0">
                <a:latin typeface="Century" panose="02040604050505020304" pitchFamily="18" charset="0"/>
              </a:rPr>
              <a:t>The presentation layer ensures that the information that the application layer of one system sends out is readable by the application layer of another system.</a:t>
            </a:r>
          </a:p>
          <a:p>
            <a:r>
              <a:rPr lang="en-US" b="1" dirty="0">
                <a:latin typeface="Century" panose="02040604050505020304" pitchFamily="18" charset="0"/>
              </a:rPr>
              <a:t>Protocols</a:t>
            </a:r>
            <a:r>
              <a:rPr lang="en-US" dirty="0">
                <a:latin typeface="Century" panose="02040604050505020304" pitchFamily="18" charset="0"/>
              </a:rPr>
              <a:t> of the presentation layer are </a:t>
            </a:r>
            <a:r>
              <a:rPr lang="en-US" dirty="0">
                <a:solidFill>
                  <a:srgbClr val="7030A0"/>
                </a:solidFill>
                <a:latin typeface="Century" panose="02040604050505020304" pitchFamily="18" charset="0"/>
              </a:rPr>
              <a:t>JPEG, MPEG, ASCII, EBCDIC etc.</a:t>
            </a:r>
            <a:endParaRPr lang="en-IN" dirty="0">
              <a:latin typeface="Century" panose="02040604050505020304" pitchFamily="18" charset="0"/>
            </a:endParaRPr>
          </a:p>
        </p:txBody>
      </p:sp>
      <p:sp>
        <p:nvSpPr>
          <p:cNvPr id="4" name="Slide Number Placeholder 3">
            <a:extLst>
              <a:ext uri="{FF2B5EF4-FFF2-40B4-BE49-F238E27FC236}">
                <a16:creationId xmlns="" xmlns:a16="http://schemas.microsoft.com/office/drawing/2014/main" id="{0D8F4051-1EFA-46E8-8002-C4D569CDB5F4}"/>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 xmlns:p14="http://schemas.microsoft.com/office/powerpoint/2010/main" val="3781516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 xmlns:a16="http://schemas.microsoft.com/office/drawing/2014/main" id="{D3A86B8B-A1D7-480D-BBAF-38050E64A852}"/>
              </a:ext>
            </a:extLst>
          </p:cNvPr>
          <p:cNvPicPr>
            <a:picLocks noGrp="1" noChangeAspect="1"/>
          </p:cNvPicPr>
          <p:nvPr>
            <p:ph idx="1"/>
          </p:nvPr>
        </p:nvPicPr>
        <p:blipFill rotWithShape="1">
          <a:blip r:embed="rId2"/>
          <a:srcRect l="2500" t="12963" r="2500" b="27778"/>
          <a:stretch/>
        </p:blipFill>
        <p:spPr>
          <a:xfrm>
            <a:off x="1622258" y="1072662"/>
            <a:ext cx="8931442" cy="3133825"/>
          </a:xfrm>
          <a:prstGeom prst="rect">
            <a:avLst/>
          </a:prstGeom>
        </p:spPr>
      </p:pic>
      <p:sp>
        <p:nvSpPr>
          <p:cNvPr id="4" name="Slide Number Placeholder 3">
            <a:extLst>
              <a:ext uri="{FF2B5EF4-FFF2-40B4-BE49-F238E27FC236}">
                <a16:creationId xmlns="" xmlns:a16="http://schemas.microsoft.com/office/drawing/2014/main" id="{806D668E-2651-401D-916F-99EDFF69BA34}"/>
              </a:ext>
            </a:extLst>
          </p:cNvPr>
          <p:cNvSpPr>
            <a:spLocks noGrp="1"/>
          </p:cNvSpPr>
          <p:nvPr>
            <p:ph type="sldNum" sz="quarter" idx="12"/>
          </p:nvPr>
        </p:nvSpPr>
        <p:spPr/>
        <p:txBody>
          <a:bodyPr/>
          <a:lstStyle/>
          <a:p>
            <a:fld id="{B6F15528-21DE-4FAA-801E-634DDDAF4B2B}" type="slidenum">
              <a:rPr lang="en-US" smtClean="0"/>
              <a:pPr/>
              <a:t>28</a:t>
            </a:fld>
            <a:endParaRPr lang="en-US"/>
          </a:p>
        </p:txBody>
      </p:sp>
      <p:pic>
        <p:nvPicPr>
          <p:cNvPr id="8" name="Picture 7">
            <a:extLst>
              <a:ext uri="{FF2B5EF4-FFF2-40B4-BE49-F238E27FC236}">
                <a16:creationId xmlns="" xmlns:a16="http://schemas.microsoft.com/office/drawing/2014/main" id="{F2FAEE41-D6F0-4985-86E1-2AA50AB21743}"/>
              </a:ext>
            </a:extLst>
          </p:cNvPr>
          <p:cNvPicPr>
            <a:picLocks noChangeAspect="1"/>
          </p:cNvPicPr>
          <p:nvPr/>
        </p:nvPicPr>
        <p:blipFill rotWithShape="1">
          <a:blip r:embed="rId3" cstate="print"/>
          <a:srcRect l="12500" t="15926" r="6250" b="15926"/>
          <a:stretch/>
        </p:blipFill>
        <p:spPr>
          <a:xfrm>
            <a:off x="5715000" y="4490996"/>
            <a:ext cx="3240398" cy="1528804"/>
          </a:xfrm>
          <a:prstGeom prst="rect">
            <a:avLst/>
          </a:prstGeom>
        </p:spPr>
      </p:pic>
    </p:spTree>
    <p:extLst>
      <p:ext uri="{BB962C8B-B14F-4D97-AF65-F5344CB8AC3E}">
        <p14:creationId xmlns="" xmlns:p14="http://schemas.microsoft.com/office/powerpoint/2010/main" val="20999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p:txBody>
          <a:bodyPr vert="horz" lIns="91440" tIns="45720" rIns="91440" bIns="45720" rtlCol="0" anchor="ctr">
            <a:normAutofit/>
          </a:bodyPr>
          <a:lstStyle/>
          <a:p>
            <a:r>
              <a:rPr lang="en-US" altLang="ko-KR" b="1" dirty="0">
                <a:ln w="22225">
                  <a:solidFill>
                    <a:schemeClr val="accent2">
                      <a:lumMod val="50000"/>
                    </a:schemeClr>
                  </a:solidFill>
                  <a:prstDash val="solid"/>
                </a:ln>
                <a:solidFill>
                  <a:schemeClr val="accent3">
                    <a:lumMod val="60000"/>
                    <a:lumOff val="40000"/>
                  </a:schemeClr>
                </a:solidFill>
              </a:rPr>
              <a:t>7. Application Layer</a:t>
            </a:r>
          </a:p>
        </p:txBody>
      </p:sp>
      <p:sp>
        <p:nvSpPr>
          <p:cNvPr id="282627" name="Rectangle 3"/>
          <p:cNvSpPr>
            <a:spLocks noGrp="1" noChangeArrowheads="1"/>
          </p:cNvSpPr>
          <p:nvPr>
            <p:ph idx="1"/>
          </p:nvPr>
        </p:nvSpPr>
        <p:spPr>
          <a:xfrm>
            <a:off x="838200" y="1690688"/>
            <a:ext cx="10515600" cy="4486275"/>
          </a:xfrm>
        </p:spPr>
        <p:txBody>
          <a:bodyPr/>
          <a:lstStyle/>
          <a:p>
            <a:r>
              <a:rPr kumimoji="0" lang="en-US" altLang="ko-KR" dirty="0">
                <a:solidFill>
                  <a:srgbClr val="B52141"/>
                </a:solidFill>
                <a:latin typeface="Century" panose="02040604050505020304" pitchFamily="18" charset="0"/>
              </a:rPr>
              <a:t>Responsible for </a:t>
            </a:r>
            <a:r>
              <a:rPr kumimoji="0" lang="en-US" altLang="ko-KR" b="1" dirty="0">
                <a:solidFill>
                  <a:srgbClr val="B52141"/>
                </a:solidFill>
                <a:latin typeface="Century" panose="02040604050505020304" pitchFamily="18" charset="0"/>
              </a:rPr>
              <a:t>providing services to the user.</a:t>
            </a:r>
          </a:p>
          <a:p>
            <a:r>
              <a:rPr lang="en-US" sz="2400" dirty="0">
                <a:latin typeface="Century" panose="02040604050505020304" pitchFamily="18" charset="0"/>
              </a:rPr>
              <a:t>The layer that is closest to the user; provides network services to the user’s applications.</a:t>
            </a:r>
            <a:endParaRPr lang="en-US" altLang="ko-KR" sz="2400" dirty="0">
              <a:solidFill>
                <a:srgbClr val="B52141"/>
              </a:solidFill>
              <a:latin typeface="Century" panose="020406040505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pic>
        <p:nvPicPr>
          <p:cNvPr id="282630" name="Picture 6"/>
          <p:cNvPicPr>
            <a:picLocks noChangeAspect="1" noChangeArrowheads="1"/>
          </p:cNvPicPr>
          <p:nvPr/>
        </p:nvPicPr>
        <p:blipFill>
          <a:blip r:embed="rId2" cstate="print"/>
          <a:srcRect/>
          <a:stretch>
            <a:fillRect/>
          </a:stretch>
        </p:blipFill>
        <p:spPr bwMode="auto">
          <a:xfrm>
            <a:off x="2930857" y="3252968"/>
            <a:ext cx="6553200" cy="3468507"/>
          </a:xfrm>
          <a:prstGeom prst="rect">
            <a:avLst/>
          </a:prstGeom>
          <a:noFill/>
          <a:ln w="9525">
            <a:noFill/>
            <a:miter lim="800000"/>
            <a:headEnd/>
            <a:tailEnd/>
          </a:ln>
          <a:effectLst/>
        </p:spPr>
      </p:pic>
    </p:spTree>
    <p:extLst>
      <p:ext uri="{BB962C8B-B14F-4D97-AF65-F5344CB8AC3E}">
        <p14:creationId xmlns="" xmlns:p14="http://schemas.microsoft.com/office/powerpoint/2010/main" val="3330448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838200" y="545910"/>
            <a:ext cx="10515600" cy="5631053"/>
          </a:xfrm>
        </p:spPr>
        <p:txBody>
          <a:bodyPr>
            <a:normAutofit/>
          </a:bodyPr>
          <a:lstStyle/>
          <a:p>
            <a:pPr algn="l"/>
            <a:r>
              <a:rPr lang="en-US" sz="2600" dirty="0">
                <a:latin typeface="Century" panose="02040604050505020304" pitchFamily="18" charset="0"/>
              </a:rPr>
              <a:t>The </a:t>
            </a:r>
            <a:r>
              <a:rPr lang="en-US" sz="2600" i="1" dirty="0">
                <a:latin typeface="Century" panose="02040604050505020304" pitchFamily="18" charset="0"/>
              </a:rPr>
              <a:t>application layer </a:t>
            </a:r>
            <a:r>
              <a:rPr lang="en-US" sz="2600" dirty="0">
                <a:latin typeface="Century" panose="02040604050505020304" pitchFamily="18" charset="0"/>
              </a:rPr>
              <a:t>contains a variety of protocols that are commonly needed by users. </a:t>
            </a:r>
          </a:p>
          <a:p>
            <a:pPr algn="l"/>
            <a:r>
              <a:rPr lang="en-US" sz="2600" b="1" dirty="0" err="1">
                <a:latin typeface="Century" panose="02040604050505020304" pitchFamily="18" charset="0"/>
              </a:rPr>
              <a:t>Eg.</a:t>
            </a:r>
            <a:r>
              <a:rPr lang="en-US" sz="2600" b="1" dirty="0">
                <a:latin typeface="Century" panose="02040604050505020304" pitchFamily="18" charset="0"/>
              </a:rPr>
              <a:t> HTTP </a:t>
            </a:r>
            <a:r>
              <a:rPr lang="en-US" sz="2600" dirty="0">
                <a:latin typeface="Century" panose="02040604050505020304" pitchFamily="18" charset="0"/>
              </a:rPr>
              <a:t>(</a:t>
            </a:r>
            <a:r>
              <a:rPr lang="en-US" sz="2600" b="1" dirty="0" err="1">
                <a:latin typeface="Century" panose="02040604050505020304" pitchFamily="18" charset="0"/>
              </a:rPr>
              <a:t>HyperText</a:t>
            </a:r>
            <a:r>
              <a:rPr lang="en-US" sz="2600" b="1" dirty="0">
                <a:latin typeface="Century" panose="02040604050505020304" pitchFamily="18" charset="0"/>
              </a:rPr>
              <a:t> Transfer Protocol</a:t>
            </a:r>
            <a:r>
              <a:rPr lang="en-US" sz="2600" dirty="0">
                <a:latin typeface="Century" panose="02040604050505020304" pitchFamily="18" charset="0"/>
              </a:rPr>
              <a:t>), which is the basis for the World Wide Web. </a:t>
            </a:r>
          </a:p>
          <a:p>
            <a:pPr lvl="1"/>
            <a:r>
              <a:rPr lang="en-US" sz="2600" b="0" i="0" u="none" strike="noStrike" baseline="0" dirty="0">
                <a:latin typeface="Century" panose="02040604050505020304" pitchFamily="18" charset="0"/>
              </a:rPr>
              <a:t>When a browser wants a Web page, it sends the name of the page it wants to the server hosting the page using HTTP. The server then sends the page back. </a:t>
            </a:r>
          </a:p>
          <a:p>
            <a:pPr algn="l"/>
            <a:r>
              <a:rPr lang="en-US" sz="2600" dirty="0">
                <a:latin typeface="Century" panose="02040604050505020304" pitchFamily="18" charset="0"/>
              </a:rPr>
              <a:t>Other application protocols are used for</a:t>
            </a:r>
          </a:p>
          <a:p>
            <a:pPr lvl="1"/>
            <a:r>
              <a:rPr lang="en-US" sz="2600" b="0" i="0" u="none" strike="noStrike" baseline="0" dirty="0">
                <a:latin typeface="Century" panose="02040604050505020304" pitchFamily="18" charset="0"/>
              </a:rPr>
              <a:t>file transfer, </a:t>
            </a:r>
          </a:p>
          <a:p>
            <a:pPr lvl="1"/>
            <a:r>
              <a:rPr lang="en-US" sz="2600" dirty="0">
                <a:latin typeface="Century" panose="02040604050505020304" pitchFamily="18" charset="0"/>
              </a:rPr>
              <a:t>remote access,</a:t>
            </a:r>
            <a:endParaRPr lang="en-US" sz="2600" b="0" i="0" u="none" strike="noStrike" baseline="0" dirty="0">
              <a:latin typeface="Century" panose="02040604050505020304" pitchFamily="18" charset="0"/>
            </a:endParaRPr>
          </a:p>
          <a:p>
            <a:pPr lvl="1"/>
            <a:r>
              <a:rPr lang="en-US" sz="2600" b="0" i="0" u="none" strike="noStrike" baseline="0" dirty="0">
                <a:latin typeface="Century" panose="02040604050505020304" pitchFamily="18" charset="0"/>
              </a:rPr>
              <a:t>electronic mail, and </a:t>
            </a:r>
          </a:p>
          <a:p>
            <a:pPr lvl="1"/>
            <a:r>
              <a:rPr lang="en-US" sz="2600" b="0" i="0" u="none" strike="noStrike" baseline="0" dirty="0">
                <a:latin typeface="Century" panose="02040604050505020304" pitchFamily="18" charset="0"/>
              </a:rPr>
              <a:t>network news.</a:t>
            </a:r>
            <a:endParaRPr lang="en-US" sz="2600" dirty="0">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 xmlns:p14="http://schemas.microsoft.com/office/powerpoint/2010/main" val="915291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 xmlns:a16="http://schemas.microsoft.com/office/drawing/2014/main" id="{58A942CB-1056-412D-B5E7-04523DA3D071}"/>
              </a:ext>
            </a:extLst>
          </p:cNvPr>
          <p:cNvPicPr>
            <a:picLocks noGrp="1" noChangeAspect="1"/>
          </p:cNvPicPr>
          <p:nvPr>
            <p:ph idx="1"/>
          </p:nvPr>
        </p:nvPicPr>
        <p:blipFill rotWithShape="1">
          <a:blip r:embed="rId2"/>
          <a:srcRect t="6906" r="3508"/>
          <a:stretch/>
        </p:blipFill>
        <p:spPr>
          <a:xfrm>
            <a:off x="672416" y="245660"/>
            <a:ext cx="10775781" cy="5847944"/>
          </a:xfrm>
        </p:spPr>
      </p:pic>
      <p:sp>
        <p:nvSpPr>
          <p:cNvPr id="4" name="Slide Number Placeholder 3">
            <a:extLst>
              <a:ext uri="{FF2B5EF4-FFF2-40B4-BE49-F238E27FC236}">
                <a16:creationId xmlns="" xmlns:a16="http://schemas.microsoft.com/office/drawing/2014/main" id="{CA02706F-E8BF-4F4C-8B9C-1302C0A1ED5B}"/>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 xmlns:p14="http://schemas.microsoft.com/office/powerpoint/2010/main" val="2465820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4" name="Picture 6"/>
          <p:cNvPicPr>
            <a:picLocks noChangeAspect="1" noChangeArrowheads="1"/>
          </p:cNvPicPr>
          <p:nvPr/>
        </p:nvPicPr>
        <p:blipFill>
          <a:blip r:embed="rId3" cstate="print"/>
          <a:srcRect/>
          <a:stretch>
            <a:fillRect/>
          </a:stretch>
        </p:blipFill>
        <p:spPr bwMode="auto">
          <a:xfrm>
            <a:off x="1521036" y="1219200"/>
            <a:ext cx="9104798" cy="4724400"/>
          </a:xfrm>
          <a:prstGeom prst="rect">
            <a:avLst/>
          </a:prstGeom>
          <a:noFill/>
          <a:ln w="9525">
            <a:noFill/>
            <a:miter lim="800000"/>
            <a:headEnd/>
            <a:tailEnd/>
          </a:ln>
          <a:effectLst/>
        </p:spPr>
      </p:pic>
      <p:sp>
        <p:nvSpPr>
          <p:cNvPr id="6" name="Title 5"/>
          <p:cNvSpPr>
            <a:spLocks noGrp="1"/>
          </p:cNvSpPr>
          <p:nvPr>
            <p:ph type="title"/>
          </p:nvPr>
        </p:nvSpPr>
        <p:spPr>
          <a:xfrm>
            <a:off x="815635" y="0"/>
            <a:ext cx="10515600" cy="1325563"/>
          </a:xfrm>
        </p:spPr>
        <p:txBody>
          <a:bodyPr/>
          <a:lstStyle/>
          <a:p>
            <a:r>
              <a:rPr lang="en-US" b="1" dirty="0">
                <a:ln w="22225">
                  <a:solidFill>
                    <a:schemeClr val="accent2"/>
                  </a:solidFill>
                  <a:prstDash val="solid"/>
                </a:ln>
                <a:solidFill>
                  <a:schemeClr val="accent2">
                    <a:lumMod val="40000"/>
                    <a:lumOff val="60000"/>
                  </a:schemeClr>
                </a:solidFill>
              </a:rPr>
              <a:t>OSI Model - Summary</a:t>
            </a:r>
            <a:endParaRPr lang="en-IN" b="1" dirty="0">
              <a:ln w="22225">
                <a:solidFill>
                  <a:schemeClr val="accent2"/>
                </a:solidFill>
                <a:prstDash val="solid"/>
              </a:ln>
              <a:solidFill>
                <a:schemeClr val="accent2">
                  <a:lumMod val="40000"/>
                  <a:lumOff val="60000"/>
                </a:scheme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 xmlns:p14="http://schemas.microsoft.com/office/powerpoint/2010/main" val="2847360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a:t>TCP/IP Protocol Architecture</a:t>
            </a:r>
            <a:endParaRPr lang="en-IN" dirty="0"/>
          </a:p>
        </p:txBody>
      </p:sp>
      <p:sp>
        <p:nvSpPr>
          <p:cNvPr id="4" name="Slide Number Placeholder 3"/>
          <p:cNvSpPr>
            <a:spLocks noGrp="1"/>
          </p:cNvSpPr>
          <p:nvPr>
            <p:ph type="sldNum" sz="quarter" idx="4294967295"/>
          </p:nvPr>
        </p:nvSpPr>
        <p:spPr>
          <a:xfrm>
            <a:off x="8458200" y="6537326"/>
            <a:ext cx="2133600" cy="244475"/>
          </a:xfrm>
          <a:prstGeom prst="rect">
            <a:avLst/>
          </a:prstGeom>
        </p:spPr>
        <p:txBody>
          <a:bodyPr/>
          <a:lstStyle/>
          <a:p>
            <a:fld id="{B6F15528-21DE-4FAA-801E-634DDDAF4B2B}" type="slidenum">
              <a:rPr lang="en-US" smtClean="0"/>
              <a:pPr/>
              <a:t>33</a:t>
            </a:fld>
            <a:endParaRPr lang="en-US"/>
          </a:p>
        </p:txBody>
      </p:sp>
      <p:sp>
        <p:nvSpPr>
          <p:cNvPr id="5" name="Title 4"/>
          <p:cNvSpPr>
            <a:spLocks noGrp="1"/>
          </p:cNvSpPr>
          <p:nvPr>
            <p:ph type="ctrTitle"/>
          </p:nvPr>
        </p:nvSpPr>
        <p:spPr/>
        <p:txBody>
          <a:bodyPr/>
          <a:lstStyle/>
          <a:p>
            <a:r>
              <a:rPr lang="en-US" b="1" dirty="0">
                <a:ln w="12700">
                  <a:solidFill>
                    <a:schemeClr val="accent6">
                      <a:lumMod val="75000"/>
                    </a:schemeClr>
                  </a:solidFill>
                  <a:prstDash val="solid"/>
                </a:ln>
                <a:solidFill>
                  <a:schemeClr val="accent3">
                    <a:lumMod val="60000"/>
                    <a:lumOff val="40000"/>
                  </a:schemeClr>
                </a:solidFill>
                <a:effectLst>
                  <a:innerShdw blurRad="177800">
                    <a:schemeClr val="accent3">
                      <a:lumMod val="50000"/>
                    </a:schemeClr>
                  </a:innerShdw>
                </a:effectLst>
              </a:rPr>
              <a:t>TCP/IP Model</a:t>
            </a:r>
            <a:endParaRPr lang="en-IN" b="1" dirty="0">
              <a:ln w="12700">
                <a:solidFill>
                  <a:schemeClr val="accent6">
                    <a:lumMod val="75000"/>
                  </a:schemeClr>
                </a:solidFill>
                <a:prstDash val="solid"/>
              </a:ln>
              <a:solidFill>
                <a:schemeClr val="accent3">
                  <a:lumMod val="60000"/>
                  <a:lumOff val="40000"/>
                </a:schemeClr>
              </a:solidFill>
              <a:effectLst>
                <a:innerShdw blurRad="177800">
                  <a:schemeClr val="accent3">
                    <a:lumMod val="50000"/>
                  </a:schemeClr>
                </a:innerShdw>
              </a:effectLst>
            </a:endParaRPr>
          </a:p>
        </p:txBody>
      </p:sp>
    </p:spTree>
    <p:extLst>
      <p:ext uri="{BB962C8B-B14F-4D97-AF65-F5344CB8AC3E}">
        <p14:creationId xmlns="" xmlns:p14="http://schemas.microsoft.com/office/powerpoint/2010/main" val="890845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dirty="0"/>
              <a:t>TCP/IP Protocol Architecture</a:t>
            </a:r>
          </a:p>
        </p:txBody>
      </p:sp>
      <p:sp>
        <p:nvSpPr>
          <p:cNvPr id="33795" name="Rectangle 3"/>
          <p:cNvSpPr>
            <a:spLocks noGrp="1" noChangeArrowheads="1"/>
          </p:cNvSpPr>
          <p:nvPr>
            <p:ph idx="1"/>
          </p:nvPr>
        </p:nvSpPr>
        <p:spPr>
          <a:xfrm>
            <a:off x="838200" y="1690688"/>
            <a:ext cx="10515600" cy="4486275"/>
          </a:xfrm>
        </p:spPr>
        <p:txBody>
          <a:bodyPr>
            <a:normAutofit lnSpcReduction="10000"/>
          </a:bodyPr>
          <a:lstStyle/>
          <a:p>
            <a:r>
              <a:rPr lang="en-US" altLang="en-US" sz="2600" dirty="0">
                <a:latin typeface="Century" panose="02040604050505020304" pitchFamily="18" charset="0"/>
              </a:rPr>
              <a:t>Developed by the US DoD’s </a:t>
            </a:r>
            <a:r>
              <a:rPr lang="en-US" altLang="en-US" sz="2600" dirty="0">
                <a:solidFill>
                  <a:srgbClr val="2B4785"/>
                </a:solidFill>
                <a:latin typeface="Century" panose="02040604050505020304" pitchFamily="18" charset="0"/>
              </a:rPr>
              <a:t>Defense Advanced Research Project Agency </a:t>
            </a:r>
            <a:r>
              <a:rPr lang="en-US" altLang="en-US" sz="2600" dirty="0">
                <a:latin typeface="Century" panose="02040604050505020304" pitchFamily="18" charset="0"/>
              </a:rPr>
              <a:t>(</a:t>
            </a:r>
            <a:r>
              <a:rPr lang="en-US" altLang="en-US" sz="2600" dirty="0">
                <a:solidFill>
                  <a:srgbClr val="2B4785"/>
                </a:solidFill>
                <a:latin typeface="Century" panose="02040604050505020304" pitchFamily="18" charset="0"/>
              </a:rPr>
              <a:t>DARPA</a:t>
            </a:r>
            <a:r>
              <a:rPr lang="en-US" altLang="en-US" sz="2600" dirty="0">
                <a:latin typeface="Century" panose="02040604050505020304" pitchFamily="18" charset="0"/>
              </a:rPr>
              <a:t>) for its packet switched network </a:t>
            </a:r>
            <a:r>
              <a:rPr lang="en-US" altLang="en-US" sz="2600" b="1" dirty="0">
                <a:latin typeface="Century" panose="02040604050505020304" pitchFamily="18" charset="0"/>
              </a:rPr>
              <a:t>ARPANET</a:t>
            </a:r>
            <a:r>
              <a:rPr lang="en-US" altLang="en-US" sz="2600" dirty="0">
                <a:latin typeface="Century" panose="02040604050505020304" pitchFamily="18" charset="0"/>
              </a:rPr>
              <a:t>. </a:t>
            </a:r>
            <a:r>
              <a:rPr lang="en-US" altLang="en-US" sz="2400" i="1" dirty="0">
                <a:latin typeface="Century" panose="02040604050505020304" pitchFamily="18" charset="0"/>
              </a:rPr>
              <a:t>(the predecessor to the Internet) </a:t>
            </a:r>
            <a:endParaRPr lang="en-US" altLang="en-US" sz="2600" i="1" dirty="0">
              <a:latin typeface="Century" panose="02040604050505020304" pitchFamily="18" charset="0"/>
            </a:endParaRPr>
          </a:p>
          <a:p>
            <a:pPr lvl="1"/>
            <a:r>
              <a:rPr lang="en-US" altLang="en-US" dirty="0">
                <a:latin typeface="Century" panose="02040604050505020304" pitchFamily="18" charset="0"/>
              </a:rPr>
              <a:t>TCP/IP was developed in the 1970s and adopted as the protocol standard for ARPANET in 1983.</a:t>
            </a:r>
          </a:p>
          <a:p>
            <a:pPr lvl="1"/>
            <a:r>
              <a:rPr lang="en-US" altLang="en-US" dirty="0">
                <a:latin typeface="Century" panose="02040604050505020304" pitchFamily="18" charset="0"/>
              </a:rPr>
              <a:t>First described by </a:t>
            </a:r>
            <a:r>
              <a:rPr lang="en-US" altLang="en-US" b="1" dirty="0">
                <a:latin typeface="Century" panose="02040604050505020304" pitchFamily="18" charset="0"/>
              </a:rPr>
              <a:t>Cerf and Kahn</a:t>
            </a:r>
            <a:r>
              <a:rPr lang="en-US" altLang="en-US" dirty="0">
                <a:latin typeface="Century" panose="02040604050505020304" pitchFamily="18" charset="0"/>
              </a:rPr>
              <a:t>, later refined and defined as a standard in the Internet community.</a:t>
            </a:r>
          </a:p>
          <a:p>
            <a:r>
              <a:rPr lang="en-US" altLang="en-US" sz="2600" dirty="0">
                <a:latin typeface="Century" panose="02040604050505020304" pitchFamily="18" charset="0"/>
              </a:rPr>
              <a:t>Used by the global Internet. </a:t>
            </a:r>
            <a:r>
              <a:rPr lang="en-US" altLang="en-US" sz="2000" i="1" dirty="0">
                <a:latin typeface="Century" panose="02040604050505020304" pitchFamily="18" charset="0"/>
              </a:rPr>
              <a:t>(No official model but a working one.)</a:t>
            </a:r>
            <a:endParaRPr lang="en-US" altLang="en-US" sz="2600" i="1" dirty="0">
              <a:latin typeface="Century" panose="02040604050505020304" pitchFamily="18" charset="0"/>
            </a:endParaRPr>
          </a:p>
          <a:p>
            <a:r>
              <a:rPr lang="en-US" altLang="en-US" sz="2600" dirty="0">
                <a:latin typeface="Century" panose="02040604050505020304" pitchFamily="18" charset="0"/>
              </a:rPr>
              <a:t>The ability to connect multiple networks in a seamless way was one of the major design goals.</a:t>
            </a:r>
          </a:p>
          <a:p>
            <a:r>
              <a:rPr lang="en-US" altLang="en-US" sz="2600" dirty="0">
                <a:latin typeface="Century" panose="02040604050505020304" pitchFamily="18" charset="0"/>
              </a:rPr>
              <a:t>This architecture later became known as the TCP/IP Reference Model, after its two primary protocols.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 xmlns:p14="http://schemas.microsoft.com/office/powerpoint/2010/main" val="1971972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z="3200" dirty="0"/>
              <a:t>TCP/IP Protocol Architecture…</a:t>
            </a:r>
          </a:p>
        </p:txBody>
      </p:sp>
      <p:sp>
        <p:nvSpPr>
          <p:cNvPr id="33795" name="Rectangle 3"/>
          <p:cNvSpPr>
            <a:spLocks noGrp="1" noChangeArrowheads="1"/>
          </p:cNvSpPr>
          <p:nvPr>
            <p:ph idx="1"/>
          </p:nvPr>
        </p:nvSpPr>
        <p:spPr>
          <a:xfrm>
            <a:off x="838200" y="1446663"/>
            <a:ext cx="10515600" cy="4730300"/>
          </a:xfrm>
        </p:spPr>
        <p:txBody>
          <a:bodyPr/>
          <a:lstStyle/>
          <a:p>
            <a:r>
              <a:rPr lang="en-US" altLang="en-US" sz="2600" dirty="0">
                <a:latin typeface="Century" panose="02040604050505020304" pitchFamily="18" charset="0"/>
              </a:rPr>
              <a:t>Another major goal  </a:t>
            </a:r>
          </a:p>
          <a:p>
            <a:pPr lvl="1"/>
            <a:r>
              <a:rPr lang="en-US" altLang="en-US" dirty="0">
                <a:latin typeface="Century" panose="02040604050505020304" pitchFamily="18" charset="0"/>
              </a:rPr>
              <a:t>network must be able to survive loss of subnet hardware, with existing conversations not being broken off. </a:t>
            </a:r>
          </a:p>
          <a:p>
            <a:pPr lvl="1"/>
            <a:r>
              <a:rPr lang="en-US" altLang="en-US" dirty="0" err="1">
                <a:latin typeface="Century" panose="02040604050505020304" pitchFamily="18" charset="0"/>
              </a:rPr>
              <a:t>ie</a:t>
            </a:r>
            <a:r>
              <a:rPr lang="en-US" altLang="en-US" dirty="0">
                <a:latin typeface="Century" panose="02040604050505020304" pitchFamily="18" charset="0"/>
              </a:rPr>
              <a:t>, DoD wanted connections to remain intact as long as the source and destination machines were functioning </a:t>
            </a:r>
          </a:p>
          <a:p>
            <a:pPr lvl="2"/>
            <a:r>
              <a:rPr lang="en-US" altLang="en-US" sz="2600" dirty="0">
                <a:latin typeface="Century" panose="02040604050505020304" pitchFamily="18" charset="0"/>
              </a:rPr>
              <a:t>even if some of the machines or transmission lines in between were suddenly put out of operation. </a:t>
            </a:r>
          </a:p>
          <a:p>
            <a:r>
              <a:rPr lang="en-US" altLang="en-US" sz="2600" dirty="0">
                <a:latin typeface="Century" panose="02040604050505020304" pitchFamily="18" charset="0"/>
              </a:rPr>
              <a:t>Also, a flexible architecture was needed </a:t>
            </a:r>
          </a:p>
          <a:p>
            <a:pPr lvl="1"/>
            <a:r>
              <a:rPr lang="en-US" altLang="en-US" dirty="0">
                <a:latin typeface="Century" panose="02040604050505020304" pitchFamily="18" charset="0"/>
              </a:rPr>
              <a:t>since applications with divergent requirements were envisioned, ranging from transferring files to real-time speech transmission </a:t>
            </a:r>
          </a:p>
          <a:p>
            <a:endParaRPr lang="en-US" altLang="en-US" sz="2600" dirty="0">
              <a:latin typeface="Century" panose="020406040505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 xmlns:p14="http://schemas.microsoft.com/office/powerpoint/2010/main" val="1148982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057400" y="228600"/>
            <a:ext cx="8496300" cy="563562"/>
          </a:xfrm>
          <a:ln/>
        </p:spPr>
        <p:txBody>
          <a:bodyPr vert="horz" lIns="0" tIns="0" rIns="0" bIns="0" rtlCol="0" anchor="ctr">
            <a:normAutofit fontScale="90000"/>
          </a:bodyPr>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dirty="0"/>
              <a:t>TCP/IP </a:t>
            </a:r>
            <a:r>
              <a:rPr lang="en-US" dirty="0" err="1"/>
              <a:t>vs</a:t>
            </a:r>
            <a:r>
              <a:rPr lang="en-US" dirty="0"/>
              <a:t> OSI</a:t>
            </a:r>
            <a:endParaRPr lang="en-GB" sz="4000" b="1"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a:p>
        </p:txBody>
      </p:sp>
      <p:pic>
        <p:nvPicPr>
          <p:cNvPr id="6" name="Picture 4" descr="1-21">
            <a:extLst>
              <a:ext uri="{FF2B5EF4-FFF2-40B4-BE49-F238E27FC236}">
                <a16:creationId xmlns="" xmlns:a16="http://schemas.microsoft.com/office/drawing/2014/main" id="{1E127002-609E-43AE-AEAD-BD4FCD32CB7E}"/>
              </a:ext>
            </a:extLst>
          </p:cNvPr>
          <p:cNvPicPr>
            <a:picLocks noChangeAspect="1" noChangeArrowheads="1"/>
          </p:cNvPicPr>
          <p:nvPr/>
        </p:nvPicPr>
        <p:blipFill>
          <a:blip r:embed="rId3" cstate="print"/>
          <a:srcRect/>
          <a:stretch>
            <a:fillRect/>
          </a:stretch>
        </p:blipFill>
        <p:spPr bwMode="auto">
          <a:xfrm>
            <a:off x="2424485" y="1333333"/>
            <a:ext cx="7762131" cy="4614529"/>
          </a:xfrm>
          <a:prstGeom prst="rect">
            <a:avLst/>
          </a:prstGeom>
          <a:noFill/>
        </p:spPr>
      </p:pic>
    </p:spTree>
    <p:extLst>
      <p:ext uri="{BB962C8B-B14F-4D97-AF65-F5344CB8AC3E}">
        <p14:creationId xmlns="" xmlns:p14="http://schemas.microsoft.com/office/powerpoint/2010/main" val="1879771896"/>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 xmlns:a16="http://schemas.microsoft.com/office/drawing/2014/main" id="{29A592B6-8B8D-466C-AFC4-BE4C5123553A}"/>
              </a:ext>
            </a:extLst>
          </p:cNvPr>
          <p:cNvSpPr>
            <a:spLocks noGrp="1"/>
          </p:cNvSpPr>
          <p:nvPr>
            <p:ph idx="1"/>
          </p:nvPr>
        </p:nvSpPr>
        <p:spPr>
          <a:xfrm>
            <a:off x="838200" y="723331"/>
            <a:ext cx="10515600" cy="5453632"/>
          </a:xfrm>
        </p:spPr>
        <p:txBody>
          <a:bodyPr>
            <a:normAutofit/>
          </a:bodyPr>
          <a:lstStyle/>
          <a:p>
            <a:r>
              <a:rPr lang="en-US" sz="2400" b="1" dirty="0">
                <a:latin typeface="Century" panose="02040604050505020304" pitchFamily="18" charset="0"/>
              </a:rPr>
              <a:t>Host-to-Network Layer</a:t>
            </a:r>
          </a:p>
          <a:p>
            <a:pPr lvl="1"/>
            <a:r>
              <a:rPr lang="en-US" sz="2200" dirty="0">
                <a:latin typeface="Century" panose="02040604050505020304" pitchFamily="18" charset="0"/>
              </a:rPr>
              <a:t>Host has to </a:t>
            </a:r>
            <a:r>
              <a:rPr lang="en-US" sz="2200" dirty="0">
                <a:solidFill>
                  <a:srgbClr val="2B4785"/>
                </a:solidFill>
                <a:latin typeface="Century" panose="02040604050505020304" pitchFamily="18" charset="0"/>
              </a:rPr>
              <a:t>connect</a:t>
            </a:r>
            <a:r>
              <a:rPr lang="en-US" sz="2200" dirty="0">
                <a:latin typeface="Century" panose="02040604050505020304" pitchFamily="18" charset="0"/>
              </a:rPr>
              <a:t> to the network using some protocol so that it can send IP packets to it.</a:t>
            </a:r>
          </a:p>
          <a:p>
            <a:pPr lvl="1"/>
            <a:r>
              <a:rPr lang="en-US" sz="2200" dirty="0">
                <a:latin typeface="Century" panose="02040604050505020304" pitchFamily="18" charset="0"/>
              </a:rPr>
              <a:t>Protocol is not defined and varies from host to host and network to network – it is an interface </a:t>
            </a:r>
            <a:r>
              <a:rPr lang="en-US" sz="2200" dirty="0">
                <a:solidFill>
                  <a:srgbClr val="2B4785"/>
                </a:solidFill>
                <a:latin typeface="Century" panose="02040604050505020304" pitchFamily="18" charset="0"/>
              </a:rPr>
              <a:t>between hosts and transmission links</a:t>
            </a:r>
            <a:r>
              <a:rPr lang="en-US" sz="2200" dirty="0">
                <a:latin typeface="Century" panose="02040604050505020304" pitchFamily="18" charset="0"/>
              </a:rPr>
              <a:t>.</a:t>
            </a:r>
          </a:p>
          <a:p>
            <a:pPr lvl="1"/>
            <a:r>
              <a:rPr lang="en-US" sz="2000" dirty="0">
                <a:latin typeface="Century" panose="02040604050505020304" pitchFamily="18" charset="0"/>
              </a:rPr>
              <a:t>The model does not really say much about what happens here </a:t>
            </a:r>
          </a:p>
          <a:p>
            <a:r>
              <a:rPr lang="en-US" sz="2400" b="1" dirty="0">
                <a:latin typeface="Century" panose="02040604050505020304" pitchFamily="18" charset="0"/>
              </a:rPr>
              <a:t>Internet Layer </a:t>
            </a:r>
            <a:r>
              <a:rPr lang="en-US" sz="2400" dirty="0">
                <a:latin typeface="Century" panose="02040604050505020304" pitchFamily="18" charset="0"/>
              </a:rPr>
              <a:t>	</a:t>
            </a:r>
          </a:p>
          <a:p>
            <a:pPr lvl="1"/>
            <a:r>
              <a:rPr lang="en-US" sz="2200" dirty="0">
                <a:latin typeface="Century" panose="02040604050505020304" pitchFamily="18" charset="0"/>
              </a:rPr>
              <a:t>All requirements of DoD led to the choice of a </a:t>
            </a:r>
            <a:r>
              <a:rPr lang="en-US" sz="2200" dirty="0">
                <a:solidFill>
                  <a:srgbClr val="2B4785"/>
                </a:solidFill>
                <a:latin typeface="Century" panose="02040604050505020304" pitchFamily="18" charset="0"/>
              </a:rPr>
              <a:t>packet-switching n/w</a:t>
            </a:r>
            <a:r>
              <a:rPr lang="en-US" sz="2200" dirty="0">
                <a:latin typeface="Century" panose="02040604050505020304" pitchFamily="18" charset="0"/>
              </a:rPr>
              <a:t> based on a connectionless internetwork layer.</a:t>
            </a:r>
          </a:p>
          <a:p>
            <a:pPr lvl="1"/>
            <a:r>
              <a:rPr lang="en-US" sz="2200" dirty="0">
                <a:latin typeface="Century" panose="02040604050505020304" pitchFamily="18" charset="0"/>
              </a:rPr>
              <a:t>This layer is called so, because it is the key player that holds the whole architecture together.</a:t>
            </a:r>
          </a:p>
          <a:p>
            <a:pPr lvl="1"/>
            <a:r>
              <a:rPr lang="en-US" sz="2200" dirty="0">
                <a:latin typeface="Century" panose="02040604050505020304" pitchFamily="18" charset="0"/>
              </a:rPr>
              <a:t>It permit hosts to inject packets into any network and have them travel independently to the destination on a different network</a:t>
            </a:r>
          </a:p>
          <a:p>
            <a:pPr lvl="1"/>
            <a:r>
              <a:rPr lang="en-US" sz="2200" dirty="0">
                <a:latin typeface="Century" panose="02040604050505020304" pitchFamily="18" charset="0"/>
              </a:rPr>
              <a:t>They may arrive in a different order than they were sent, higher layers may rearrange them, if in-order delivery is desired.</a:t>
            </a:r>
            <a:endParaRPr lang="en-IN" dirty="0">
              <a:latin typeface="Century" panose="02040604050505020304" pitchFamily="18" charset="0"/>
            </a:endParaRPr>
          </a:p>
        </p:txBody>
      </p:sp>
      <p:sp>
        <p:nvSpPr>
          <p:cNvPr id="3" name="Slide Number Placeholder 2">
            <a:extLst>
              <a:ext uri="{FF2B5EF4-FFF2-40B4-BE49-F238E27FC236}">
                <a16:creationId xmlns="" xmlns:a16="http://schemas.microsoft.com/office/drawing/2014/main" id="{582F8665-B4B5-4531-A7B4-560D35CC1A96}"/>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 xmlns:p14="http://schemas.microsoft.com/office/powerpoint/2010/main" val="27586057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03EE6270-4E25-482E-8CB6-9707186D9F95}"/>
              </a:ext>
            </a:extLst>
          </p:cNvPr>
          <p:cNvSpPr>
            <a:spLocks noGrp="1"/>
          </p:cNvSpPr>
          <p:nvPr>
            <p:ph type="title"/>
          </p:nvPr>
        </p:nvSpPr>
        <p:spPr/>
        <p:txBody>
          <a:bodyPr/>
          <a:lstStyle/>
          <a:p>
            <a:r>
              <a:rPr lang="en-US" altLang="en-US" sz="3200" b="1" kern="0" dirty="0">
                <a:solidFill>
                  <a:srgbClr val="000000"/>
                </a:solidFill>
                <a:latin typeface="Cambria Math" pitchFamily="18" charset="0"/>
                <a:ea typeface="Cambria Math" pitchFamily="18" charset="0"/>
              </a:rPr>
              <a:t>TCP/IP Protocol Architecture…</a:t>
            </a:r>
            <a:endParaRPr lang="en-IN" dirty="0"/>
          </a:p>
        </p:txBody>
      </p:sp>
      <p:sp>
        <p:nvSpPr>
          <p:cNvPr id="5" name="Content Placeholder 4">
            <a:extLst>
              <a:ext uri="{FF2B5EF4-FFF2-40B4-BE49-F238E27FC236}">
                <a16:creationId xmlns="" xmlns:a16="http://schemas.microsoft.com/office/drawing/2014/main" id="{29A592B6-8B8D-466C-AFC4-BE4C5123553A}"/>
              </a:ext>
            </a:extLst>
          </p:cNvPr>
          <p:cNvSpPr>
            <a:spLocks noGrp="1"/>
          </p:cNvSpPr>
          <p:nvPr>
            <p:ph idx="1"/>
          </p:nvPr>
        </p:nvSpPr>
        <p:spPr/>
        <p:txBody>
          <a:bodyPr/>
          <a:lstStyle/>
          <a:p>
            <a:r>
              <a:rPr lang="en-US" sz="2400" b="1" dirty="0"/>
              <a:t>Internet Layer…</a:t>
            </a:r>
          </a:p>
          <a:p>
            <a:pPr lvl="1"/>
            <a:r>
              <a:rPr lang="en-US" dirty="0"/>
              <a:t>Internet layer defines an </a:t>
            </a:r>
            <a:r>
              <a:rPr lang="en-US" dirty="0">
                <a:solidFill>
                  <a:srgbClr val="2B4785"/>
                </a:solidFill>
              </a:rPr>
              <a:t>official packet format</a:t>
            </a:r>
            <a:r>
              <a:rPr lang="en-US" dirty="0"/>
              <a:t> and </a:t>
            </a:r>
            <a:r>
              <a:rPr lang="en-US" dirty="0">
                <a:solidFill>
                  <a:srgbClr val="2B4785"/>
                </a:solidFill>
              </a:rPr>
              <a:t>protocol</a:t>
            </a:r>
            <a:r>
              <a:rPr lang="en-US" dirty="0"/>
              <a:t> called </a:t>
            </a:r>
            <a:r>
              <a:rPr lang="en-US" b="1" dirty="0">
                <a:solidFill>
                  <a:srgbClr val="B52141"/>
                </a:solidFill>
              </a:rPr>
              <a:t>IP</a:t>
            </a:r>
            <a:r>
              <a:rPr lang="en-US" dirty="0"/>
              <a:t> </a:t>
            </a:r>
            <a:r>
              <a:rPr lang="en-US" dirty="0">
                <a:solidFill>
                  <a:srgbClr val="B52141"/>
                </a:solidFill>
              </a:rPr>
              <a:t>(Internet Protocol) </a:t>
            </a:r>
            <a:endParaRPr lang="en-US" dirty="0"/>
          </a:p>
          <a:p>
            <a:pPr lvl="1"/>
            <a:r>
              <a:rPr lang="en-IN" dirty="0"/>
              <a:t>plus a companion protocol called </a:t>
            </a:r>
            <a:r>
              <a:rPr lang="en-IN" b="1" dirty="0"/>
              <a:t>ICMP </a:t>
            </a:r>
            <a:r>
              <a:rPr lang="en-IN" dirty="0"/>
              <a:t>(</a:t>
            </a:r>
            <a:r>
              <a:rPr lang="en-IN" b="1" dirty="0"/>
              <a:t>Internet Control </a:t>
            </a:r>
            <a:r>
              <a:rPr lang="en-US" b="1" dirty="0"/>
              <a:t>Message Protocol</a:t>
            </a:r>
            <a:r>
              <a:rPr lang="en-US" dirty="0"/>
              <a:t>) that helps it function.</a:t>
            </a:r>
          </a:p>
          <a:p>
            <a:pPr lvl="1"/>
            <a:r>
              <a:rPr lang="en-US" dirty="0"/>
              <a:t>The job of the internet layer is to deliver IP packets where they are supposed to go. </a:t>
            </a:r>
          </a:p>
          <a:p>
            <a:pPr lvl="1"/>
            <a:r>
              <a:rPr lang="en-US" dirty="0">
                <a:solidFill>
                  <a:srgbClr val="2B4785"/>
                </a:solidFill>
              </a:rPr>
              <a:t>Packet routing and</a:t>
            </a:r>
            <a:r>
              <a:rPr lang="en-US" dirty="0"/>
              <a:t> </a:t>
            </a:r>
            <a:r>
              <a:rPr lang="en-US" dirty="0">
                <a:solidFill>
                  <a:srgbClr val="2B4785"/>
                </a:solidFill>
              </a:rPr>
              <a:t>avoiding congestion </a:t>
            </a:r>
            <a:r>
              <a:rPr lang="en-US" dirty="0"/>
              <a:t>are the major issues here.</a:t>
            </a:r>
          </a:p>
          <a:p>
            <a:pPr lvl="1"/>
            <a:r>
              <a:rPr lang="en-US" dirty="0"/>
              <a:t>For these reasons, it is reasonable to say that the TCP/IP internet layer is </a:t>
            </a:r>
            <a:r>
              <a:rPr lang="en-US" dirty="0">
                <a:solidFill>
                  <a:srgbClr val="2B4785"/>
                </a:solidFill>
              </a:rPr>
              <a:t>similar in functionality to the OSI network layer.</a:t>
            </a:r>
            <a:endParaRPr lang="en-US" dirty="0"/>
          </a:p>
        </p:txBody>
      </p:sp>
      <p:sp>
        <p:nvSpPr>
          <p:cNvPr id="3" name="Slide Number Placeholder 2">
            <a:extLst>
              <a:ext uri="{FF2B5EF4-FFF2-40B4-BE49-F238E27FC236}">
                <a16:creationId xmlns="" xmlns:a16="http://schemas.microsoft.com/office/drawing/2014/main" id="{582F8665-B4B5-4531-A7B4-560D35CC1A96}"/>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 xmlns:p14="http://schemas.microsoft.com/office/powerpoint/2010/main" val="1818421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590F44-2024-416B-BADA-CA27106729E4}"/>
              </a:ext>
            </a:extLst>
          </p:cNvPr>
          <p:cNvSpPr>
            <a:spLocks noGrp="1"/>
          </p:cNvSpPr>
          <p:nvPr>
            <p:ph type="title"/>
          </p:nvPr>
        </p:nvSpPr>
        <p:spPr/>
        <p:txBody>
          <a:bodyPr/>
          <a:lstStyle/>
          <a:p>
            <a:r>
              <a:rPr lang="en-US" altLang="en-US" sz="3200" b="1" kern="0" dirty="0">
                <a:solidFill>
                  <a:srgbClr val="000000"/>
                </a:solidFill>
                <a:latin typeface="Cambria Math" pitchFamily="18" charset="0"/>
                <a:ea typeface="Cambria Math" pitchFamily="18" charset="0"/>
              </a:rPr>
              <a:t>TCP/IP Protocol Architecture…</a:t>
            </a:r>
            <a:endParaRPr lang="en-IN" dirty="0"/>
          </a:p>
        </p:txBody>
      </p:sp>
      <p:sp>
        <p:nvSpPr>
          <p:cNvPr id="3" name="Content Placeholder 2">
            <a:extLst>
              <a:ext uri="{FF2B5EF4-FFF2-40B4-BE49-F238E27FC236}">
                <a16:creationId xmlns="" xmlns:a16="http://schemas.microsoft.com/office/drawing/2014/main" id="{7365417E-ECA5-49CA-ADEC-49BF85B4831C}"/>
              </a:ext>
            </a:extLst>
          </p:cNvPr>
          <p:cNvSpPr>
            <a:spLocks noGrp="1"/>
          </p:cNvSpPr>
          <p:nvPr>
            <p:ph idx="1"/>
          </p:nvPr>
        </p:nvSpPr>
        <p:spPr/>
        <p:txBody>
          <a:bodyPr>
            <a:normAutofit lnSpcReduction="10000"/>
          </a:bodyPr>
          <a:lstStyle/>
          <a:p>
            <a:r>
              <a:rPr lang="en-US" sz="2400" b="1" dirty="0"/>
              <a:t>Transport Layer 	</a:t>
            </a:r>
          </a:p>
          <a:p>
            <a:pPr lvl="1"/>
            <a:r>
              <a:rPr lang="en-US" sz="2200" dirty="0"/>
              <a:t>designed to allow peer entities on the source and destination hosts to carry on a conversation. </a:t>
            </a:r>
            <a:r>
              <a:rPr lang="en-US" sz="2200" i="1" dirty="0"/>
              <a:t>(as in OSI Transport layer)</a:t>
            </a:r>
          </a:p>
          <a:p>
            <a:r>
              <a:rPr lang="en-US" sz="2400" dirty="0"/>
              <a:t>Two end-to-end transport protocols 	</a:t>
            </a:r>
          </a:p>
          <a:p>
            <a:pPr lvl="1"/>
            <a:r>
              <a:rPr lang="en-US" sz="2200" b="1" dirty="0">
                <a:solidFill>
                  <a:srgbClr val="2B4785"/>
                </a:solidFill>
              </a:rPr>
              <a:t>TCP</a:t>
            </a:r>
            <a:r>
              <a:rPr lang="en-US" sz="2200" dirty="0"/>
              <a:t> (Transmission Control Protocol)</a:t>
            </a:r>
          </a:p>
          <a:p>
            <a:pPr lvl="1"/>
            <a:r>
              <a:rPr lang="en-US" sz="2200" b="1" dirty="0">
                <a:solidFill>
                  <a:srgbClr val="2B4785"/>
                </a:solidFill>
              </a:rPr>
              <a:t>UDP</a:t>
            </a:r>
            <a:r>
              <a:rPr lang="en-US" sz="2200" dirty="0"/>
              <a:t> (User Datagram Protocol) 	</a:t>
            </a:r>
          </a:p>
          <a:p>
            <a:r>
              <a:rPr lang="en-US" sz="2400" b="1" dirty="0"/>
              <a:t>UDP - </a:t>
            </a:r>
            <a:r>
              <a:rPr lang="en-US" sz="2400" dirty="0">
                <a:solidFill>
                  <a:srgbClr val="2B4785"/>
                </a:solidFill>
              </a:rPr>
              <a:t>Unreliable</a:t>
            </a:r>
            <a:r>
              <a:rPr lang="en-US" sz="2400" dirty="0"/>
              <a:t> </a:t>
            </a:r>
            <a:r>
              <a:rPr lang="en-US" sz="2400" dirty="0">
                <a:solidFill>
                  <a:srgbClr val="2B4785"/>
                </a:solidFill>
              </a:rPr>
              <a:t>connectionless</a:t>
            </a:r>
            <a:r>
              <a:rPr lang="en-US" sz="2400" dirty="0"/>
              <a:t> protocol.</a:t>
            </a:r>
          </a:p>
          <a:p>
            <a:pPr lvl="1"/>
            <a:r>
              <a:rPr lang="en-US" dirty="0"/>
              <a:t>For applications that do not want </a:t>
            </a:r>
            <a:r>
              <a:rPr lang="en-US" dirty="0">
                <a:solidFill>
                  <a:srgbClr val="2B4785"/>
                </a:solidFill>
              </a:rPr>
              <a:t>TCP's sequencing or flow control </a:t>
            </a:r>
            <a:r>
              <a:rPr lang="en-US" dirty="0"/>
              <a:t>and wish to </a:t>
            </a:r>
            <a:r>
              <a:rPr lang="en-US" dirty="0">
                <a:solidFill>
                  <a:srgbClr val="2B4785"/>
                </a:solidFill>
              </a:rPr>
              <a:t>provide their own</a:t>
            </a:r>
            <a:r>
              <a:rPr lang="en-US" dirty="0"/>
              <a:t>.</a:t>
            </a:r>
          </a:p>
          <a:p>
            <a:pPr lvl="1"/>
            <a:r>
              <a:rPr lang="en-US" dirty="0"/>
              <a:t>Also widely used for one-shot, client-server-type request-reply queries and </a:t>
            </a:r>
          </a:p>
          <a:p>
            <a:pPr lvl="1"/>
            <a:r>
              <a:rPr lang="en-US" dirty="0"/>
              <a:t>applications in which prompt delivery is more important than accurate delivery, such as </a:t>
            </a:r>
            <a:r>
              <a:rPr lang="en-US" dirty="0">
                <a:solidFill>
                  <a:srgbClr val="2B4785"/>
                </a:solidFill>
              </a:rPr>
              <a:t>transmitting speech or video</a:t>
            </a:r>
            <a:r>
              <a:rPr lang="en-US" dirty="0"/>
              <a:t>.</a:t>
            </a:r>
          </a:p>
        </p:txBody>
      </p:sp>
      <p:sp>
        <p:nvSpPr>
          <p:cNvPr id="4" name="Slide Number Placeholder 3">
            <a:extLst>
              <a:ext uri="{FF2B5EF4-FFF2-40B4-BE49-F238E27FC236}">
                <a16:creationId xmlns="" xmlns:a16="http://schemas.microsoft.com/office/drawing/2014/main" id="{668D765C-1C00-4B76-8E85-FF7AFAD15500}"/>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 xmlns:p14="http://schemas.microsoft.com/office/powerpoint/2010/main" val="3172829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590F44-2024-416B-BADA-CA27106729E4}"/>
              </a:ext>
            </a:extLst>
          </p:cNvPr>
          <p:cNvSpPr>
            <a:spLocks noGrp="1"/>
          </p:cNvSpPr>
          <p:nvPr>
            <p:ph type="title"/>
          </p:nvPr>
        </p:nvSpPr>
        <p:spPr/>
        <p:txBody>
          <a:bodyPr/>
          <a:lstStyle/>
          <a:p>
            <a:r>
              <a:rPr lang="en-US" altLang="en-US" sz="3200" b="1" kern="0" dirty="0">
                <a:solidFill>
                  <a:srgbClr val="000000"/>
                </a:solidFill>
                <a:latin typeface="Cambria Math" pitchFamily="18" charset="0"/>
                <a:ea typeface="Cambria Math" pitchFamily="18" charset="0"/>
              </a:rPr>
              <a:t>TCP/IP Protocol Architecture…</a:t>
            </a:r>
            <a:endParaRPr lang="en-IN" dirty="0"/>
          </a:p>
        </p:txBody>
      </p:sp>
      <p:sp>
        <p:nvSpPr>
          <p:cNvPr id="3" name="Content Placeholder 2">
            <a:extLst>
              <a:ext uri="{FF2B5EF4-FFF2-40B4-BE49-F238E27FC236}">
                <a16:creationId xmlns="" xmlns:a16="http://schemas.microsoft.com/office/drawing/2014/main" id="{7365417E-ECA5-49CA-ADEC-49BF85B4831C}"/>
              </a:ext>
            </a:extLst>
          </p:cNvPr>
          <p:cNvSpPr>
            <a:spLocks noGrp="1"/>
          </p:cNvSpPr>
          <p:nvPr>
            <p:ph idx="1"/>
          </p:nvPr>
        </p:nvSpPr>
        <p:spPr/>
        <p:txBody>
          <a:bodyPr/>
          <a:lstStyle/>
          <a:p>
            <a:r>
              <a:rPr lang="en-US" sz="2400" b="1" dirty="0"/>
              <a:t>TCP</a:t>
            </a:r>
            <a:r>
              <a:rPr lang="en-US" sz="2400" dirty="0"/>
              <a:t> </a:t>
            </a:r>
          </a:p>
          <a:p>
            <a:pPr lvl="1"/>
            <a:r>
              <a:rPr lang="en-US" dirty="0">
                <a:solidFill>
                  <a:srgbClr val="2B4785"/>
                </a:solidFill>
              </a:rPr>
              <a:t>Reliable</a:t>
            </a:r>
            <a:r>
              <a:rPr lang="en-US" dirty="0"/>
              <a:t> </a:t>
            </a:r>
            <a:r>
              <a:rPr lang="en-US" dirty="0">
                <a:solidFill>
                  <a:srgbClr val="2B4785"/>
                </a:solidFill>
              </a:rPr>
              <a:t>connection-oriented protocol.</a:t>
            </a:r>
          </a:p>
          <a:p>
            <a:pPr lvl="1"/>
            <a:r>
              <a:rPr lang="en-US" dirty="0"/>
              <a:t>Allows a </a:t>
            </a:r>
            <a:r>
              <a:rPr lang="en-US" dirty="0">
                <a:solidFill>
                  <a:srgbClr val="2B4785"/>
                </a:solidFill>
              </a:rPr>
              <a:t>byte stream </a:t>
            </a:r>
            <a:r>
              <a:rPr lang="en-US" dirty="0"/>
              <a:t>on one machine to be </a:t>
            </a:r>
            <a:r>
              <a:rPr lang="en-US" dirty="0">
                <a:solidFill>
                  <a:srgbClr val="2B4785"/>
                </a:solidFill>
              </a:rPr>
              <a:t>delivered without error </a:t>
            </a:r>
            <a:r>
              <a:rPr lang="en-US" dirty="0"/>
              <a:t>on any other machine in the internet. </a:t>
            </a:r>
          </a:p>
          <a:p>
            <a:pPr lvl="1"/>
            <a:r>
              <a:rPr lang="en-US" dirty="0"/>
              <a:t>It </a:t>
            </a:r>
            <a:r>
              <a:rPr lang="en-US" dirty="0">
                <a:solidFill>
                  <a:srgbClr val="2B4785"/>
                </a:solidFill>
              </a:rPr>
              <a:t>fragments</a:t>
            </a:r>
            <a:r>
              <a:rPr lang="en-US" dirty="0"/>
              <a:t> the incoming byte stream </a:t>
            </a:r>
            <a:r>
              <a:rPr lang="en-US" dirty="0">
                <a:solidFill>
                  <a:srgbClr val="2B4785"/>
                </a:solidFill>
              </a:rPr>
              <a:t>into discrete messages </a:t>
            </a:r>
            <a:r>
              <a:rPr lang="en-US" dirty="0"/>
              <a:t>and passes each one on to the internet layer. </a:t>
            </a:r>
          </a:p>
          <a:p>
            <a:pPr lvl="1"/>
            <a:r>
              <a:rPr lang="en-US" dirty="0"/>
              <a:t>At the destination, the receiving TCP process reassembles the received messages into the output stream. </a:t>
            </a:r>
          </a:p>
          <a:p>
            <a:pPr lvl="1"/>
            <a:r>
              <a:rPr lang="en-US" dirty="0"/>
              <a:t>TCP also handles </a:t>
            </a:r>
            <a:r>
              <a:rPr lang="en-US" dirty="0">
                <a:solidFill>
                  <a:srgbClr val="2B4785"/>
                </a:solidFill>
              </a:rPr>
              <a:t>flow control </a:t>
            </a:r>
            <a:r>
              <a:rPr lang="en-US" dirty="0"/>
              <a:t>to make sure a fast sender cannot swamp a slow receiver with more messages than it can handle.</a:t>
            </a:r>
            <a:endParaRPr lang="en-IN" dirty="0"/>
          </a:p>
        </p:txBody>
      </p:sp>
      <p:sp>
        <p:nvSpPr>
          <p:cNvPr id="4" name="Slide Number Placeholder 3">
            <a:extLst>
              <a:ext uri="{FF2B5EF4-FFF2-40B4-BE49-F238E27FC236}">
                <a16:creationId xmlns="" xmlns:a16="http://schemas.microsoft.com/office/drawing/2014/main" id="{668D765C-1C00-4B76-8E85-FF7AFAD15500}"/>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 xmlns:p14="http://schemas.microsoft.com/office/powerpoint/2010/main" val="1823355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590F44-2024-416B-BADA-CA27106729E4}"/>
              </a:ext>
            </a:extLst>
          </p:cNvPr>
          <p:cNvSpPr>
            <a:spLocks noGrp="1"/>
          </p:cNvSpPr>
          <p:nvPr>
            <p:ph type="title"/>
          </p:nvPr>
        </p:nvSpPr>
        <p:spPr/>
        <p:txBody>
          <a:bodyPr/>
          <a:lstStyle/>
          <a:p>
            <a:r>
              <a:rPr lang="en-US" altLang="en-US" sz="3200" b="1" kern="0" dirty="0">
                <a:solidFill>
                  <a:srgbClr val="000000"/>
                </a:solidFill>
                <a:latin typeface="Cambria Math" pitchFamily="18" charset="0"/>
                <a:ea typeface="Cambria Math" pitchFamily="18" charset="0"/>
              </a:rPr>
              <a:t>TCP/IP Protocol Architecture…</a:t>
            </a:r>
            <a:endParaRPr lang="en-IN" dirty="0"/>
          </a:p>
        </p:txBody>
      </p:sp>
      <p:sp>
        <p:nvSpPr>
          <p:cNvPr id="4" name="Slide Number Placeholder 3">
            <a:extLst>
              <a:ext uri="{FF2B5EF4-FFF2-40B4-BE49-F238E27FC236}">
                <a16:creationId xmlns="" xmlns:a16="http://schemas.microsoft.com/office/drawing/2014/main" id="{668D765C-1C00-4B76-8E85-FF7AFAD15500}"/>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7" name="TextBox 6">
            <a:extLst>
              <a:ext uri="{FF2B5EF4-FFF2-40B4-BE49-F238E27FC236}">
                <a16:creationId xmlns="" xmlns:a16="http://schemas.microsoft.com/office/drawing/2014/main" id="{179B1BA1-8BA2-47AE-A11C-1114A1CDB06F}"/>
              </a:ext>
            </a:extLst>
          </p:cNvPr>
          <p:cNvSpPr txBox="1"/>
          <p:nvPr/>
        </p:nvSpPr>
        <p:spPr>
          <a:xfrm>
            <a:off x="2971800" y="5121463"/>
            <a:ext cx="7162800" cy="830997"/>
          </a:xfrm>
          <a:prstGeom prst="rect">
            <a:avLst/>
          </a:prstGeom>
          <a:noFill/>
        </p:spPr>
        <p:txBody>
          <a:bodyPr wrap="square">
            <a:spAutoFit/>
          </a:bodyPr>
          <a:lstStyle/>
          <a:p>
            <a:r>
              <a:rPr lang="en-US" sz="2400" dirty="0">
                <a:solidFill>
                  <a:srgbClr val="B52141"/>
                </a:solidFill>
                <a:latin typeface="Tw Cen MT" panose="020B0602020104020603" pitchFamily="34" charset="0"/>
              </a:rPr>
              <a:t>Protocols and networks in the TCP/IP model initially.</a:t>
            </a:r>
          </a:p>
        </p:txBody>
      </p:sp>
      <p:pic>
        <p:nvPicPr>
          <p:cNvPr id="11" name="Content Placeholder 10">
            <a:extLst>
              <a:ext uri="{FF2B5EF4-FFF2-40B4-BE49-F238E27FC236}">
                <a16:creationId xmlns="" xmlns:a16="http://schemas.microsoft.com/office/drawing/2014/main" id="{98CDE5DD-81D9-4127-94EC-51203D8DE684}"/>
              </a:ext>
            </a:extLst>
          </p:cNvPr>
          <p:cNvPicPr>
            <a:picLocks noGrp="1" noChangeAspect="1"/>
          </p:cNvPicPr>
          <p:nvPr>
            <p:ph idx="1"/>
          </p:nvPr>
        </p:nvPicPr>
        <p:blipFill>
          <a:blip r:embed="rId2"/>
          <a:stretch>
            <a:fillRect/>
          </a:stretch>
        </p:blipFill>
        <p:spPr>
          <a:xfrm>
            <a:off x="1907005" y="1471051"/>
            <a:ext cx="8686800" cy="3603669"/>
          </a:xfrm>
        </p:spPr>
      </p:pic>
    </p:spTree>
    <p:extLst>
      <p:ext uri="{BB962C8B-B14F-4D97-AF65-F5344CB8AC3E}">
        <p14:creationId xmlns="" xmlns:p14="http://schemas.microsoft.com/office/powerpoint/2010/main" val="29243712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2A3D0E-95AC-437F-953C-E16F500E4E10}"/>
              </a:ext>
            </a:extLst>
          </p:cNvPr>
          <p:cNvSpPr>
            <a:spLocks noGrp="1"/>
          </p:cNvSpPr>
          <p:nvPr>
            <p:ph type="title"/>
          </p:nvPr>
        </p:nvSpPr>
        <p:spPr/>
        <p:txBody>
          <a:bodyPr/>
          <a:lstStyle/>
          <a:p>
            <a:r>
              <a:rPr lang="en-US" sz="3200" dirty="0"/>
              <a:t>Comparison of the OSI and TCP/IP Models</a:t>
            </a:r>
            <a:endParaRPr lang="en-IN" sz="3200" dirty="0"/>
          </a:p>
        </p:txBody>
      </p:sp>
      <p:sp>
        <p:nvSpPr>
          <p:cNvPr id="3" name="Content Placeholder 2">
            <a:extLst>
              <a:ext uri="{FF2B5EF4-FFF2-40B4-BE49-F238E27FC236}">
                <a16:creationId xmlns="" xmlns:a16="http://schemas.microsoft.com/office/drawing/2014/main" id="{42959551-8D49-4ADA-8CEA-A8512612ACC0}"/>
              </a:ext>
            </a:extLst>
          </p:cNvPr>
          <p:cNvSpPr>
            <a:spLocks noGrp="1"/>
          </p:cNvSpPr>
          <p:nvPr>
            <p:ph idx="1"/>
          </p:nvPr>
        </p:nvSpPr>
        <p:spPr/>
        <p:txBody>
          <a:bodyPr/>
          <a:lstStyle/>
          <a:p>
            <a:r>
              <a:rPr lang="en-US" b="1" dirty="0">
                <a:solidFill>
                  <a:srgbClr val="B52141"/>
                </a:solidFill>
              </a:rPr>
              <a:t>Similarities</a:t>
            </a:r>
            <a:r>
              <a:rPr lang="en-US" sz="2400" dirty="0"/>
              <a:t>:</a:t>
            </a:r>
          </a:p>
          <a:p>
            <a:pPr lvl="1"/>
            <a:r>
              <a:rPr lang="en-US" dirty="0"/>
              <a:t>The OSI and TCP/IP reference models have much in common. </a:t>
            </a:r>
          </a:p>
          <a:p>
            <a:pPr lvl="1"/>
            <a:r>
              <a:rPr lang="en-US" dirty="0"/>
              <a:t>Both are based on the concept of </a:t>
            </a:r>
            <a:r>
              <a:rPr lang="en-US" dirty="0">
                <a:solidFill>
                  <a:srgbClr val="2B4785"/>
                </a:solidFill>
              </a:rPr>
              <a:t>a stack of independent protocols. </a:t>
            </a:r>
          </a:p>
          <a:p>
            <a:pPr lvl="1"/>
            <a:r>
              <a:rPr lang="en-US" dirty="0"/>
              <a:t>Also, the </a:t>
            </a:r>
            <a:r>
              <a:rPr lang="en-US" dirty="0">
                <a:solidFill>
                  <a:srgbClr val="2B4785"/>
                </a:solidFill>
              </a:rPr>
              <a:t>functionality of the layers is roughly similar</a:t>
            </a:r>
            <a:r>
              <a:rPr lang="en-US" dirty="0"/>
              <a:t>. </a:t>
            </a:r>
          </a:p>
          <a:p>
            <a:pPr lvl="1"/>
            <a:r>
              <a:rPr lang="en-US" dirty="0" err="1"/>
              <a:t>Eg.</a:t>
            </a:r>
            <a:r>
              <a:rPr lang="en-US" dirty="0"/>
              <a:t>, in both models the layers up through and including the transport layer are there to provide an end-to-end, network-independent transport service to processes wishing to communicate. These layers form the transport provider. </a:t>
            </a:r>
          </a:p>
          <a:p>
            <a:pPr lvl="1"/>
            <a:r>
              <a:rPr lang="en-US" dirty="0"/>
              <a:t>Again in both models, the layers above transport are application-oriented users of the transport service.</a:t>
            </a:r>
          </a:p>
        </p:txBody>
      </p:sp>
      <p:sp>
        <p:nvSpPr>
          <p:cNvPr id="4" name="Slide Number Placeholder 3">
            <a:extLst>
              <a:ext uri="{FF2B5EF4-FFF2-40B4-BE49-F238E27FC236}">
                <a16:creationId xmlns="" xmlns:a16="http://schemas.microsoft.com/office/drawing/2014/main" id="{ED62420B-A173-42F1-B1BD-A29ED61C11A9}"/>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 xmlns:p14="http://schemas.microsoft.com/office/powerpoint/2010/main" val="21469536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2A3D0E-95AC-437F-953C-E16F500E4E10}"/>
              </a:ext>
            </a:extLst>
          </p:cNvPr>
          <p:cNvSpPr>
            <a:spLocks noGrp="1"/>
          </p:cNvSpPr>
          <p:nvPr>
            <p:ph type="title"/>
          </p:nvPr>
        </p:nvSpPr>
        <p:spPr/>
        <p:txBody>
          <a:bodyPr/>
          <a:lstStyle/>
          <a:p>
            <a:r>
              <a:rPr lang="en-US" sz="2800" dirty="0"/>
              <a:t>Comparison of the OSI and TCP/IP Models…</a:t>
            </a:r>
            <a:endParaRPr lang="en-IN" sz="2800" dirty="0"/>
          </a:p>
        </p:txBody>
      </p:sp>
      <p:sp>
        <p:nvSpPr>
          <p:cNvPr id="3" name="Content Placeholder 2">
            <a:extLst>
              <a:ext uri="{FF2B5EF4-FFF2-40B4-BE49-F238E27FC236}">
                <a16:creationId xmlns="" xmlns:a16="http://schemas.microsoft.com/office/drawing/2014/main" id="{42959551-8D49-4ADA-8CEA-A8512612ACC0}"/>
              </a:ext>
            </a:extLst>
          </p:cNvPr>
          <p:cNvSpPr>
            <a:spLocks noGrp="1"/>
          </p:cNvSpPr>
          <p:nvPr>
            <p:ph idx="1"/>
          </p:nvPr>
        </p:nvSpPr>
        <p:spPr/>
        <p:txBody>
          <a:bodyPr>
            <a:normAutofit fontScale="92500" lnSpcReduction="20000"/>
          </a:bodyPr>
          <a:lstStyle/>
          <a:p>
            <a:r>
              <a:rPr lang="en-US" b="1" dirty="0">
                <a:solidFill>
                  <a:srgbClr val="B52141"/>
                </a:solidFill>
              </a:rPr>
              <a:t>Differences</a:t>
            </a:r>
            <a:r>
              <a:rPr lang="en-US" sz="2400" dirty="0"/>
              <a:t>:</a:t>
            </a:r>
          </a:p>
          <a:p>
            <a:r>
              <a:rPr lang="en-US" sz="2400" dirty="0"/>
              <a:t>There are three important concepts for OSI model</a:t>
            </a:r>
          </a:p>
          <a:p>
            <a:pPr marL="265113" lvl="1" indent="0">
              <a:buNone/>
            </a:pPr>
            <a:r>
              <a:rPr lang="en-US" sz="2200" b="1" dirty="0">
                <a:solidFill>
                  <a:srgbClr val="2B4785"/>
                </a:solidFill>
              </a:rPr>
              <a:t>  1. Services	2. Interfaces	3.Protocols</a:t>
            </a:r>
          </a:p>
          <a:p>
            <a:r>
              <a:rPr lang="en-US" sz="2400" dirty="0"/>
              <a:t>Each layer performs some </a:t>
            </a:r>
            <a:r>
              <a:rPr lang="en-US" sz="2400" b="1" dirty="0">
                <a:solidFill>
                  <a:srgbClr val="2B4785"/>
                </a:solidFill>
              </a:rPr>
              <a:t>services</a:t>
            </a:r>
            <a:r>
              <a:rPr lang="en-US" sz="2400" dirty="0"/>
              <a:t> for the layer above it. </a:t>
            </a:r>
          </a:p>
          <a:p>
            <a:pPr lvl="1"/>
            <a:r>
              <a:rPr lang="en-US" sz="2200" dirty="0"/>
              <a:t>It tells what the layer does. It defines the layer’s semantics. </a:t>
            </a:r>
            <a:r>
              <a:rPr lang="en-US" sz="2000" i="1" dirty="0"/>
              <a:t>(not how entities above it access it or how the layer works.)</a:t>
            </a:r>
            <a:endParaRPr lang="en-US" sz="2200" i="1" dirty="0"/>
          </a:p>
          <a:p>
            <a:r>
              <a:rPr lang="en-US" sz="2400" dirty="0"/>
              <a:t>A layer's </a:t>
            </a:r>
            <a:r>
              <a:rPr lang="en-US" sz="2400" b="1" dirty="0">
                <a:solidFill>
                  <a:srgbClr val="2B4785"/>
                </a:solidFill>
              </a:rPr>
              <a:t>interface</a:t>
            </a:r>
            <a:r>
              <a:rPr lang="en-US" sz="2400" dirty="0"/>
              <a:t> tells the processes above it, how to access it.</a:t>
            </a:r>
          </a:p>
          <a:p>
            <a:pPr lvl="1"/>
            <a:r>
              <a:rPr lang="en-US" sz="2200" dirty="0"/>
              <a:t>It specifies what the parameters are and what results to except.</a:t>
            </a:r>
          </a:p>
          <a:p>
            <a:r>
              <a:rPr lang="en-US" sz="2400" dirty="0"/>
              <a:t>The </a:t>
            </a:r>
            <a:r>
              <a:rPr lang="en-US" sz="2400" b="1" dirty="0">
                <a:solidFill>
                  <a:srgbClr val="2B4785"/>
                </a:solidFill>
              </a:rPr>
              <a:t>peer protocols </a:t>
            </a:r>
            <a:r>
              <a:rPr lang="en-US" sz="2400" dirty="0"/>
              <a:t>used in a layer are the layer's own business. </a:t>
            </a:r>
          </a:p>
          <a:p>
            <a:pPr lvl="1"/>
            <a:r>
              <a:rPr lang="en-US" sz="2200" dirty="0"/>
              <a:t>It can use any protocols it wants to. </a:t>
            </a:r>
          </a:p>
          <a:p>
            <a:pPr lvl="1"/>
            <a:r>
              <a:rPr lang="en-US" sz="2200" dirty="0"/>
              <a:t>It can also change them without affecting software in higher layers.</a:t>
            </a:r>
          </a:p>
          <a:p>
            <a:r>
              <a:rPr lang="en-US" sz="2400" b="1" dirty="0"/>
              <a:t>OSI model makes the distinction between these three concepts explicit where as the TCP/IP model doesn’t. </a:t>
            </a:r>
            <a:endParaRPr lang="en-IN" sz="2400" b="1" dirty="0"/>
          </a:p>
        </p:txBody>
      </p:sp>
      <p:sp>
        <p:nvSpPr>
          <p:cNvPr id="4" name="Slide Number Placeholder 3">
            <a:extLst>
              <a:ext uri="{FF2B5EF4-FFF2-40B4-BE49-F238E27FC236}">
                <a16:creationId xmlns="" xmlns:a16="http://schemas.microsoft.com/office/drawing/2014/main" id="{ED62420B-A173-42F1-B1BD-A29ED61C11A9}"/>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 xmlns:p14="http://schemas.microsoft.com/office/powerpoint/2010/main" val="3576030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2A3D0E-95AC-437F-953C-E16F500E4E10}"/>
              </a:ext>
            </a:extLst>
          </p:cNvPr>
          <p:cNvSpPr>
            <a:spLocks noGrp="1"/>
          </p:cNvSpPr>
          <p:nvPr>
            <p:ph type="title"/>
          </p:nvPr>
        </p:nvSpPr>
        <p:spPr/>
        <p:txBody>
          <a:bodyPr/>
          <a:lstStyle/>
          <a:p>
            <a:r>
              <a:rPr lang="en-US" sz="2800" dirty="0"/>
              <a:t>Comparison of the OSI and TCP/IP Models…</a:t>
            </a:r>
            <a:endParaRPr lang="en-IN" sz="2800" dirty="0"/>
          </a:p>
        </p:txBody>
      </p:sp>
      <p:sp>
        <p:nvSpPr>
          <p:cNvPr id="3" name="Content Placeholder 2">
            <a:extLst>
              <a:ext uri="{FF2B5EF4-FFF2-40B4-BE49-F238E27FC236}">
                <a16:creationId xmlns="" xmlns:a16="http://schemas.microsoft.com/office/drawing/2014/main" id="{42959551-8D49-4ADA-8CEA-A8512612ACC0}"/>
              </a:ext>
            </a:extLst>
          </p:cNvPr>
          <p:cNvSpPr>
            <a:spLocks noGrp="1"/>
          </p:cNvSpPr>
          <p:nvPr>
            <p:ph idx="1"/>
          </p:nvPr>
        </p:nvSpPr>
        <p:spPr/>
        <p:txBody>
          <a:bodyPr/>
          <a:lstStyle/>
          <a:p>
            <a:r>
              <a:rPr lang="en-US" sz="2400" dirty="0"/>
              <a:t>The OSI reference model was devised before the corresponding protocols were invented. So, the model was not biased toward one particular set of protocols; it is quite general.</a:t>
            </a:r>
          </a:p>
          <a:p>
            <a:r>
              <a:rPr lang="en-US" sz="2400" dirty="0"/>
              <a:t>With TCP/IP, the protocols came first, and the model was a description of the existing protocols.</a:t>
            </a:r>
          </a:p>
          <a:p>
            <a:pPr lvl="1"/>
            <a:r>
              <a:rPr lang="en-US" sz="2200" dirty="0"/>
              <a:t>The model did not fit any other protocol stacks. Consequently, it was not especially useful for describing other, non-TCP/IP networks.</a:t>
            </a:r>
          </a:p>
          <a:p>
            <a:r>
              <a:rPr lang="en-US" sz="2400" dirty="0"/>
              <a:t>The protocols in the OSI model are better hidden than in the TCP/IP model and can be replaced relatively easily as the technology changes.</a:t>
            </a:r>
          </a:p>
          <a:p>
            <a:endParaRPr lang="en-US" sz="2400" dirty="0"/>
          </a:p>
        </p:txBody>
      </p:sp>
      <p:sp>
        <p:nvSpPr>
          <p:cNvPr id="4" name="Slide Number Placeholder 3">
            <a:extLst>
              <a:ext uri="{FF2B5EF4-FFF2-40B4-BE49-F238E27FC236}">
                <a16:creationId xmlns="" xmlns:a16="http://schemas.microsoft.com/office/drawing/2014/main" id="{ED62420B-A173-42F1-B1BD-A29ED61C11A9}"/>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 xmlns:p14="http://schemas.microsoft.com/office/powerpoint/2010/main" val="184604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2A3D0E-95AC-437F-953C-E16F500E4E10}"/>
              </a:ext>
            </a:extLst>
          </p:cNvPr>
          <p:cNvSpPr>
            <a:spLocks noGrp="1"/>
          </p:cNvSpPr>
          <p:nvPr>
            <p:ph type="title"/>
          </p:nvPr>
        </p:nvSpPr>
        <p:spPr>
          <a:xfrm>
            <a:off x="870670" y="-47141"/>
            <a:ext cx="10515600" cy="1325563"/>
          </a:xfrm>
        </p:spPr>
        <p:txBody>
          <a:bodyPr/>
          <a:lstStyle/>
          <a:p>
            <a:r>
              <a:rPr lang="en-US" sz="2800" dirty="0"/>
              <a:t>Comparison of the OSI and TCP/IP Models…</a:t>
            </a:r>
            <a:endParaRPr lang="en-IN" sz="2800" dirty="0"/>
          </a:p>
        </p:txBody>
      </p:sp>
      <p:sp>
        <p:nvSpPr>
          <p:cNvPr id="3" name="Content Placeholder 2">
            <a:extLst>
              <a:ext uri="{FF2B5EF4-FFF2-40B4-BE49-F238E27FC236}">
                <a16:creationId xmlns="" xmlns:a16="http://schemas.microsoft.com/office/drawing/2014/main" id="{42959551-8D49-4ADA-8CEA-A8512612ACC0}"/>
              </a:ext>
            </a:extLst>
          </p:cNvPr>
          <p:cNvSpPr>
            <a:spLocks noGrp="1"/>
          </p:cNvSpPr>
          <p:nvPr>
            <p:ph idx="1"/>
          </p:nvPr>
        </p:nvSpPr>
        <p:spPr>
          <a:xfrm>
            <a:off x="1905000" y="990600"/>
            <a:ext cx="3810000" cy="2055760"/>
          </a:xfrm>
        </p:spPr>
        <p:txBody>
          <a:bodyPr>
            <a:normAutofit fontScale="92500" lnSpcReduction="20000"/>
          </a:bodyPr>
          <a:lstStyle/>
          <a:p>
            <a:r>
              <a:rPr lang="en-US" sz="2400" dirty="0"/>
              <a:t>The OSI model has seven layers and TCP/IP has four layers.</a:t>
            </a:r>
          </a:p>
          <a:p>
            <a:r>
              <a:rPr lang="en-US" sz="2400" dirty="0"/>
              <a:t>Both have (inter)network, transport and application layers, but the other layers are different.</a:t>
            </a:r>
          </a:p>
          <a:p>
            <a:endParaRPr lang="en-IN" sz="2400" dirty="0"/>
          </a:p>
        </p:txBody>
      </p:sp>
      <p:sp>
        <p:nvSpPr>
          <p:cNvPr id="4" name="Slide Number Placeholder 3">
            <a:extLst>
              <a:ext uri="{FF2B5EF4-FFF2-40B4-BE49-F238E27FC236}">
                <a16:creationId xmlns="" xmlns:a16="http://schemas.microsoft.com/office/drawing/2014/main" id="{ED62420B-A173-42F1-B1BD-A29ED61C11A9}"/>
              </a:ext>
            </a:extLst>
          </p:cNvPr>
          <p:cNvSpPr>
            <a:spLocks noGrp="1"/>
          </p:cNvSpPr>
          <p:nvPr>
            <p:ph type="sldNum" sz="quarter" idx="12"/>
          </p:nvPr>
        </p:nvSpPr>
        <p:spPr/>
        <p:txBody>
          <a:bodyPr/>
          <a:lstStyle/>
          <a:p>
            <a:fld id="{B6F15528-21DE-4FAA-801E-634DDDAF4B2B}" type="slidenum">
              <a:rPr lang="en-US" smtClean="0"/>
              <a:pPr/>
              <a:t>45</a:t>
            </a:fld>
            <a:endParaRPr lang="en-US"/>
          </a:p>
        </p:txBody>
      </p:sp>
      <p:pic>
        <p:nvPicPr>
          <p:cNvPr id="5" name="Picture 2">
            <a:extLst>
              <a:ext uri="{FF2B5EF4-FFF2-40B4-BE49-F238E27FC236}">
                <a16:creationId xmlns="" xmlns:a16="http://schemas.microsoft.com/office/drawing/2014/main" id="{FFAB12DF-9A2B-4CA2-BA56-6BA746F09E67}"/>
              </a:ext>
            </a:extLst>
          </p:cNvPr>
          <p:cNvPicPr>
            <a:picLocks noChangeAspect="1" noChangeArrowheads="1"/>
          </p:cNvPicPr>
          <p:nvPr/>
        </p:nvPicPr>
        <p:blipFill>
          <a:blip r:embed="rId2">
            <a:extLst>
              <a:ext uri="{28A0092B-C50C-407E-A947-70E740481C1C}">
                <a14:useLocalDpi xmlns="" xmlns:a14="http://schemas.microsoft.com/office/drawing/2010/main" val="0"/>
              </a:ext>
            </a:extLst>
          </a:blip>
          <a:stretch>
            <a:fillRect/>
          </a:stretch>
        </p:blipFill>
        <p:spPr bwMode="auto">
          <a:xfrm>
            <a:off x="6128470" y="966537"/>
            <a:ext cx="4158530" cy="3356528"/>
          </a:xfrm>
          <a:prstGeom prst="rect">
            <a:avLst/>
          </a:prstGeom>
          <a:noFill/>
          <a:ln w="9525">
            <a:noFill/>
            <a:miter lim="800000"/>
            <a:headEnd/>
            <a:tailEnd/>
          </a:ln>
          <a:effectLst/>
          <a:extLst>
            <a:ext uri="{909E8E84-426E-40DD-AFC4-6F175D3DCCD1}">
              <a14:hiddenFill xmlns="" xmlns:a14="http://schemas.microsoft.com/office/drawing/2010/main">
                <a:solidFill>
                  <a:srgbClr val="FFFFFF"/>
                </a:solidFill>
              </a14:hiddenFill>
            </a:ext>
          </a:extLst>
        </p:spPr>
      </p:pic>
      <p:sp>
        <p:nvSpPr>
          <p:cNvPr id="6" name="Content Placeholder 2">
            <a:extLst>
              <a:ext uri="{FF2B5EF4-FFF2-40B4-BE49-F238E27FC236}">
                <a16:creationId xmlns="" xmlns:a16="http://schemas.microsoft.com/office/drawing/2014/main" id="{FCF6A4F6-F21C-4260-9810-78260B554ABA}"/>
              </a:ext>
            </a:extLst>
          </p:cNvPr>
          <p:cNvSpPr txBox="1">
            <a:spLocks/>
          </p:cNvSpPr>
          <p:nvPr/>
        </p:nvSpPr>
        <p:spPr bwMode="auto">
          <a:xfrm>
            <a:off x="1971174" y="4465579"/>
            <a:ext cx="8648700" cy="1905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54013" indent="-354013" algn="l" rtl="0" eaLnBrk="1" fontAlgn="base" hangingPunct="1">
              <a:spcBef>
                <a:spcPct val="20000"/>
              </a:spcBef>
              <a:spcAft>
                <a:spcPct val="0"/>
              </a:spcAft>
              <a:buClr>
                <a:schemeClr val="accent2">
                  <a:lumMod val="75000"/>
                </a:schemeClr>
              </a:buClr>
              <a:buSzPct val="85000"/>
              <a:buFont typeface="Wingdings" pitchFamily="2" charset="2"/>
              <a:buChar char="¤"/>
              <a:defRPr sz="2800" b="0">
                <a:solidFill>
                  <a:srgbClr val="000000"/>
                </a:solidFill>
                <a:latin typeface="Tw Cen MT" panose="020B0602020104020603" pitchFamily="34" charset="0"/>
                <a:ea typeface="+mn-ea"/>
                <a:cs typeface="Calibri" pitchFamily="34" charset="0"/>
              </a:defRPr>
            </a:lvl1pPr>
            <a:lvl2pPr marL="541338" indent="-276225" algn="l" rtl="0" eaLnBrk="1" fontAlgn="base" hangingPunct="1">
              <a:spcBef>
                <a:spcPct val="20000"/>
              </a:spcBef>
              <a:spcAft>
                <a:spcPct val="0"/>
              </a:spcAft>
              <a:buClr>
                <a:schemeClr val="accent2">
                  <a:lumMod val="75000"/>
                </a:schemeClr>
              </a:buClr>
              <a:buSzPct val="80000"/>
              <a:buFont typeface="Wingdings" panose="05000000000000000000" pitchFamily="2" charset="2"/>
              <a:buChar char=""/>
              <a:defRPr sz="2600" b="0">
                <a:solidFill>
                  <a:srgbClr val="37573F"/>
                </a:solidFill>
                <a:latin typeface="Tw Cen MT" panose="020B0602020104020603" pitchFamily="34" charset="0"/>
                <a:cs typeface="Calibri" pitchFamily="34" charset="0"/>
              </a:defRPr>
            </a:lvl2pPr>
            <a:lvl3pPr marL="806450" indent="-177800" algn="l" rtl="0" eaLnBrk="1" fontAlgn="base" hangingPunct="1">
              <a:spcBef>
                <a:spcPct val="20000"/>
              </a:spcBef>
              <a:spcAft>
                <a:spcPct val="0"/>
              </a:spcAft>
              <a:buClr>
                <a:schemeClr val="accent2">
                  <a:lumMod val="75000"/>
                </a:schemeClr>
              </a:buClr>
              <a:buSzPct val="90000"/>
              <a:buFont typeface="Yu Gothic Medium" panose="020B0500000000000000" pitchFamily="34" charset="-128"/>
              <a:buChar char="»"/>
              <a:defRPr sz="2400" b="0">
                <a:solidFill>
                  <a:schemeClr val="accent2">
                    <a:lumMod val="50000"/>
                  </a:schemeClr>
                </a:solidFill>
                <a:latin typeface="Tw Cen MT" panose="020B0602020104020603" pitchFamily="34" charset="0"/>
                <a:cs typeface="Calibri" pitchFamily="34" charset="0"/>
              </a:defRPr>
            </a:lvl3pPr>
            <a:lvl4pPr marL="1169988" indent="-187325" algn="l" rtl="0" eaLnBrk="1" fontAlgn="base" hangingPunct="1">
              <a:spcBef>
                <a:spcPct val="20000"/>
              </a:spcBef>
              <a:spcAft>
                <a:spcPct val="0"/>
              </a:spcAft>
              <a:buClr>
                <a:schemeClr val="accent2">
                  <a:lumMod val="75000"/>
                </a:schemeClr>
              </a:buClr>
              <a:buChar char="–"/>
              <a:defRPr sz="2000">
                <a:solidFill>
                  <a:schemeClr val="accent2">
                    <a:lumMod val="75000"/>
                  </a:schemeClr>
                </a:solidFill>
                <a:latin typeface="Tw Cen MT" panose="020B0602020104020603" pitchFamily="34" charset="0"/>
              </a:defRPr>
            </a:lvl4pPr>
            <a:lvl5pPr marL="2057400" indent="-228600" algn="l" rtl="0" eaLnBrk="1" fontAlgn="base" hangingPunct="1">
              <a:spcBef>
                <a:spcPct val="20000"/>
              </a:spcBef>
              <a:spcAft>
                <a:spcPct val="0"/>
              </a:spcAft>
              <a:buClr>
                <a:schemeClr val="accent2">
                  <a:lumMod val="75000"/>
                </a:schemeClr>
              </a:buClr>
              <a:buChar char="»"/>
              <a:defRPr sz="2000">
                <a:solidFill>
                  <a:schemeClr val="accent2">
                    <a:lumMod val="75000"/>
                  </a:schemeClr>
                </a:solidFill>
                <a:latin typeface="Tw Cen MT" panose="020B0602020104020603"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kern="0" dirty="0"/>
              <a:t>The OSI model supports both connectionless and connection-oriented communication in the network layer, but only connection-oriented communication in the transport layer.</a:t>
            </a:r>
          </a:p>
          <a:p>
            <a:r>
              <a:rPr lang="en-US" sz="2400" kern="0" dirty="0"/>
              <a:t>The TCP/IP model has only connectionless mode in the network layer but supports both modes in the transport layer.</a:t>
            </a:r>
          </a:p>
          <a:p>
            <a:endParaRPr lang="en-US" sz="2400" kern="0" dirty="0"/>
          </a:p>
          <a:p>
            <a:endParaRPr lang="en-IN" sz="2400" kern="0" dirty="0"/>
          </a:p>
        </p:txBody>
      </p:sp>
    </p:spTree>
    <p:extLst>
      <p:ext uri="{BB962C8B-B14F-4D97-AF65-F5344CB8AC3E}">
        <p14:creationId xmlns="" xmlns:p14="http://schemas.microsoft.com/office/powerpoint/2010/main" val="3627471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211</TotalTime>
  <Words>4623</Words>
  <Application>Microsoft Office PowerPoint</Application>
  <PresentationFormat>Custom</PresentationFormat>
  <Paragraphs>467</Paragraphs>
  <Slides>45</Slides>
  <Notes>24</Notes>
  <HiddenSlides>1</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NETWORK MODELS </vt:lpstr>
      <vt:lpstr>Layered Network Architectures</vt:lpstr>
      <vt:lpstr>The ISO-OSI Reference Model</vt:lpstr>
      <vt:lpstr>OSI Layered Architecture</vt:lpstr>
      <vt:lpstr>Slide 5</vt:lpstr>
      <vt:lpstr>Slide 6</vt:lpstr>
      <vt:lpstr>Peer-to-Peer Processes…</vt:lpstr>
      <vt:lpstr>Encapsulation</vt:lpstr>
      <vt:lpstr>Encapsulation…  Data Units at each Layer</vt:lpstr>
      <vt:lpstr>Encapsulation…  Data Units at each Layer</vt:lpstr>
      <vt:lpstr>1. Physical Layer</vt:lpstr>
      <vt:lpstr>Slide 12</vt:lpstr>
      <vt:lpstr>Slide 13</vt:lpstr>
      <vt:lpstr>2. Data Link Layer</vt:lpstr>
      <vt:lpstr>Slide 15</vt:lpstr>
      <vt:lpstr>Slide 16</vt:lpstr>
      <vt:lpstr>3. Network Layer</vt:lpstr>
      <vt:lpstr>Slide 18</vt:lpstr>
      <vt:lpstr>Slide 19</vt:lpstr>
      <vt:lpstr>4. Transport Layer</vt:lpstr>
      <vt:lpstr>Slide 21</vt:lpstr>
      <vt:lpstr>Slide 22</vt:lpstr>
      <vt:lpstr>Slide 23</vt:lpstr>
      <vt:lpstr>5. Session Layer</vt:lpstr>
      <vt:lpstr>Slide 25</vt:lpstr>
      <vt:lpstr>6. Presentation Layer</vt:lpstr>
      <vt:lpstr>Slide 27</vt:lpstr>
      <vt:lpstr>Slide 28</vt:lpstr>
      <vt:lpstr>7. Application Layer</vt:lpstr>
      <vt:lpstr>Slide 30</vt:lpstr>
      <vt:lpstr>Slide 31</vt:lpstr>
      <vt:lpstr>OSI Model - Summary</vt:lpstr>
      <vt:lpstr>TCP/IP Model</vt:lpstr>
      <vt:lpstr>TCP/IP Protocol Architecture</vt:lpstr>
      <vt:lpstr>TCP/IP Protocol Architecture…</vt:lpstr>
      <vt:lpstr>TCP/IP vs OSI</vt:lpstr>
      <vt:lpstr>Slide 37</vt:lpstr>
      <vt:lpstr>TCP/IP Protocol Architecture…</vt:lpstr>
      <vt:lpstr>TCP/IP Protocol Architecture…</vt:lpstr>
      <vt:lpstr>TCP/IP Protocol Architecture…</vt:lpstr>
      <vt:lpstr>TCP/IP Protocol Architecture…</vt:lpstr>
      <vt:lpstr>Comparison of the OSI and TCP/IP Models</vt:lpstr>
      <vt:lpstr>Comparison of the OSI and TCP/IP Models…</vt:lpstr>
      <vt:lpstr>Comparison of the OSI and TCP/IP Models…</vt:lpstr>
      <vt:lpstr>Comparison of the OSI and TCP/IP Models…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MODELS </dc:title>
  <dc:creator>Ceira sara</dc:creator>
  <cp:lastModifiedBy>DELL</cp:lastModifiedBy>
  <cp:revision>14</cp:revision>
  <dcterms:created xsi:type="dcterms:W3CDTF">2022-09-22T06:04:48Z</dcterms:created>
  <dcterms:modified xsi:type="dcterms:W3CDTF">2026-05-22T04:20:42Z</dcterms:modified>
</cp:coreProperties>
</file>