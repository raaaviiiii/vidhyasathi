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304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</p:sldIdLst>
  <p:sldSz cx="12192000" cy="6858000"/>
  <p:notesSz cx="6858000" cy="9144000"/>
  <p:embeddedFontLst>
    <p:embeddedFont>
      <p:font typeface="Century" panose="02040604050505020304" pitchFamily="18" charset="0"/>
      <p:regular r:id="rId31"/>
    </p:embeddedFont>
    <p:embeddedFont>
      <p:font typeface="Lustria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hUoKWxJbBk2cBqBu/HCsvn76Pb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6D2DDF-4608-4BEF-8B99-108244A181F5}">
  <a:tblStyle styleId="{366D2DDF-4608-4BEF-8B99-108244A181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72" autoAdjust="0"/>
  </p:normalViewPr>
  <p:slideViewPr>
    <p:cSldViewPr>
      <p:cViewPr varScale="1">
        <p:scale>
          <a:sx n="54" d="100"/>
          <a:sy n="54" d="100"/>
        </p:scale>
        <p:origin x="1124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u="none" strike="noStrike" dirty="0">
                <a:latin typeface="Arial"/>
                <a:ea typeface="Arial"/>
                <a:cs typeface="Arial"/>
                <a:sym typeface="Arial"/>
              </a:rPr>
              <a:t>In most WANs, the network contains numerous transmission lines, each one connecting a pair of routers. If two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u="none" strike="noStrike" dirty="0">
                <a:latin typeface="Arial"/>
                <a:ea typeface="Arial"/>
                <a:cs typeface="Arial"/>
                <a:sym typeface="Arial"/>
              </a:rPr>
              <a:t>routers that do not share a transmission line wish to communicate, they must do this indirectly, via other routers.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u="none" strike="noStrike" dirty="0">
                <a:latin typeface="Arial"/>
                <a:ea typeface="Arial"/>
                <a:cs typeface="Arial"/>
                <a:sym typeface="Arial"/>
              </a:rPr>
              <a:t>When a packet is sent from one router to another via one or more intermediate routers, the packet is received at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u="none" strike="noStrike" dirty="0">
                <a:latin typeface="Arial"/>
                <a:ea typeface="Arial"/>
                <a:cs typeface="Arial"/>
                <a:sym typeface="Arial"/>
              </a:rPr>
              <a:t>each intermediate router in its entirety, stored there until the required output line is free, and then forwarded. A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u="none" strike="noStrike" dirty="0">
                <a:latin typeface="Arial"/>
                <a:ea typeface="Arial"/>
                <a:cs typeface="Arial"/>
                <a:sym typeface="Arial"/>
              </a:rPr>
              <a:t>subnet organized according to this principle is called a store-and-forward or packet-switched subnet. Nearly all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u="none" strike="noStrike" dirty="0">
                <a:latin typeface="Arial"/>
                <a:ea typeface="Arial"/>
                <a:cs typeface="Arial"/>
                <a:sym typeface="Arial"/>
              </a:rPr>
              <a:t>wide area networks (except those using satellites) have store-and-forward subnets. When the packets are small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u="none" strike="noStrike" dirty="0">
                <a:latin typeface="Arial"/>
                <a:ea typeface="Arial"/>
                <a:cs typeface="Arial"/>
                <a:sym typeface="Arial"/>
              </a:rPr>
              <a:t>and all the same size, they are often called cells.</a:t>
            </a:r>
            <a:endParaRPr sz="1020" dirty="0"/>
          </a:p>
        </p:txBody>
      </p:sp>
      <p:sp>
        <p:nvSpPr>
          <p:cNvPr id="233" name="Google Shape;23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latin typeface="Arial"/>
                <a:ea typeface="Arial"/>
                <a:cs typeface="Arial"/>
                <a:sym typeface="Arial"/>
              </a:rPr>
              <a:t>In this figure, all the packets follow the route ACE, rather than ABDE or ACDE. In some networks all packets from a given message must follow the same route; in others each packet is routed separately. Of course, if ACE is the best route, all packets may be sent along it, even if each packet is individually routed.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latin typeface="Arial"/>
                <a:ea typeface="Arial"/>
                <a:cs typeface="Arial"/>
                <a:sym typeface="Arial"/>
              </a:rPr>
              <a:t>Routing decisions are made locally. When a packet arrives at router A,itis up to A to decide if this packet should be sent on the line to B or the line to C. How A makes that decision is called the routing algorithm. Many of them exist.</a:t>
            </a:r>
            <a:endParaRPr/>
          </a:p>
        </p:txBody>
      </p:sp>
      <p:sp>
        <p:nvSpPr>
          <p:cNvPr id="248" name="Google Shape;24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76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dirty="0"/>
              <a:t>Not all WANs are packet switched. </a:t>
            </a:r>
            <a:endParaRPr dirty="0"/>
          </a:p>
          <a:p>
            <a:pPr marL="0" lvl="0" indent="-76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dirty="0"/>
              <a:t>A second possibility for a WAN is a </a:t>
            </a:r>
            <a:r>
              <a:rPr lang="en-US" dirty="0">
                <a:solidFill>
                  <a:srgbClr val="FF0000"/>
                </a:solidFill>
              </a:rPr>
              <a:t>satellite system</a:t>
            </a:r>
            <a:r>
              <a:rPr lang="en-US" dirty="0"/>
              <a:t>. </a:t>
            </a:r>
            <a:endParaRPr dirty="0"/>
          </a:p>
          <a:p>
            <a:pPr marL="0" lvl="0" indent="-76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dirty="0"/>
              <a:t>Each router has an </a:t>
            </a:r>
            <a:r>
              <a:rPr lang="en-US" dirty="0">
                <a:solidFill>
                  <a:srgbClr val="FF0000"/>
                </a:solidFill>
              </a:rPr>
              <a:t>antenna</a:t>
            </a:r>
            <a:r>
              <a:rPr lang="en-US" dirty="0"/>
              <a:t> through which it can send and receive. </a:t>
            </a:r>
            <a:endParaRPr dirty="0"/>
          </a:p>
          <a:p>
            <a:pPr marL="0" lvl="0" indent="-76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dirty="0"/>
              <a:t>All routers can hear the output from the satellite</a:t>
            </a:r>
            <a:endParaRPr dirty="0"/>
          </a:p>
          <a:p>
            <a:pPr marL="0" lvl="0" indent="-76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dirty="0"/>
              <a:t>In some cases, they can also hear the upward transmissions of their fellow routers to the satellite as well. </a:t>
            </a:r>
            <a:endParaRPr dirty="0"/>
          </a:p>
          <a:p>
            <a:pPr marL="0" lvl="0" indent="-76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dirty="0"/>
              <a:t>Sometimes the routers are connected to a substantial point-to-point subnet, with only some of them having a satellite antenna. </a:t>
            </a:r>
            <a:endParaRPr dirty="0"/>
          </a:p>
          <a:p>
            <a:pPr marL="0" lvl="0" indent="-76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dirty="0"/>
              <a:t>Satellite networks are inherently </a:t>
            </a:r>
            <a:r>
              <a:rPr lang="en-US" dirty="0">
                <a:solidFill>
                  <a:srgbClr val="FF0000"/>
                </a:solidFill>
              </a:rPr>
              <a:t>broadcast</a:t>
            </a:r>
            <a:r>
              <a:rPr lang="en-US" dirty="0"/>
              <a:t> and are most useful when the broadcast property is important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7" name="Google Shape;25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oupling-and-cohesio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machine-learning/ml-intercluster-and-intracluster-distance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902" y="1071546"/>
            <a:ext cx="10515600" cy="2468571"/>
          </a:xfrm>
        </p:spPr>
        <p:txBody>
          <a:bodyPr>
            <a:noAutofit/>
          </a:bodyPr>
          <a:lstStyle/>
          <a:p>
            <a:pPr algn="ctr"/>
            <a:br>
              <a:rPr lang="en-US" sz="6000" b="1" dirty="0"/>
            </a:br>
            <a:br>
              <a:rPr lang="en-US" sz="6000" b="1" dirty="0"/>
            </a:br>
            <a:r>
              <a:rPr lang="en-US" sz="6000" b="1" dirty="0"/>
              <a:t>COMS0111</a:t>
            </a:r>
            <a:br>
              <a:rPr lang="en-US" sz="6000" b="1" dirty="0"/>
            </a:br>
            <a:r>
              <a:rPr lang="en-US" sz="6000" b="1" dirty="0"/>
              <a:t>Computer Networks</a:t>
            </a:r>
            <a:br>
              <a:rPr lang="en-US" sz="6000" dirty="0"/>
            </a:b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381092" y="1142984"/>
            <a:ext cx="9144000" cy="445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/>
              <a:t>Module 1: Introduction to Computer Networks</a:t>
            </a:r>
            <a:br>
              <a:rPr lang="en-US" sz="3200" b="1" dirty="0"/>
            </a:br>
            <a:br>
              <a:rPr lang="en-US" sz="3200" dirty="0"/>
            </a:br>
            <a:r>
              <a:rPr lang="en-US" sz="3200" dirty="0"/>
              <a:t>Basics of computer networks: Definition, types (LAN, WAN, MAN), and uses.</a:t>
            </a:r>
            <a:br>
              <a:rPr lang="en-US" sz="3200" dirty="0"/>
            </a:br>
            <a:r>
              <a:rPr lang="en-US" sz="3200" dirty="0"/>
              <a:t>Network models: OSI and TCP/IP models. </a:t>
            </a:r>
            <a:br>
              <a:rPr lang="en-US" sz="3200" dirty="0"/>
            </a:br>
            <a:r>
              <a:rPr lang="en-US" sz="3200" dirty="0"/>
              <a:t>Data communication concepts: Components, data flow, and signal types.</a:t>
            </a:r>
            <a:br>
              <a:rPr lang="en-US" sz="3200" dirty="0"/>
            </a:br>
            <a:r>
              <a:rPr lang="en-US" sz="3200" dirty="0"/>
              <a:t>Transmission media: Wired and wireless (coaxial, fiber optics, radio waves, etc.).</a:t>
            </a:r>
            <a:br>
              <a:rPr lang="en-US" sz="3200" dirty="0"/>
            </a:br>
            <a:r>
              <a:rPr lang="en-US" sz="3200" dirty="0"/>
              <a:t>Network topologies and their characteristics.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body" idx="1"/>
          </p:nvPr>
        </p:nvSpPr>
        <p:spPr>
          <a:xfrm>
            <a:off x="452398" y="464024"/>
            <a:ext cx="10901402" cy="571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indent="-228600">
              <a:lnSpc>
                <a:spcPct val="150000"/>
              </a:lnSpc>
              <a:spcBef>
                <a:spcPts val="0"/>
              </a:spcBef>
              <a:buSzPts val="3200"/>
              <a:buFont typeface="Wingdings" pitchFamily="2" charset="2"/>
              <a:buChar char="Ø"/>
            </a:pPr>
            <a:r>
              <a:rPr lang="en-US" sz="3200" dirty="0">
                <a:latin typeface="+mj-lt"/>
                <a:ea typeface="Century"/>
                <a:cs typeface="Century"/>
                <a:sym typeface="Century"/>
              </a:rPr>
              <a:t>A </a:t>
            </a:r>
            <a:r>
              <a:rPr lang="en-US" sz="3200" b="1" dirty="0">
                <a:solidFill>
                  <a:srgbClr val="B52141"/>
                </a:solidFill>
                <a:latin typeface="+mj-lt"/>
                <a:ea typeface="Century"/>
                <a:cs typeface="Century"/>
                <a:sym typeface="Century"/>
              </a:rPr>
              <a:t>Computer Network </a:t>
            </a:r>
            <a:r>
              <a:rPr lang="en-US" sz="3200" dirty="0">
                <a:latin typeface="+mj-lt"/>
                <a:ea typeface="Century"/>
                <a:cs typeface="Century"/>
                <a:sym typeface="Century"/>
              </a:rPr>
              <a:t>is a set of computing devices interconnected through wired/wireless media for the purpose of </a:t>
            </a:r>
            <a:r>
              <a:rPr lang="en-US" sz="3200" dirty="0">
                <a:solidFill>
                  <a:srgbClr val="0070C0"/>
                </a:solidFill>
                <a:latin typeface="+mj-lt"/>
                <a:ea typeface="Century"/>
                <a:cs typeface="Century"/>
                <a:sym typeface="Century"/>
              </a:rPr>
              <a:t>sharing resources </a:t>
            </a:r>
            <a:r>
              <a:rPr lang="en-US" i="1" dirty="0">
                <a:latin typeface="+mj-lt"/>
                <a:ea typeface="Century"/>
                <a:cs typeface="Century"/>
                <a:sym typeface="Century"/>
              </a:rPr>
              <a:t>(like printers, etc.) </a:t>
            </a:r>
            <a:r>
              <a:rPr lang="en-US" sz="3200" dirty="0">
                <a:latin typeface="+mj-lt"/>
                <a:ea typeface="Century"/>
                <a:cs typeface="Century"/>
                <a:sym typeface="Century"/>
              </a:rPr>
              <a:t>and </a:t>
            </a:r>
            <a:r>
              <a:rPr lang="en-US" sz="3200" dirty="0">
                <a:solidFill>
                  <a:srgbClr val="0070C0"/>
                </a:solidFill>
                <a:latin typeface="+mj-lt"/>
                <a:ea typeface="Century"/>
                <a:cs typeface="Century"/>
                <a:sym typeface="Century"/>
              </a:rPr>
              <a:t>information </a:t>
            </a:r>
            <a:r>
              <a:rPr lang="en-US" i="1" dirty="0">
                <a:solidFill>
                  <a:srgbClr val="000000"/>
                </a:solidFill>
                <a:latin typeface="+mj-lt"/>
                <a:ea typeface="Century"/>
                <a:cs typeface="Century"/>
                <a:sym typeface="Century"/>
              </a:rPr>
              <a:t>(communication) </a:t>
            </a:r>
            <a:r>
              <a:rPr lang="en-US" sz="3200" dirty="0">
                <a:latin typeface="+mj-lt"/>
                <a:ea typeface="Century"/>
                <a:cs typeface="Century"/>
                <a:sym typeface="Century"/>
              </a:rPr>
              <a:t>. </a:t>
            </a:r>
            <a:endParaRPr>
              <a:latin typeface="+mj-lt"/>
            </a:endParaRPr>
          </a:p>
          <a:p>
            <a:pPr marL="228600" indent="-228600">
              <a:lnSpc>
                <a:spcPct val="150000"/>
              </a:lnSpc>
              <a:spcBef>
                <a:spcPts val="472"/>
              </a:spcBef>
              <a:buSzPts val="3200"/>
              <a:buFont typeface="Wingdings" pitchFamily="2" charset="2"/>
              <a:buChar char="Ø"/>
            </a:pPr>
            <a:r>
              <a:rPr lang="en-US" sz="3200" dirty="0">
                <a:latin typeface="+mj-lt"/>
                <a:ea typeface="Century"/>
                <a:cs typeface="Century"/>
                <a:sym typeface="Century"/>
              </a:rPr>
              <a:t>They are interconnected collection of </a:t>
            </a:r>
            <a:r>
              <a:rPr lang="en-US" sz="3200" dirty="0">
                <a:solidFill>
                  <a:srgbClr val="C00000"/>
                </a:solidFill>
                <a:latin typeface="+mj-lt"/>
                <a:ea typeface="Century"/>
                <a:cs typeface="Century"/>
                <a:sym typeface="Century"/>
              </a:rPr>
              <a:t>autonomous</a:t>
            </a:r>
            <a:r>
              <a:rPr lang="en-US" sz="3200" dirty="0">
                <a:latin typeface="+mj-lt"/>
                <a:ea typeface="Century"/>
                <a:cs typeface="Century"/>
                <a:sym typeface="Century"/>
              </a:rPr>
              <a:t> computers. </a:t>
            </a:r>
          </a:p>
          <a:p>
            <a:pPr marL="228600" indent="-228600">
              <a:lnSpc>
                <a:spcPct val="150000"/>
              </a:lnSpc>
              <a:spcBef>
                <a:spcPts val="472"/>
              </a:spcBef>
              <a:buSzPts val="3200"/>
              <a:buFont typeface="Wingdings" pitchFamily="2" charset="2"/>
              <a:buChar char="Ø"/>
            </a:pPr>
            <a:r>
              <a:rPr lang="en-US" sz="3200" dirty="0">
                <a:latin typeface="+mj-lt"/>
                <a:ea typeface="Century"/>
                <a:cs typeface="Century"/>
                <a:sym typeface="Century"/>
              </a:rPr>
              <a:t>Any computer or computing devices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 are </a:t>
            </a:r>
            <a:r>
              <a:rPr lang="en-US" sz="28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able to exchange information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. (</a:t>
            </a:r>
            <a:r>
              <a:rPr lang="en-US" sz="2800" b="1" dirty="0">
                <a:latin typeface="+mj-lt"/>
                <a:ea typeface="Century"/>
                <a:cs typeface="Century"/>
                <a:sym typeface="Century"/>
              </a:rPr>
              <a:t>communication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)</a:t>
            </a:r>
          </a:p>
          <a:p>
            <a:pPr marL="228600" indent="-228600">
              <a:lnSpc>
                <a:spcPct val="150000"/>
              </a:lnSpc>
              <a:spcBef>
                <a:spcPts val="472"/>
              </a:spcBef>
              <a:buSzPts val="3200"/>
              <a:buFont typeface="Wingdings" pitchFamily="2" charset="2"/>
              <a:buChar char="Ø"/>
            </a:pPr>
            <a:r>
              <a:rPr lang="en-US" sz="2800" b="1" i="1" dirty="0">
                <a:latin typeface="+mj-lt"/>
                <a:ea typeface="Century"/>
                <a:cs typeface="Century"/>
                <a:sym typeface="Century"/>
              </a:rPr>
              <a:t>Connection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 can be wired/wireless via </a:t>
            </a:r>
            <a:r>
              <a:rPr lang="en-US" sz="2800" i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copper wire, fiber optics, microwaves, communication satellites</a:t>
            </a:r>
            <a:r>
              <a:rPr lang="en-US" sz="28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 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etc</a:t>
            </a:r>
            <a:endParaRPr sz="2800">
              <a:latin typeface="+mj-lt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73815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stria"/>
              <a:buNone/>
            </a:pPr>
            <a:r>
              <a:rPr lang="en-US" dirty="0">
                <a:latin typeface="+mj-lt"/>
                <a:ea typeface="Lustria"/>
                <a:cs typeface="Lustria"/>
                <a:sym typeface="Lustria"/>
              </a:rPr>
              <a:t>Uses</a:t>
            </a:r>
            <a:r>
              <a:rPr lang="en-US" dirty="0"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dirty="0">
                <a:latin typeface="+mj-lt"/>
                <a:ea typeface="Lustria"/>
                <a:cs typeface="Lustria"/>
                <a:sym typeface="Lustria"/>
              </a:rPr>
              <a:t>of Computer Networks</a:t>
            </a:r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595274" y="928670"/>
            <a:ext cx="11430080" cy="5929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fontAlgn="base"/>
            <a:r>
              <a:rPr lang="en-US" sz="3200" b="1" dirty="0"/>
              <a:t>Communication: I</a:t>
            </a:r>
            <a:r>
              <a:rPr lang="en-US" sz="3200" dirty="0"/>
              <a:t>ndividuals and organizations can collaborate using </a:t>
            </a:r>
            <a:r>
              <a:rPr lang="en-US" sz="3200" u="sng" dirty="0">
                <a:hlinkClick r:id="rId3"/>
              </a:rPr>
              <a:t>communicational</a:t>
            </a:r>
            <a:r>
              <a:rPr lang="en-US" sz="3200" dirty="0"/>
              <a:t> channels that may include email, chat, and video conferencing.</a:t>
            </a:r>
          </a:p>
          <a:p>
            <a:pPr fontAlgn="base"/>
            <a:r>
              <a:rPr lang="en-US" sz="3200" b="1" dirty="0"/>
              <a:t>Resource sharing: P</a:t>
            </a:r>
            <a:r>
              <a:rPr lang="en-US" sz="3200" dirty="0"/>
              <a:t>rovide a way to share the printer, scanner, and files, which will help to improve work activities and reduce costs.</a:t>
            </a:r>
          </a:p>
          <a:p>
            <a:pPr fontAlgn="base"/>
            <a:r>
              <a:rPr lang="en-US" sz="3200" b="1" dirty="0"/>
              <a:t>Remote access: </a:t>
            </a:r>
            <a:r>
              <a:rPr lang="en-US" sz="3200" dirty="0"/>
              <a:t>Network technologies bring the power of information and assistance by making it accessible from anywhere on the globe. </a:t>
            </a:r>
          </a:p>
          <a:p>
            <a:pPr fontAlgn="base"/>
            <a:r>
              <a:rPr lang="en-US" sz="3200" b="1" dirty="0"/>
              <a:t>Collaboration:</a:t>
            </a:r>
            <a:r>
              <a:rPr lang="en-US" sz="3200" dirty="0"/>
              <a:t> Networks function to make collaboration by offering the opportunities to work jointly on something, share thoughts etc.</a:t>
            </a:r>
          </a:p>
          <a:p>
            <a:pPr fontAlgn="base"/>
            <a:r>
              <a:rPr lang="en-US" sz="3200" b="1" dirty="0"/>
              <a:t>E-commerce:</a:t>
            </a:r>
            <a:r>
              <a:rPr lang="en-US" sz="3200" dirty="0"/>
              <a:t> Online sales and payments processing are empowered with the computer networks, that enable businesses to sell products online and execute secure payments.</a:t>
            </a:r>
          </a:p>
          <a:p>
            <a:pPr fontAlgn="base"/>
            <a:r>
              <a:rPr lang="en-US" sz="3200" b="1" dirty="0"/>
              <a:t>Education: </a:t>
            </a:r>
            <a:r>
              <a:rPr lang="en-US" sz="3200" dirty="0"/>
              <a:t>From their use in the educational setting they are employed to provide a basis for </a:t>
            </a:r>
            <a:r>
              <a:rPr lang="en-US" sz="3200" u="sng" dirty="0">
                <a:hlinkClick r:id="rId4"/>
              </a:rPr>
              <a:t>distance learning</a:t>
            </a:r>
            <a:r>
              <a:rPr lang="en-US" sz="3200" dirty="0"/>
              <a:t>, access to resources of higher education and give opportunity for collaboration among students and teachers.</a:t>
            </a:r>
          </a:p>
          <a:p>
            <a:pPr fontAlgn="base"/>
            <a:r>
              <a:rPr lang="en-US" sz="3200" b="1" dirty="0"/>
              <a:t>Entertainment:</a:t>
            </a:r>
            <a:r>
              <a:rPr lang="en-US" sz="3200" dirty="0"/>
              <a:t> Online gaming, online film and music streaming, and social networking.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+mn-lt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ustria"/>
              <a:buNone/>
            </a:pPr>
            <a:r>
              <a:rPr lang="en-US" b="1">
                <a:latin typeface="Lustria"/>
                <a:ea typeface="Lustria"/>
                <a:cs typeface="Lustria"/>
                <a:sym typeface="Lustria"/>
              </a:rPr>
              <a:t>Types of Computer Networks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body" idx="1"/>
          </p:nvPr>
        </p:nvSpPr>
        <p:spPr>
          <a:xfrm>
            <a:off x="838200" y="818866"/>
            <a:ext cx="10515600" cy="535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Two types of computer networks based on:</a:t>
            </a:r>
            <a:endParaRPr>
              <a:solidFill>
                <a:schemeClr val="tx1"/>
              </a:solidFill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Transmission Technology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and </a:t>
            </a:r>
            <a:r>
              <a:rPr lang="en-US" sz="28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Scale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.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 </a:t>
            </a:r>
            <a:endParaRPr>
              <a:solidFill>
                <a:schemeClr val="tx1"/>
              </a:solidFill>
              <a:latin typeface="+mn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Based on the </a:t>
            </a:r>
            <a:r>
              <a:rPr lang="en-US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types of </a:t>
            </a:r>
            <a:r>
              <a:rPr lang="en-US" b="1" u="sng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transmission technology</a:t>
            </a:r>
            <a:r>
              <a:rPr lang="en-US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.</a:t>
            </a:r>
            <a:endParaRPr>
              <a:solidFill>
                <a:schemeClr val="tx1"/>
              </a:solidFill>
              <a:latin typeface="+mn-lt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260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Point-to-point Networks</a:t>
            </a:r>
            <a:endParaRPr>
              <a:solidFill>
                <a:schemeClr val="tx1"/>
              </a:solidFill>
              <a:latin typeface="+mn-lt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260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Broadcast Networks</a:t>
            </a:r>
            <a:endParaRPr>
              <a:solidFill>
                <a:schemeClr val="tx1"/>
              </a:solidFill>
              <a:latin typeface="+mn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Based on </a:t>
            </a:r>
            <a:r>
              <a:rPr lang="en-US" b="1" u="sng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Scale</a:t>
            </a:r>
            <a:endParaRPr>
              <a:solidFill>
                <a:schemeClr val="tx1"/>
              </a:solidFill>
              <a:latin typeface="+mn-lt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240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PAN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(personal area network)</a:t>
            </a:r>
            <a:endParaRPr>
              <a:solidFill>
                <a:schemeClr val="tx1"/>
              </a:solidFill>
              <a:latin typeface="+mn-lt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240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LAN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(local area network)</a:t>
            </a:r>
            <a:endParaRPr sz="2400">
              <a:solidFill>
                <a:schemeClr val="tx1"/>
              </a:solidFill>
              <a:latin typeface="+mn-lt"/>
              <a:ea typeface="Century"/>
              <a:cs typeface="Century"/>
              <a:sym typeface="Century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240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MAN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(metropolitan area network)</a:t>
            </a:r>
            <a:endParaRPr sz="2400">
              <a:solidFill>
                <a:schemeClr val="tx1"/>
              </a:solidFill>
              <a:latin typeface="+mn-lt"/>
              <a:ea typeface="Century"/>
              <a:cs typeface="Century"/>
              <a:sym typeface="Century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240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WAN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+mn-lt"/>
                <a:ea typeface="Century"/>
                <a:cs typeface="Century"/>
                <a:sym typeface="Century"/>
              </a:rPr>
              <a:t>(wide area network)</a:t>
            </a:r>
            <a:endParaRPr sz="2800" i="1">
              <a:solidFill>
                <a:schemeClr val="tx1"/>
              </a:solidFill>
              <a:latin typeface="+mn-lt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7290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2141"/>
              </a:buClr>
              <a:buSzPts val="4400"/>
              <a:buFont typeface="Lustria"/>
              <a:buNone/>
            </a:pPr>
            <a:r>
              <a:rPr lang="en-US" b="1">
                <a:solidFill>
                  <a:srgbClr val="B52141"/>
                </a:solidFill>
                <a:latin typeface="Lustria"/>
                <a:ea typeface="Lustria"/>
                <a:cs typeface="Lustria"/>
                <a:sym typeface="Lustria"/>
              </a:rPr>
              <a:t>Point-to-point Networks</a:t>
            </a:r>
            <a:endParaRPr/>
          </a:p>
        </p:txBody>
      </p:sp>
      <p:sp>
        <p:nvSpPr>
          <p:cNvPr id="129" name="Google Shape;129;p8"/>
          <p:cNvSpPr txBox="1">
            <a:spLocks noGrp="1"/>
          </p:cNvSpPr>
          <p:nvPr>
            <p:ph type="body" idx="1"/>
          </p:nvPr>
        </p:nvSpPr>
        <p:spPr>
          <a:xfrm>
            <a:off x="1" y="1566317"/>
            <a:ext cx="88983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Connect between individual pair of machines.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Transfer of short messages called </a:t>
            </a:r>
            <a:r>
              <a:rPr lang="en-US" sz="28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packets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 from source to destination may include one or more intermediate machines.</a:t>
            </a:r>
            <a:endParaRPr>
              <a:latin typeface="+mj-lt"/>
            </a:endParaRPr>
          </a:p>
          <a:p>
            <a:pPr marL="685800" lvl="1" indent="-50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>
              <a:latin typeface="+mj-lt"/>
              <a:ea typeface="Century"/>
              <a:cs typeface="Century"/>
              <a:sym typeface="Century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Multiple routes of different lengths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– use routing algorithm for </a:t>
            </a:r>
            <a:r>
              <a:rPr lang="en-US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route selection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.</a:t>
            </a:r>
            <a:endParaRPr>
              <a:latin typeface="+mj-lt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latin typeface="+mj-lt"/>
              <a:ea typeface="Century"/>
              <a:cs typeface="Century"/>
              <a:sym typeface="Century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Point-to-point transmission with </a:t>
            </a:r>
            <a:r>
              <a:rPr lang="en-US" sz="2800" dirty="0">
                <a:solidFill>
                  <a:srgbClr val="0070C0"/>
                </a:solidFill>
                <a:latin typeface="+mj-lt"/>
                <a:ea typeface="Century"/>
                <a:cs typeface="Century"/>
                <a:sym typeface="Century"/>
              </a:rPr>
              <a:t>one sender 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and </a:t>
            </a:r>
            <a:r>
              <a:rPr lang="en-US" sz="2800" dirty="0">
                <a:solidFill>
                  <a:srgbClr val="0070C0"/>
                </a:solidFill>
                <a:latin typeface="+mj-lt"/>
                <a:ea typeface="Century"/>
                <a:cs typeface="Century"/>
                <a:sym typeface="Century"/>
              </a:rPr>
              <a:t>one receiver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 is called </a:t>
            </a:r>
            <a:r>
              <a:rPr lang="en-US" sz="2800" b="1" dirty="0" err="1">
                <a:solidFill>
                  <a:srgbClr val="B52141"/>
                </a:solidFill>
                <a:latin typeface="+mj-lt"/>
                <a:ea typeface="Century"/>
                <a:cs typeface="Century"/>
                <a:sym typeface="Century"/>
              </a:rPr>
              <a:t>unicasting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.</a:t>
            </a:r>
            <a:endParaRPr>
              <a:latin typeface="+mj-lt"/>
            </a:endParaRPr>
          </a:p>
        </p:txBody>
      </p:sp>
      <p:pic>
        <p:nvPicPr>
          <p:cNvPr id="130" name="Google Shape;130;p8" descr="http://www.e-reading.club/illustrations/143/143358-Any2FbImgLoader47"/>
          <p:cNvPicPr preferRelativeResize="0"/>
          <p:nvPr/>
        </p:nvPicPr>
        <p:blipFill rotWithShape="1">
          <a:blip r:embed="rId3">
            <a:alphaModFix/>
          </a:blip>
          <a:srcRect l="70547" t="33827" b="12947"/>
          <a:stretch/>
        </p:blipFill>
        <p:spPr>
          <a:xfrm>
            <a:off x="9021170" y="4845699"/>
            <a:ext cx="3168061" cy="1916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8" descr="http://www.thelifenetwork.org/images/fault_tol_rout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0055" y="721902"/>
            <a:ext cx="3549176" cy="2320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49700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2141"/>
              </a:buClr>
              <a:buSzPts val="4400"/>
              <a:buFont typeface="Lustria"/>
              <a:buNone/>
            </a:pPr>
            <a:r>
              <a:rPr lang="en-US" b="1">
                <a:solidFill>
                  <a:srgbClr val="B52141"/>
                </a:solidFill>
                <a:latin typeface="Lustria"/>
                <a:ea typeface="Lustria"/>
                <a:cs typeface="Lustria"/>
                <a:sym typeface="Lustria"/>
              </a:rPr>
              <a:t>Broadcast Networks</a:t>
            </a:r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body" idx="1"/>
          </p:nvPr>
        </p:nvSpPr>
        <p:spPr>
          <a:xfrm>
            <a:off x="-333420" y="1041600"/>
            <a:ext cx="10512256" cy="58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A single </a:t>
            </a:r>
            <a:r>
              <a:rPr lang="en-US" sz="27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communication </a:t>
            </a:r>
            <a:r>
              <a:rPr lang="en-US" sz="27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channel is shared</a:t>
            </a:r>
            <a:r>
              <a:rPr lang="en-US" sz="27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 by all </a:t>
            </a: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the 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	machines on the network.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Short messages called </a:t>
            </a:r>
            <a:r>
              <a:rPr lang="en-US" sz="27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packets</a:t>
            </a: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 sent by any machine are </a:t>
            </a:r>
            <a:r>
              <a:rPr lang="en-US" sz="2700" i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received by all the others</a:t>
            </a: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700"/>
              <a:buChar char="•"/>
            </a:pPr>
            <a:r>
              <a:rPr lang="en-US" sz="27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Address field </a:t>
            </a: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in a packet specifies the recipient.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After receiving the packet, the address field is checked.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If it is intended for itself, it processes the packet, otherwise it is ignored.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sz="2700" dirty="0">
                <a:latin typeface="+mj-lt"/>
                <a:ea typeface="Century"/>
                <a:cs typeface="Century"/>
                <a:sym typeface="Century"/>
              </a:rPr>
              <a:t>. </a:t>
            </a:r>
            <a:r>
              <a:rPr lang="en-US" sz="2700" i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Wireless network </a:t>
            </a:r>
            <a:r>
              <a:rPr lang="en-US" sz="2700" i="1" dirty="0">
                <a:latin typeface="+mj-lt"/>
                <a:ea typeface="Century"/>
                <a:cs typeface="Century"/>
                <a:sym typeface="Century"/>
              </a:rPr>
              <a:t>is a broadcast link.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Broadcast systems allow the possibility of addressing a packet to </a:t>
            </a:r>
            <a:r>
              <a:rPr lang="en-US" sz="28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all destinations 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by using a </a:t>
            </a:r>
            <a:r>
              <a:rPr lang="en-US" sz="28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special code 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in the address field.  </a:t>
            </a:r>
            <a:r>
              <a:rPr lang="en-US" sz="2800" i="1" dirty="0">
                <a:latin typeface="+mj-lt"/>
                <a:ea typeface="Century"/>
                <a:cs typeface="Century"/>
                <a:sym typeface="Century"/>
              </a:rPr>
              <a:t>(</a:t>
            </a:r>
            <a:r>
              <a:rPr lang="en-US" sz="2800" i="1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sz="2800" i="1" dirty="0">
                <a:latin typeface="+mj-lt"/>
                <a:ea typeface="Century"/>
                <a:cs typeface="Century"/>
                <a:sym typeface="Century"/>
              </a:rPr>
              <a:t>. An all 1’s address)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When a packet with this code is transmitted, it is </a:t>
            </a:r>
            <a:r>
              <a:rPr lang="en-US" sz="28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received and processed by every machine </a:t>
            </a:r>
            <a:r>
              <a:rPr lang="en-US" sz="2800" dirty="0">
                <a:latin typeface="+mj-lt"/>
                <a:ea typeface="Century"/>
                <a:cs typeface="Century"/>
                <a:sym typeface="Century"/>
              </a:rPr>
              <a:t>on the network.</a:t>
            </a:r>
            <a:endParaRPr>
              <a:latin typeface="+mj-lt"/>
            </a:endParaRPr>
          </a:p>
          <a:p>
            <a:pPr marL="685800" lvl="1" indent="-57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endParaRPr sz="2700" i="1">
              <a:latin typeface="+mj-lt"/>
              <a:ea typeface="Century"/>
              <a:cs typeface="Century"/>
              <a:sym typeface="Century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+mj-lt"/>
              <a:ea typeface="Century"/>
              <a:cs typeface="Century"/>
              <a:sym typeface="Century"/>
            </a:endParaRPr>
          </a:p>
        </p:txBody>
      </p:sp>
      <p:pic>
        <p:nvPicPr>
          <p:cNvPr id="138" name="Google Shape;138;p9" descr="http://www.e-reading.club/illustrations/143/143358-Any2FbImgLoader47"/>
          <p:cNvPicPr preferRelativeResize="0"/>
          <p:nvPr/>
        </p:nvPicPr>
        <p:blipFill rotWithShape="1">
          <a:blip r:embed="rId3">
            <a:alphaModFix/>
          </a:blip>
          <a:srcRect l="35347" t="-4560" r="33555" b="11656"/>
          <a:stretch/>
        </p:blipFill>
        <p:spPr>
          <a:xfrm>
            <a:off x="9169919" y="-54497"/>
            <a:ext cx="3057576" cy="2192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2141"/>
              </a:buClr>
              <a:buSzPts val="2800"/>
              <a:buChar char="•"/>
            </a:pPr>
            <a:r>
              <a:rPr lang="en-US" b="1" dirty="0">
                <a:solidFill>
                  <a:srgbClr val="B52141"/>
                </a:solidFill>
                <a:latin typeface="+mn-lt"/>
                <a:ea typeface="Century"/>
                <a:cs typeface="Century"/>
                <a:sym typeface="Century"/>
              </a:rPr>
              <a:t>Multicasting</a:t>
            </a:r>
            <a:r>
              <a:rPr lang="en-US" b="1" dirty="0">
                <a:latin typeface="+mn-lt"/>
                <a:ea typeface="Century"/>
                <a:cs typeface="Century"/>
                <a:sym typeface="Century"/>
              </a:rPr>
              <a:t>: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Broadcast also support transmission to a </a:t>
            </a:r>
            <a:r>
              <a:rPr lang="en-US" sz="2600" b="1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subset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 of the machines.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By reserving a bit in the address to indicate multicasting &amp; the remaining  (n-1) address bits to hold the group number</a:t>
            </a:r>
            <a:endParaRPr>
              <a:latin typeface="+mn-lt"/>
              <a:ea typeface="Century"/>
              <a:cs typeface="Century"/>
              <a:sym typeface="Century"/>
            </a:endParaRPr>
          </a:p>
        </p:txBody>
      </p:sp>
      <p:pic>
        <p:nvPicPr>
          <p:cNvPr id="145" name="Google Shape;145;p10" descr="http://www.e-reading.club/illustrations/143/143358-Any2FbImgLoader47"/>
          <p:cNvPicPr preferRelativeResize="0"/>
          <p:nvPr/>
        </p:nvPicPr>
        <p:blipFill rotWithShape="1">
          <a:blip r:embed="rId3">
            <a:alphaModFix/>
          </a:blip>
          <a:srcRect t="34472" r="68756" b="11334"/>
          <a:stretch/>
        </p:blipFill>
        <p:spPr>
          <a:xfrm>
            <a:off x="4271750" y="4001294"/>
            <a:ext cx="2743200" cy="1592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Network types based on </a:t>
            </a:r>
            <a:r>
              <a:rPr lang="en-US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Scale.</a:t>
            </a:r>
            <a:br>
              <a:rPr lang="en-US" dirty="0">
                <a:latin typeface="+mj-lt"/>
              </a:rPr>
            </a:br>
            <a:endParaRPr>
              <a:latin typeface="+mj-lt"/>
            </a:endParaRPr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307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800"/>
              <a:buChar char="•"/>
            </a:pPr>
            <a:r>
              <a:rPr lang="en-US" sz="28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PAN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800"/>
              <a:buChar char="•"/>
            </a:pPr>
            <a:r>
              <a:rPr lang="en-US" sz="28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LAN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800"/>
              <a:buChar char="•"/>
            </a:pPr>
            <a:r>
              <a:rPr lang="en-US" sz="28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MAN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800"/>
              <a:buChar char="•"/>
            </a:pPr>
            <a:r>
              <a:rPr lang="en-US" sz="28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WAN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800"/>
              <a:buChar char="•"/>
            </a:pPr>
            <a:r>
              <a:rPr lang="en-US" sz="28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Internet</a:t>
            </a:r>
            <a:endParaRPr>
              <a:latin typeface="+mj-lt"/>
            </a:endParaRPr>
          </a:p>
        </p:txBody>
      </p:sp>
      <p:pic>
        <p:nvPicPr>
          <p:cNvPr id="152" name="Google Shape;152;p11" descr="1-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9233" y="1690688"/>
            <a:ext cx="6621379" cy="4360211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title"/>
          </p:nvPr>
        </p:nvSpPr>
        <p:spPr>
          <a:xfrm>
            <a:off x="838200" y="-98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2141"/>
              </a:buClr>
              <a:buSzPts val="4400"/>
              <a:buFont typeface="Century"/>
              <a:buNone/>
            </a:pPr>
            <a:r>
              <a:rPr lang="en-US" b="1" dirty="0">
                <a:solidFill>
                  <a:srgbClr val="B52141"/>
                </a:solidFill>
                <a:latin typeface="+mj-lt"/>
                <a:ea typeface="Century"/>
                <a:cs typeface="Century"/>
                <a:sym typeface="Century"/>
              </a:rPr>
              <a:t>Personal Area Networks (PANs)</a:t>
            </a:r>
            <a:endParaRPr b="1">
              <a:solidFill>
                <a:srgbClr val="B52141"/>
              </a:solidFill>
              <a:latin typeface="+mj-lt"/>
              <a:ea typeface="Century"/>
              <a:cs typeface="Century"/>
              <a:sym typeface="Century"/>
            </a:endParaRPr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>
            <a:off x="838200" y="1433015"/>
            <a:ext cx="10515600" cy="513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Networks that are meant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in the range of a person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. </a:t>
            </a:r>
            <a:r>
              <a:rPr lang="en-US" sz="2000" dirty="0">
                <a:latin typeface="+mj-lt"/>
                <a:ea typeface="Century"/>
                <a:cs typeface="Century"/>
                <a:sym typeface="Century"/>
              </a:rPr>
              <a:t>(few </a:t>
            </a:r>
            <a:r>
              <a:rPr lang="en-US" sz="2000" dirty="0" err="1">
                <a:latin typeface="+mj-lt"/>
                <a:ea typeface="Century"/>
                <a:cs typeface="Century"/>
                <a:sym typeface="Century"/>
              </a:rPr>
              <a:t>metres</a:t>
            </a:r>
            <a:r>
              <a:rPr lang="en-US" sz="2000" dirty="0">
                <a:latin typeface="+mj-lt"/>
                <a:ea typeface="Century"/>
                <a:cs typeface="Century"/>
                <a:sym typeface="Century"/>
              </a:rPr>
              <a:t>)</a:t>
            </a:r>
            <a:endParaRPr>
              <a:latin typeface="+mj-lt"/>
              <a:ea typeface="Century"/>
              <a:cs typeface="Century"/>
              <a:sym typeface="Century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sz="2500" dirty="0">
                <a:latin typeface="+mj-lt"/>
                <a:ea typeface="Century"/>
                <a:cs typeface="Century"/>
                <a:sym typeface="Century"/>
              </a:rPr>
              <a:t>.: A </a:t>
            </a:r>
            <a:r>
              <a:rPr lang="en-US" sz="25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wireless</a:t>
            </a:r>
            <a:r>
              <a:rPr lang="en-US" sz="2500" dirty="0">
                <a:latin typeface="+mj-lt"/>
                <a:ea typeface="Century"/>
                <a:cs typeface="Century"/>
                <a:sym typeface="Century"/>
              </a:rPr>
              <a:t> network connecting a computer with its mouse, keyboard, and printer.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sz="2500" dirty="0">
                <a:latin typeface="+mj-lt"/>
                <a:ea typeface="Century"/>
                <a:cs typeface="Century"/>
                <a:sym typeface="Century"/>
              </a:rPr>
              <a:t>.: </a:t>
            </a:r>
            <a:r>
              <a:rPr lang="en-US" sz="25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Body Area Networks </a:t>
            </a:r>
            <a:r>
              <a:rPr lang="en-US" sz="2500" dirty="0">
                <a:latin typeface="+mj-lt"/>
                <a:ea typeface="Century"/>
                <a:cs typeface="Century"/>
                <a:sym typeface="Century"/>
              </a:rPr>
              <a:t>connecting smart watch, mobile, body sensors etc. </a:t>
            </a:r>
            <a:endParaRPr>
              <a:latin typeface="+mj-lt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pacemaker, insulin pump, or hearing aid talks to a user-operated remote control.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sz="2500" dirty="0">
                <a:latin typeface="+mj-lt"/>
                <a:ea typeface="Century"/>
                <a:cs typeface="Century"/>
                <a:sym typeface="Century"/>
              </a:rPr>
              <a:t>. RFID on smartcards and library books.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1" dirty="0">
                <a:latin typeface="+mj-lt"/>
                <a:ea typeface="Century"/>
                <a:cs typeface="Century"/>
                <a:sym typeface="Century"/>
              </a:rPr>
              <a:t>Transmission Technologies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: </a:t>
            </a:r>
            <a:r>
              <a:rPr lang="en-US" sz="2600" b="1" dirty="0">
                <a:latin typeface="+mj-lt"/>
                <a:ea typeface="Century"/>
                <a:cs typeface="Century"/>
                <a:sym typeface="Century"/>
              </a:rPr>
              <a:t>Wired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, or Wireless like </a:t>
            </a:r>
            <a:r>
              <a:rPr lang="en-US" sz="2600" b="1" dirty="0" err="1">
                <a:latin typeface="+mj-lt"/>
                <a:ea typeface="Century"/>
                <a:cs typeface="Century"/>
                <a:sym typeface="Century"/>
              </a:rPr>
              <a:t>WiFi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.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3" descr="Performance and evaluation of energy optimization techniques for wireless  body area networks | Beni-Suef University Journal of Basic and Applied  Sciences | Full Tex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503" y="2976406"/>
            <a:ext cx="6934200" cy="347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3" descr="Types of Computer Network - javatpoi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3703" y="119290"/>
            <a:ext cx="4637067" cy="307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1191575" y="831633"/>
            <a:ext cx="4827088" cy="17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4013" marR="0" lvl="0" indent="-354013" algn="l" rtl="0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10"/>
              <a:buFont typeface="Noto Sans Symbols"/>
              <a:buChar char="◉"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+mj-lt"/>
                <a:ea typeface="Century"/>
                <a:cs typeface="Century"/>
                <a:sym typeface="Century"/>
              </a:rPr>
              <a:t>PAN Examples</a:t>
            </a:r>
            <a:endParaRPr>
              <a:latin typeface="+mj-lt"/>
            </a:endParaRPr>
          </a:p>
          <a:p>
            <a:pPr marL="0" marR="0" lvl="0" indent="0" algn="l" rtl="0">
              <a:spcBef>
                <a:spcPts val="520"/>
              </a:spcBef>
              <a:spcAft>
                <a:spcPts val="0"/>
              </a:spcAft>
              <a:buClr>
                <a:srgbClr val="C55A11"/>
              </a:buClr>
              <a:buSzPts val="2210"/>
              <a:buFont typeface="Noto Sans Symbols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+mj-lt"/>
                <a:ea typeface="Century"/>
                <a:cs typeface="Century"/>
                <a:sym typeface="Century"/>
              </a:rPr>
              <a:t>    1. Wireless Home Network</a:t>
            </a:r>
            <a:endParaRPr>
              <a:latin typeface="+mj-lt"/>
            </a:endParaRPr>
          </a:p>
          <a:p>
            <a:pPr marL="0" marR="0" lvl="0" indent="0" algn="l" rtl="0">
              <a:spcBef>
                <a:spcPts val="520"/>
              </a:spcBef>
              <a:spcAft>
                <a:spcPts val="0"/>
              </a:spcAft>
              <a:buClr>
                <a:srgbClr val="C55A11"/>
              </a:buClr>
              <a:buSzPts val="2210"/>
              <a:buFont typeface="Noto Sans Symbols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+mj-lt"/>
                <a:ea typeface="Century"/>
                <a:cs typeface="Century"/>
                <a:sym typeface="Century"/>
              </a:rPr>
              <a:t>    2. Body Area Network</a:t>
            </a:r>
            <a:endParaRPr sz="2600" b="1" i="0" u="none" strike="noStrike" cap="none">
              <a:solidFill>
                <a:srgbClr val="000000"/>
              </a:solidFill>
              <a:latin typeface="+mj-lt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2141"/>
              </a:buClr>
              <a:buSzPts val="4400"/>
              <a:buFont typeface="Lustria"/>
              <a:buNone/>
            </a:pPr>
            <a:r>
              <a:rPr lang="en-US" b="1" dirty="0">
                <a:solidFill>
                  <a:srgbClr val="B52141"/>
                </a:solidFill>
                <a:latin typeface="+mn-lt"/>
                <a:ea typeface="Lustria"/>
                <a:cs typeface="Lustria"/>
                <a:sym typeface="Lustria"/>
              </a:rPr>
              <a:t>Local Area Networks (LANs)</a:t>
            </a:r>
            <a:endParaRPr b="1">
              <a:solidFill>
                <a:srgbClr val="B52141"/>
              </a:solidFill>
              <a:latin typeface="+mn-lt"/>
              <a:ea typeface="Lustria"/>
              <a:cs typeface="Lustria"/>
              <a:sym typeface="Lustria"/>
            </a:endParaRPr>
          </a:p>
        </p:txBody>
      </p:sp>
      <p:sp>
        <p:nvSpPr>
          <p:cNvPr id="171" name="Google Shape;171;p14"/>
          <p:cNvSpPr txBox="1">
            <a:spLocks noGrp="1"/>
          </p:cNvSpPr>
          <p:nvPr>
            <p:ph type="body" idx="1"/>
          </p:nvPr>
        </p:nvSpPr>
        <p:spPr>
          <a:xfrm>
            <a:off x="838200" y="1405719"/>
            <a:ext cx="10515600" cy="515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A group of computers that provide reliable, high speed communication channels for resource sharing in a small geographical area such as campus, office, etc.</a:t>
            </a:r>
            <a:endParaRPr dirty="0"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Used to share resources (hardware or software) and to exchange information.</a:t>
            </a:r>
            <a:endParaRPr dirty="0"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Privately owned networks.</a:t>
            </a:r>
            <a:endParaRPr dirty="0"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LANs used by companies are called enterprise networks.</a:t>
            </a:r>
            <a:endParaRPr dirty="0"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IEEE 802 standard. </a:t>
            </a:r>
            <a:r>
              <a:rPr lang="en-US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. Ethernet LAN is IEEE 802.3.</a:t>
            </a:r>
            <a:endParaRPr dirty="0"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Wireless LANs are very popular, in homes, old buildings, cafes, and other places where it is trouble to install cables.</a:t>
            </a:r>
            <a:endParaRPr dirty="0"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An access point or wireless router enables communication through Internet.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>
            <a:spLocks noGrp="1"/>
          </p:cNvSpPr>
          <p:nvPr>
            <p:ph type="body" idx="1"/>
          </p:nvPr>
        </p:nvSpPr>
        <p:spPr>
          <a:xfrm>
            <a:off x="838200" y="245660"/>
            <a:ext cx="10515600" cy="5931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LANs are distinguished by 3 characteristics: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1" dirty="0">
                <a:latin typeface="+mn-lt"/>
                <a:ea typeface="Century"/>
                <a:cs typeface="Century"/>
                <a:sym typeface="Century"/>
              </a:rPr>
              <a:t>Size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1" dirty="0">
                <a:latin typeface="+mn-lt"/>
                <a:ea typeface="Century"/>
                <a:cs typeface="Century"/>
                <a:sym typeface="Century"/>
              </a:rPr>
              <a:t>Transmission Technology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1" dirty="0">
                <a:latin typeface="+mn-lt"/>
                <a:ea typeface="Century"/>
                <a:cs typeface="Century"/>
                <a:sym typeface="Century"/>
              </a:rPr>
              <a:t>Topology</a:t>
            </a:r>
            <a:endParaRPr>
              <a:latin typeface="+mn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1" dirty="0">
                <a:latin typeface="+mn-lt"/>
                <a:ea typeface="Century"/>
                <a:cs typeface="Century"/>
                <a:sym typeface="Century"/>
              </a:rPr>
              <a:t>Size restriction: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Spans 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few </a:t>
            </a:r>
            <a:r>
              <a:rPr lang="en-US" sz="2600" dirty="0" err="1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kilometres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: </a:t>
            </a: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Inter-processor distance: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10m to 1km.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Traditional LAN runs at speed of 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10 to 100 Mbps</a:t>
            </a: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; newer LANs operate at 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10 </a:t>
            </a:r>
            <a:r>
              <a:rPr lang="en-US" sz="2600" dirty="0" err="1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Gbps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B4785"/>
              </a:buClr>
              <a:buSzPts val="2600"/>
              <a:buChar char="•"/>
            </a:pP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Low delay </a:t>
            </a: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- as short as </a:t>
            </a:r>
            <a:r>
              <a:rPr lang="en-US" sz="2600" i="1" dirty="0">
                <a:latin typeface="+mn-lt"/>
                <a:ea typeface="Century"/>
                <a:cs typeface="Century"/>
                <a:sym typeface="Century"/>
              </a:rPr>
              <a:t>microseconds (ms)</a:t>
            </a: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 or </a:t>
            </a:r>
            <a:r>
              <a:rPr lang="en-US" sz="2600" i="1" dirty="0">
                <a:latin typeface="+mn-lt"/>
                <a:ea typeface="Century"/>
                <a:cs typeface="Century"/>
                <a:sym typeface="Century"/>
              </a:rPr>
              <a:t>nanoseconds (ns)</a:t>
            </a: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.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Makes </a:t>
            </a:r>
            <a:r>
              <a:rPr lang="en-US" sz="2600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very few errors</a:t>
            </a: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.</a:t>
            </a:r>
            <a:endParaRPr sz="2600">
              <a:latin typeface="+mn-lt"/>
              <a:ea typeface="Century"/>
              <a:cs typeface="Century"/>
              <a:sym typeface="Century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Worst-case </a:t>
            </a:r>
            <a:r>
              <a:rPr lang="en-US" sz="2600" i="1" dirty="0">
                <a:latin typeface="+mn-lt"/>
                <a:ea typeface="Century"/>
                <a:cs typeface="Century"/>
                <a:sym typeface="Century"/>
              </a:rPr>
              <a:t>transmission time </a:t>
            </a: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is bounded and known in advance.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Knowing these bounds helps in designing network protocols.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n-lt"/>
                <a:ea typeface="Century"/>
                <a:cs typeface="Century"/>
                <a:sym typeface="Century"/>
              </a:rPr>
              <a:t>Simplifies network management.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body" idx="1"/>
          </p:nvPr>
        </p:nvSpPr>
        <p:spPr>
          <a:xfrm>
            <a:off x="545909" y="4176215"/>
            <a:ext cx="11273051" cy="200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Wired LANs use a range of different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transmission technologies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. 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Most of them use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copper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wires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, but some use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optical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fiber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Wired LANs exceeds wireless LANs in performance - </a:t>
            </a:r>
            <a:r>
              <a:rPr lang="en-US" i="1" dirty="0">
                <a:latin typeface="+mj-lt"/>
                <a:ea typeface="Century"/>
                <a:cs typeface="Century"/>
                <a:sym typeface="Century"/>
              </a:rPr>
              <a:t>reliable to send signals over a wire or through a fiber than through the air.</a:t>
            </a:r>
            <a:endParaRPr i="1">
              <a:latin typeface="+mj-lt"/>
              <a:ea typeface="Century"/>
              <a:cs typeface="Century"/>
              <a:sym typeface="Century"/>
            </a:endParaRPr>
          </a:p>
        </p:txBody>
      </p:sp>
      <p:pic>
        <p:nvPicPr>
          <p:cNvPr id="182" name="Google Shape;18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9810" y="188012"/>
            <a:ext cx="7806163" cy="3674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838200" y="245660"/>
            <a:ext cx="10515600" cy="5931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The </a:t>
            </a:r>
            <a:r>
              <a:rPr lang="en-US" sz="24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topology</a:t>
            </a: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 of many wired LANs is built from </a:t>
            </a:r>
            <a:r>
              <a:rPr lang="en-US" sz="24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point-to-point links</a:t>
            </a: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. 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Most common wired LAN - </a:t>
            </a:r>
            <a:r>
              <a:rPr lang="en-US" sz="24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IEEE 802.3</a:t>
            </a: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, popularly called </a:t>
            </a:r>
            <a:r>
              <a:rPr lang="en-US" sz="24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Ethernet</a:t>
            </a: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Other examples  - Token Ring (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IEEE 802.3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), Token Bus, FDDI etc.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u="sng" dirty="0">
                <a:latin typeface="+mj-lt"/>
                <a:ea typeface="Century"/>
                <a:cs typeface="Century"/>
                <a:sym typeface="Century"/>
              </a:rPr>
              <a:t>Original Ethernet</a:t>
            </a:r>
            <a:r>
              <a:rPr lang="en-US" sz="2400" b="1" dirty="0">
                <a:latin typeface="+mj-lt"/>
                <a:ea typeface="Century"/>
                <a:cs typeface="Century"/>
                <a:sym typeface="Century"/>
              </a:rPr>
              <a:t>  </a:t>
            </a: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uses</a:t>
            </a:r>
            <a:r>
              <a:rPr lang="en-US" sz="2400" b="1" dirty="0">
                <a:latin typeface="+mj-lt"/>
                <a:ea typeface="Century"/>
                <a:cs typeface="Century"/>
                <a:sym typeface="Century"/>
              </a:rPr>
              <a:t> </a:t>
            </a:r>
            <a:r>
              <a:rPr lang="en-US" sz="24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bus topology </a:t>
            </a: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and</a:t>
            </a:r>
            <a:r>
              <a:rPr lang="en-US" sz="2400" b="1" dirty="0">
                <a:latin typeface="+mj-lt"/>
                <a:ea typeface="Century"/>
                <a:cs typeface="Century"/>
                <a:sym typeface="Century"/>
              </a:rPr>
              <a:t> </a:t>
            </a:r>
            <a:r>
              <a:rPr lang="en-US" sz="24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broadcasts all the packets over a single linear cable</a:t>
            </a: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At most one machine could successfully transmit at a time, and a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distributed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control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 mechanism was used to resolve conflicts.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It used a simple algorithm: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Computers could transmit whenever the cable was idle.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If two or more packets collided, each computer just waited a                                               random time and tried later.</a:t>
            </a:r>
            <a:endParaRPr>
              <a:latin typeface="+mj-lt"/>
            </a:endParaRPr>
          </a:p>
        </p:txBody>
      </p:sp>
      <p:pic>
        <p:nvPicPr>
          <p:cNvPr id="188" name="Google Shape;188;p17" descr="Image result for topolog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2317" y="4220809"/>
            <a:ext cx="3217844" cy="208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>
            <a:spLocks noGrp="1"/>
          </p:cNvSpPr>
          <p:nvPr>
            <p:ph type="body" idx="1"/>
          </p:nvPr>
        </p:nvSpPr>
        <p:spPr>
          <a:xfrm>
            <a:off x="838200" y="491319"/>
            <a:ext cx="10515600" cy="568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u="sng" dirty="0">
                <a:latin typeface="+mn-lt"/>
                <a:ea typeface="Century"/>
                <a:cs typeface="Century"/>
                <a:sym typeface="Century"/>
              </a:rPr>
              <a:t>Switched Ethernet</a:t>
            </a:r>
            <a:r>
              <a:rPr lang="en-US" sz="2400" dirty="0">
                <a:latin typeface="+mn-lt"/>
                <a:ea typeface="Century"/>
                <a:cs typeface="Century"/>
                <a:sym typeface="Century"/>
              </a:rPr>
              <a:t>: Each computer speaks the Ethernet protocol and connects to a </a:t>
            </a:r>
            <a:r>
              <a:rPr lang="en-US" sz="2400" b="1" dirty="0">
                <a:latin typeface="+mn-lt"/>
                <a:ea typeface="Century"/>
                <a:cs typeface="Century"/>
                <a:sym typeface="Century"/>
              </a:rPr>
              <a:t>switch</a:t>
            </a:r>
            <a:r>
              <a:rPr lang="en-US" sz="2400" dirty="0">
                <a:latin typeface="+mn-lt"/>
                <a:ea typeface="Century"/>
                <a:cs typeface="Century"/>
                <a:sym typeface="Century"/>
              </a:rPr>
              <a:t> with a point-to-point link. </a:t>
            </a:r>
            <a:r>
              <a:rPr lang="en-US" sz="2400" i="1" dirty="0">
                <a:latin typeface="+mn-lt"/>
                <a:ea typeface="Century"/>
                <a:cs typeface="Century"/>
                <a:sym typeface="Century"/>
              </a:rPr>
              <a:t>Hence the name.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A switch has multiple ports, each can connect to one computer.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The </a:t>
            </a:r>
            <a:r>
              <a:rPr lang="en-US" b="1" dirty="0">
                <a:latin typeface="+mn-lt"/>
                <a:ea typeface="Century"/>
                <a:cs typeface="Century"/>
                <a:sym typeface="Century"/>
              </a:rPr>
              <a:t>switch</a:t>
            </a: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 will relay packets between computers that are attached to it, using the address in each packet to determine which computer to send it to.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To build larger LANs, switches can be plugged into each other. </a:t>
            </a:r>
            <a:endParaRPr>
              <a:latin typeface="+mn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4785"/>
              </a:buClr>
              <a:buSzPts val="2500"/>
              <a:buChar char="•"/>
            </a:pPr>
            <a:r>
              <a:rPr lang="en-US" sz="2500" b="1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Ring Topology</a:t>
            </a:r>
            <a:r>
              <a:rPr lang="en-US" sz="2500" dirty="0">
                <a:latin typeface="+mn-lt"/>
                <a:ea typeface="Century"/>
                <a:cs typeface="Century"/>
                <a:sym typeface="Century"/>
              </a:rPr>
              <a:t>: A second type of broadcast LANs.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In a ring, each bit propagates around on its own, not waiting for the rest of the packet to which it belongs.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Simultaneous accesses  controlled by a </a:t>
            </a:r>
            <a:r>
              <a:rPr lang="en-US" b="1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token</a:t>
            </a: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.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>
                <a:latin typeface="+mn-lt"/>
                <a:ea typeface="Century"/>
                <a:cs typeface="Century"/>
                <a:sym typeface="Century"/>
              </a:rPr>
              <a:t>Eg</a:t>
            </a: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. </a:t>
            </a:r>
            <a:r>
              <a:rPr lang="en-US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IEEE 802.5 (the IBM Token Ring), </a:t>
            </a:r>
            <a:endParaRPr>
              <a:latin typeface="+mn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400"/>
              <a:buChar char="•"/>
            </a:pPr>
            <a:r>
              <a:rPr lang="en-US" dirty="0">
                <a:solidFill>
                  <a:srgbClr val="2B4785"/>
                </a:solidFill>
                <a:latin typeface="+mn-lt"/>
                <a:ea typeface="Century"/>
                <a:cs typeface="Century"/>
                <a:sym typeface="Century"/>
              </a:rPr>
              <a:t>FDDI</a:t>
            </a:r>
            <a:r>
              <a:rPr lang="en-US" dirty="0">
                <a:latin typeface="+mn-lt"/>
                <a:ea typeface="Century"/>
                <a:cs typeface="Century"/>
                <a:sym typeface="Century"/>
              </a:rPr>
              <a:t> </a:t>
            </a:r>
            <a:r>
              <a:rPr lang="en-US" sz="2200" i="1" dirty="0">
                <a:latin typeface="+mn-lt"/>
                <a:ea typeface="Century"/>
                <a:cs typeface="Century"/>
                <a:sym typeface="Century"/>
              </a:rPr>
              <a:t>(Fiber Distributed Data Interface).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2141"/>
              </a:buClr>
              <a:buSzPts val="4400"/>
              <a:buFont typeface="Lustria"/>
              <a:buNone/>
            </a:pPr>
            <a:r>
              <a:rPr lang="en-US" b="1" dirty="0">
                <a:solidFill>
                  <a:srgbClr val="B52141"/>
                </a:solidFill>
                <a:latin typeface="+mn-lt"/>
                <a:ea typeface="Lustria"/>
                <a:cs typeface="Lustria"/>
                <a:sym typeface="Lustria"/>
              </a:rPr>
              <a:t>Metropolitan Area Networks (MAN):</a:t>
            </a:r>
            <a:endParaRPr>
              <a:latin typeface="+mn-lt"/>
              <a:ea typeface="Lustria"/>
              <a:cs typeface="Lustria"/>
              <a:sym typeface="Lustria"/>
            </a:endParaRPr>
          </a:p>
        </p:txBody>
      </p:sp>
      <p:sp>
        <p:nvSpPr>
          <p:cNvPr id="204" name="Google Shape;204;p20"/>
          <p:cNvSpPr txBox="1">
            <a:spLocks noGrp="1"/>
          </p:cNvSpPr>
          <p:nvPr>
            <p:ph type="body" idx="1"/>
          </p:nvPr>
        </p:nvSpPr>
        <p:spPr>
          <a:xfrm>
            <a:off x="838200" y="1255594"/>
            <a:ext cx="10515600" cy="526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Larger than LANs.</a:t>
            </a:r>
            <a:endParaRPr sz="2400" b="1">
              <a:solidFill>
                <a:srgbClr val="B52141"/>
              </a:solidFill>
              <a:latin typeface="+mj-lt"/>
              <a:ea typeface="Century"/>
              <a:cs typeface="Century"/>
              <a:sym typeface="Century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Covers a larger geographical area like a city and its surroundings.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5 to 50 km or more diameter.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.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Cable television 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networks.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Recent developments in </a:t>
            </a:r>
            <a:r>
              <a:rPr lang="en-US" dirty="0" err="1">
                <a:latin typeface="+mj-lt"/>
                <a:ea typeface="Century"/>
                <a:cs typeface="Century"/>
                <a:sym typeface="Century"/>
              </a:rPr>
              <a:t>highspeed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 wireless Internet access have resulted in </a:t>
            </a:r>
            <a:r>
              <a:rPr lang="en-US" b="1" dirty="0" err="1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WiMAX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, standardized as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IEEE 802.16</a:t>
            </a:r>
            <a:endParaRPr>
              <a:latin typeface="+mj-lt"/>
              <a:ea typeface="Century"/>
              <a:cs typeface="Century"/>
              <a:sym typeface="Century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MANs can be created by interconnecting two LANs.</a:t>
            </a:r>
            <a:endParaRPr>
              <a:latin typeface="+mj-lt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Not commonly owned and maintained by a single organization. </a:t>
            </a:r>
            <a:endParaRPr>
              <a:latin typeface="+mj-lt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Either a group of users or a single network provider owns the communication inks and equipment of MAN. </a:t>
            </a:r>
            <a:endParaRPr>
              <a:latin typeface="+mj-lt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j-lt"/>
                <a:ea typeface="Century"/>
                <a:cs typeface="Century"/>
                <a:sym typeface="Century"/>
              </a:rPr>
              <a:t>Like a large LAN, MAN also works as a high-speed network, which allows the sharing of local resources. 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>
            <a:spLocks noGrp="1"/>
          </p:cNvSpPr>
          <p:nvPr>
            <p:ph type="body" idx="1"/>
          </p:nvPr>
        </p:nvSpPr>
        <p:spPr>
          <a:xfrm>
            <a:off x="838200" y="491319"/>
            <a:ext cx="10515600" cy="568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latin typeface="+mj-lt"/>
                <a:ea typeface="Century"/>
                <a:cs typeface="Century"/>
                <a:sym typeface="Century"/>
              </a:rPr>
              <a:t>Advantages of MAN: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It provides and manages services to large number of clients.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Error rates are moderate. 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latin typeface="+mj-lt"/>
                <a:ea typeface="Century"/>
                <a:cs typeface="Century"/>
                <a:sym typeface="Century"/>
              </a:rPr>
              <a:t>Disadvantages of MAN: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It need huge space to set-up.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Its speed of accessing data is less.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Equipment used in MAN is expensive.</a:t>
            </a:r>
            <a:endParaRPr>
              <a:latin typeface="+mj-lt"/>
              <a:ea typeface="Century"/>
              <a:cs typeface="Century"/>
              <a:sym typeface="Century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+mj-lt"/>
              <a:ea typeface="Century"/>
              <a:cs typeface="Century"/>
              <a:sym typeface="Century"/>
            </a:endParaRPr>
          </a:p>
        </p:txBody>
      </p:sp>
      <p:pic>
        <p:nvPicPr>
          <p:cNvPr id="210" name="Google Shape;210;p21" descr="1-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1820" y="3516924"/>
            <a:ext cx="5358708" cy="266003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2695881" y="4466230"/>
            <a:ext cx="3429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u="none" strike="noStrike" cap="none">
                <a:solidFill>
                  <a:srgbClr val="B5214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metropolitan area network based on cable TV in a city.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>
            <a:spLocks noGrp="1"/>
          </p:cNvSpPr>
          <p:nvPr>
            <p:ph type="title"/>
          </p:nvPr>
        </p:nvSpPr>
        <p:spPr>
          <a:xfrm>
            <a:off x="578892" y="-2353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2141"/>
              </a:buClr>
              <a:buSzPts val="4400"/>
              <a:buFont typeface="Century"/>
              <a:buNone/>
            </a:pPr>
            <a:r>
              <a:rPr lang="en-US" b="1" dirty="0">
                <a:solidFill>
                  <a:srgbClr val="B52141"/>
                </a:solidFill>
                <a:latin typeface="+mj-lt"/>
                <a:ea typeface="Century"/>
                <a:cs typeface="Century"/>
                <a:sym typeface="Century"/>
              </a:rPr>
              <a:t>Wide Area Networks (WANs):</a:t>
            </a:r>
            <a:endParaRPr>
              <a:latin typeface="+mj-lt"/>
              <a:ea typeface="Century"/>
              <a:cs typeface="Century"/>
              <a:sym typeface="Century"/>
            </a:endParaRPr>
          </a:p>
        </p:txBody>
      </p:sp>
      <p:sp>
        <p:nvSpPr>
          <p:cNvPr id="217" name="Google Shape;217;p22"/>
          <p:cNvSpPr txBox="1">
            <a:spLocks noGrp="1"/>
          </p:cNvSpPr>
          <p:nvPr>
            <p:ph type="body" idx="1"/>
          </p:nvPr>
        </p:nvSpPr>
        <p:spPr>
          <a:xfrm>
            <a:off x="838200" y="968992"/>
            <a:ext cx="10515600" cy="5207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 err="1">
                <a:latin typeface="+mj-lt"/>
                <a:ea typeface="Century"/>
                <a:cs typeface="Century"/>
                <a:sym typeface="Century"/>
              </a:rPr>
              <a:t>Eg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. Internet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WAN </a:t>
            </a:r>
            <a:r>
              <a:rPr lang="en-US" sz="26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connect devices of a larger geographical area </a:t>
            </a:r>
            <a:r>
              <a:rPr lang="en-US" sz="2400" i="1" dirty="0">
                <a:latin typeface="+mj-lt"/>
                <a:ea typeface="Century"/>
                <a:cs typeface="Century"/>
                <a:sym typeface="Century"/>
              </a:rPr>
              <a:t>(beyond the LAN and MAN)</a:t>
            </a:r>
            <a:r>
              <a:rPr lang="en-US" sz="2600" i="1" dirty="0">
                <a:latin typeface="+mj-lt"/>
                <a:ea typeface="Century"/>
                <a:cs typeface="Century"/>
                <a:sym typeface="Century"/>
              </a:rPr>
              <a:t>, 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spans often a country or continent.</a:t>
            </a:r>
            <a:endParaRPr sz="2600" i="1">
              <a:latin typeface="+mj-lt"/>
              <a:ea typeface="Century"/>
              <a:cs typeface="Century"/>
              <a:sym typeface="Century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Uses common carriers like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satellite systems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,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telephone line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, etc. to facilitate the transmission.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It contains a collection of machines called </a:t>
            </a:r>
            <a:r>
              <a:rPr lang="en-US" sz="26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hosts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 intended for running user (application) programs. </a:t>
            </a:r>
            <a:r>
              <a:rPr lang="en-US" sz="2400" i="1" dirty="0">
                <a:latin typeface="+mj-lt"/>
                <a:ea typeface="Century"/>
                <a:cs typeface="Century"/>
                <a:sym typeface="Century"/>
              </a:rPr>
              <a:t>(owned by the customers)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The hosts are connected by a </a:t>
            </a:r>
            <a:r>
              <a:rPr lang="en-US" sz="2600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communication </a:t>
            </a:r>
            <a:r>
              <a:rPr lang="en-US" sz="2600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subnet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. </a:t>
            </a:r>
            <a:r>
              <a:rPr lang="en-US" sz="2400" i="1" dirty="0">
                <a:latin typeface="+mj-lt"/>
                <a:ea typeface="Century"/>
                <a:cs typeface="Century"/>
                <a:sym typeface="Century"/>
              </a:rPr>
              <a:t>(owned and operated by a telephone company or Internet Service Provider)</a:t>
            </a:r>
            <a:endParaRPr sz="2600" i="1">
              <a:latin typeface="+mj-lt"/>
              <a:ea typeface="Century"/>
              <a:cs typeface="Century"/>
              <a:sym typeface="Century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The job of the subnet is to carry messages from host to host, just as the telephone system carries words from speaker to listener.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It also acquired a second meaning in conjunction with network addressing.</a:t>
            </a:r>
            <a:endParaRPr>
              <a:latin typeface="+mj-lt"/>
            </a:endParaRPr>
          </a:p>
          <a:p>
            <a:pPr marL="228600" lvl="0" indent="-63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>
              <a:latin typeface="+mj-lt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>
            <a:spLocks noGrp="1"/>
          </p:cNvSpPr>
          <p:nvPr>
            <p:ph type="body" idx="1"/>
          </p:nvPr>
        </p:nvSpPr>
        <p:spPr>
          <a:xfrm>
            <a:off x="838200" y="464024"/>
            <a:ext cx="10515600" cy="571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Subnet consists of two distinct components: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Transmission lines and Switching elements 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1" dirty="0">
                <a:latin typeface="+mj-lt"/>
                <a:ea typeface="Century"/>
                <a:cs typeface="Century"/>
                <a:sym typeface="Century"/>
              </a:rPr>
              <a:t>Transmission lines: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Move bits between machines.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Made of copper wire, optical fiber, or even radio links.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Most companies lease the lines from a telecommunications company.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1" dirty="0">
                <a:latin typeface="+mj-lt"/>
                <a:ea typeface="Century"/>
                <a:cs typeface="Century"/>
                <a:sym typeface="Century"/>
              </a:rPr>
              <a:t>Switching elements </a:t>
            </a:r>
            <a:r>
              <a:rPr lang="en-US" sz="2600" dirty="0">
                <a:latin typeface="+mj-lt"/>
                <a:ea typeface="Century"/>
                <a:cs typeface="Century"/>
                <a:sym typeface="Century"/>
              </a:rPr>
              <a:t>(switches) </a:t>
            </a:r>
            <a:r>
              <a:rPr lang="en-US" sz="2600" b="1" dirty="0">
                <a:latin typeface="+mj-lt"/>
                <a:ea typeface="Century"/>
                <a:cs typeface="Century"/>
                <a:sym typeface="Century"/>
              </a:rPr>
              <a:t>/ Routers: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Specialized computers that connect three or more transmission lines.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When data arrive on an incoming line, it must choose an outgoing line on which to forward them.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Switching elements are also called as routers.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>
            <a:spLocks noGrp="1"/>
          </p:cNvSpPr>
          <p:nvPr>
            <p:ph type="body" idx="1"/>
          </p:nvPr>
        </p:nvSpPr>
        <p:spPr>
          <a:xfrm>
            <a:off x="838200" y="3794077"/>
            <a:ext cx="10515600" cy="238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+mj-lt"/>
                <a:ea typeface="Century"/>
                <a:cs typeface="Century"/>
                <a:sym typeface="Century"/>
              </a:rPr>
              <a:t>Each host is connected to a LAN on which a router is present.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+mj-lt"/>
                <a:ea typeface="Century"/>
                <a:cs typeface="Century"/>
                <a:sym typeface="Century"/>
              </a:rPr>
              <a:t>In some cases a host can be connected directly to a router. 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+mj-lt"/>
                <a:ea typeface="Century"/>
                <a:cs typeface="Century"/>
                <a:sym typeface="Century"/>
              </a:rPr>
              <a:t>The collection of communication lines and routers (but not the hosts) form the subnet.</a:t>
            </a:r>
            <a:endParaRPr>
              <a:latin typeface="+mj-lt"/>
              <a:ea typeface="Century"/>
              <a:cs typeface="Century"/>
              <a:sym typeface="Century"/>
            </a:endParaRPr>
          </a:p>
        </p:txBody>
      </p:sp>
      <p:pic>
        <p:nvPicPr>
          <p:cNvPr id="228" name="Google Shape;228;p24" descr="1-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8431" y="0"/>
            <a:ext cx="6372526" cy="261689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3398293" y="2589598"/>
            <a:ext cx="537961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B52141"/>
                </a:solidFill>
                <a:latin typeface="+mj-lt"/>
                <a:ea typeface="Twentieth Century"/>
                <a:cs typeface="Twentieth Century"/>
                <a:sym typeface="Twentieth Century"/>
              </a:rPr>
              <a:t>Relation between hosts on LANs and the subnet.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>
            <a:spLocks noGrp="1"/>
          </p:cNvSpPr>
          <p:nvPr>
            <p:ph type="title"/>
          </p:nvPr>
        </p:nvSpPr>
        <p:spPr>
          <a:xfrm>
            <a:off x="292290" y="29688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4785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2B4785"/>
                </a:solidFill>
              </a:rPr>
              <a:t>Store-and-forward </a:t>
            </a:r>
            <a:r>
              <a:rPr lang="en-US" sz="3200">
                <a:solidFill>
                  <a:srgbClr val="2B4785"/>
                </a:solidFill>
              </a:rPr>
              <a:t>or</a:t>
            </a:r>
            <a:r>
              <a:rPr lang="en-US" sz="3200" b="1">
                <a:solidFill>
                  <a:srgbClr val="2B4785"/>
                </a:solidFill>
              </a:rPr>
              <a:t> packet-switched subnet:</a:t>
            </a:r>
            <a:endParaRPr sz="3200" b="1">
              <a:solidFill>
                <a:srgbClr val="2B4785"/>
              </a:solidFill>
            </a:endParaRPr>
          </a:p>
        </p:txBody>
      </p:sp>
      <p:sp>
        <p:nvSpPr>
          <p:cNvPr id="236" name="Google Shape;236;p25"/>
          <p:cNvSpPr txBox="1">
            <a:spLocks noGrp="1"/>
          </p:cNvSpPr>
          <p:nvPr>
            <p:ph type="body" idx="1"/>
          </p:nvPr>
        </p:nvSpPr>
        <p:spPr>
          <a:xfrm>
            <a:off x="292290" y="1197827"/>
            <a:ext cx="10515600" cy="50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The WAN contains numerous transmission lines, each one connecting a pair of routers.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If two routers that do not share a transmission line wish to communicate, they must do this indirectly, via other routers.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When a packet is sent from one router to another via one or more intermediate routers,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B4785"/>
              </a:buClr>
              <a:buSzPts val="2400"/>
              <a:buChar char="•"/>
            </a:pP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the packet is </a:t>
            </a:r>
            <a:r>
              <a:rPr lang="en-US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received at each intermediate router in its entirety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, </a:t>
            </a:r>
            <a:r>
              <a:rPr lang="en-US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stored there briefly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 until the required output line is free, and </a:t>
            </a:r>
            <a:r>
              <a:rPr lang="en-US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then forwarded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. 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If error occurs, packet may be retransmitted.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When the packets are small and all of the same size, they are often called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cells.</a:t>
            </a:r>
            <a:endParaRPr>
              <a:latin typeface="+mj-lt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+mj-lt"/>
              <a:ea typeface="Century"/>
              <a:cs typeface="Century"/>
              <a:sym typeface="Century"/>
            </a:endParaRPr>
          </a:p>
        </p:txBody>
      </p:sp>
      <p:sp>
        <p:nvSpPr>
          <p:cNvPr id="237" name="Google Shape;23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stria"/>
              <a:buNone/>
            </a:pPr>
            <a:r>
              <a:rPr lang="en-US" dirty="0">
                <a:latin typeface="+mj-lt"/>
                <a:ea typeface="Lustria"/>
                <a:cs typeface="Lustria"/>
                <a:sym typeface="Lustria"/>
              </a:rPr>
              <a:t>Principle of a </a:t>
            </a:r>
            <a:r>
              <a:rPr lang="en-US" b="1" dirty="0">
                <a:solidFill>
                  <a:srgbClr val="2B4785"/>
                </a:solidFill>
                <a:latin typeface="+mj-lt"/>
                <a:ea typeface="Lustria"/>
                <a:cs typeface="Lustria"/>
                <a:sym typeface="Lustria"/>
              </a:rPr>
              <a:t>packet-switched WAN</a:t>
            </a:r>
            <a:r>
              <a:rPr lang="en-US" b="1" dirty="0">
                <a:latin typeface="+mj-lt"/>
                <a:ea typeface="Lustria"/>
                <a:cs typeface="Lustria"/>
                <a:sym typeface="Lustria"/>
              </a:rPr>
              <a:t>:</a:t>
            </a:r>
            <a:br>
              <a:rPr lang="en-US" b="1" dirty="0">
                <a:latin typeface="+mj-lt"/>
                <a:ea typeface="Lustria"/>
                <a:cs typeface="Lustria"/>
                <a:sym typeface="Lustria"/>
              </a:rPr>
            </a:br>
            <a:endParaRPr>
              <a:latin typeface="+mj-lt"/>
              <a:ea typeface="Lustria"/>
              <a:cs typeface="Lustria"/>
              <a:sym typeface="Lustria"/>
            </a:endParaRPr>
          </a:p>
        </p:txBody>
      </p:sp>
      <p:sp>
        <p:nvSpPr>
          <p:cNvPr id="243" name="Google Shape;243;p26"/>
          <p:cNvSpPr txBox="1">
            <a:spLocks noGrp="1"/>
          </p:cNvSpPr>
          <p:nvPr>
            <p:ph type="body" idx="1"/>
          </p:nvPr>
        </p:nvSpPr>
        <p:spPr>
          <a:xfrm>
            <a:off x="838200" y="1296537"/>
            <a:ext cx="10515600" cy="4880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When a process on some host has a message to be sent to a process on some other host, the sending host first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divide the message into smaller pieces 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called </a:t>
            </a:r>
            <a:r>
              <a:rPr lang="en-US" b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packets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, each one bearing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its number in the sequence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. 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These packets are then injected into the network one at a time in quick succession. 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The packets are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transported individually 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over the network and deposited at the receiving host, where they are </a:t>
            </a:r>
            <a:r>
              <a:rPr lang="en-US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reassembled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 into the original message and delivered to the receiving process.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In some networks, all packets from a given message may follow the same route; in others each packet is routed separately.</a:t>
            </a:r>
            <a:endParaRPr>
              <a:latin typeface="+mj-l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Best route can be chosen using </a:t>
            </a:r>
            <a:r>
              <a:rPr lang="en-US" b="1" dirty="0">
                <a:latin typeface="+mj-lt"/>
                <a:ea typeface="Century"/>
                <a:cs typeface="Century"/>
                <a:sym typeface="Century"/>
              </a:rPr>
              <a:t>routing algorithms</a:t>
            </a:r>
            <a:r>
              <a:rPr lang="en-US" dirty="0">
                <a:latin typeface="+mj-lt"/>
                <a:ea typeface="Century"/>
                <a:cs typeface="Century"/>
                <a:sym typeface="Century"/>
              </a:rPr>
              <a:t>.</a:t>
            </a:r>
            <a:endParaRPr>
              <a:latin typeface="+mj-lt"/>
            </a:endParaRPr>
          </a:p>
        </p:txBody>
      </p:sp>
      <p:sp>
        <p:nvSpPr>
          <p:cNvPr id="244" name="Google Shape;2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  <p:pic>
        <p:nvPicPr>
          <p:cNvPr id="251" name="Google Shape;251;p27" descr="1-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236" y="68159"/>
            <a:ext cx="7870964" cy="283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2324803" y="3064888"/>
            <a:ext cx="724227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B5214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stream of packets from sender to receiver.</a:t>
            </a:r>
            <a:endParaRPr sz="2400" i="1">
              <a:solidFill>
                <a:srgbClr val="B5214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3" name="Google Shape;253;p27"/>
          <p:cNvSpPr txBox="1">
            <a:spLocks noGrp="1"/>
          </p:cNvSpPr>
          <p:nvPr>
            <p:ph type="body" idx="1"/>
          </p:nvPr>
        </p:nvSpPr>
        <p:spPr>
          <a:xfrm>
            <a:off x="1905000" y="4359066"/>
            <a:ext cx="8686800" cy="21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 dirty="0">
                <a:latin typeface="+mj-lt"/>
              </a:rPr>
              <a:t>How the network makes the decision as to which path to use?  </a:t>
            </a:r>
            <a:r>
              <a:rPr lang="en-US" sz="2400" b="1" dirty="0">
                <a:solidFill>
                  <a:srgbClr val="2B4785"/>
                </a:solidFill>
                <a:latin typeface="+mj-lt"/>
              </a:rPr>
              <a:t>Routing algorithm.</a:t>
            </a:r>
            <a:endParaRPr>
              <a:latin typeface="+mj-l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 dirty="0">
                <a:latin typeface="+mj-lt"/>
              </a:rPr>
              <a:t>How </a:t>
            </a:r>
            <a:r>
              <a:rPr lang="en-US" sz="2400" i="1" dirty="0">
                <a:solidFill>
                  <a:srgbClr val="2B4785"/>
                </a:solidFill>
                <a:latin typeface="+mj-lt"/>
              </a:rPr>
              <a:t>each router makes the </a:t>
            </a:r>
            <a:r>
              <a:rPr lang="en-US" sz="2400" i="1" dirty="0">
                <a:solidFill>
                  <a:srgbClr val="2B4785"/>
                </a:solidFill>
                <a:latin typeface="+mj-lt"/>
                <a:ea typeface="Century"/>
                <a:cs typeface="Century"/>
                <a:sym typeface="Century"/>
              </a:rPr>
              <a:t>decision</a:t>
            </a:r>
            <a:r>
              <a:rPr lang="en-US" sz="2400" i="1" dirty="0">
                <a:solidFill>
                  <a:srgbClr val="2B4785"/>
                </a:solidFill>
                <a:latin typeface="+mj-lt"/>
              </a:rPr>
              <a:t> </a:t>
            </a:r>
            <a:r>
              <a:rPr lang="en-US" sz="2400" i="1" dirty="0">
                <a:latin typeface="+mj-lt"/>
              </a:rPr>
              <a:t>as to where to send a packet next?    made locally using  </a:t>
            </a:r>
            <a:r>
              <a:rPr lang="en-US" sz="2400" b="1" dirty="0">
                <a:solidFill>
                  <a:srgbClr val="2B4785"/>
                </a:solidFill>
                <a:latin typeface="+mj-lt"/>
              </a:rPr>
              <a:t>Forwarding algorithm</a:t>
            </a:r>
            <a:r>
              <a:rPr lang="en-US" sz="2400" dirty="0">
                <a:latin typeface="+mj-lt"/>
              </a:rPr>
              <a:t>.</a:t>
            </a:r>
            <a:endParaRPr sz="2400"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67322" y="1981200"/>
            <a:ext cx="493651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61" name="Google Shape;26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/>
          </a:p>
        </p:txBody>
      </p:sp>
      <p:pic>
        <p:nvPicPr>
          <p:cNvPr id="262" name="Google Shape;26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1524001"/>
            <a:ext cx="3553326" cy="169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 txBox="1">
            <a:spLocks noGrp="1"/>
          </p:cNvSpPr>
          <p:nvPr>
            <p:ph type="title"/>
          </p:nvPr>
        </p:nvSpPr>
        <p:spPr>
          <a:xfrm>
            <a:off x="346881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ustria"/>
              <a:buNone/>
            </a:pPr>
            <a:r>
              <a:rPr lang="en-US" sz="3600" b="1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Internetworks</a:t>
            </a:r>
            <a:endParaRPr sz="600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body" idx="1"/>
          </p:nvPr>
        </p:nvSpPr>
        <p:spPr>
          <a:xfrm>
            <a:off x="619836" y="1443488"/>
            <a:ext cx="10515600" cy="5066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4785"/>
              </a:buClr>
              <a:buSzPts val="2400"/>
              <a:buChar char="•"/>
            </a:pPr>
            <a:r>
              <a:rPr lang="en-US" sz="2400" b="1">
                <a:solidFill>
                  <a:srgbClr val="2B4785"/>
                </a:solidFill>
                <a:latin typeface="Century"/>
                <a:ea typeface="Century"/>
                <a:cs typeface="Century"/>
                <a:sym typeface="Century"/>
              </a:rPr>
              <a:t>Internetwork</a:t>
            </a: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: A collection of interconnected networks is called an internetwork or internet.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Century"/>
                <a:ea typeface="Century"/>
                <a:cs typeface="Century"/>
                <a:sym typeface="Century"/>
              </a:rPr>
              <a:t>Eg.  a collection of LANs connected by a WAN.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Century"/>
                <a:ea typeface="Century"/>
                <a:cs typeface="Century"/>
                <a:sym typeface="Century"/>
              </a:rPr>
              <a:t>Subnet</a:t>
            </a: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 is a collection of routers and communication lines owned by the network operator.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A </a:t>
            </a:r>
            <a:r>
              <a:rPr lang="en-US" sz="2400" b="1">
                <a:latin typeface="Century"/>
                <a:ea typeface="Century"/>
                <a:cs typeface="Century"/>
                <a:sym typeface="Century"/>
              </a:rPr>
              <a:t>network</a:t>
            </a: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 like WAN is formed by the combination of a subnet and its hosts.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An </a:t>
            </a:r>
            <a:r>
              <a:rPr lang="en-US" sz="2400" b="1">
                <a:latin typeface="Century"/>
                <a:ea typeface="Century"/>
                <a:cs typeface="Century"/>
                <a:sym typeface="Century"/>
              </a:rPr>
              <a:t>internetwork</a:t>
            </a: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 is formed when distinct networks are interconnected.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Century"/>
                <a:ea typeface="Century"/>
                <a:cs typeface="Century"/>
                <a:sym typeface="Century"/>
              </a:rPr>
              <a:t>How two different networks can be connected?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A </a:t>
            </a:r>
            <a:r>
              <a:rPr lang="en-US" sz="2400" b="1">
                <a:solidFill>
                  <a:srgbClr val="2B4785"/>
                </a:solidFill>
                <a:latin typeface="Century"/>
                <a:ea typeface="Century"/>
                <a:cs typeface="Century"/>
                <a:sym typeface="Century"/>
              </a:rPr>
              <a:t>gateway</a:t>
            </a: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 device makes a connection between two or more different networks and provides the </a:t>
            </a:r>
            <a:r>
              <a:rPr lang="en-US" sz="2400">
                <a:solidFill>
                  <a:srgbClr val="2B4785"/>
                </a:solidFill>
                <a:latin typeface="Century"/>
                <a:ea typeface="Century"/>
                <a:cs typeface="Century"/>
                <a:sym typeface="Century"/>
              </a:rPr>
              <a:t>necessary translation</a:t>
            </a:r>
            <a:r>
              <a:rPr lang="en-US" sz="2400">
                <a:latin typeface="Century"/>
                <a:ea typeface="Century"/>
                <a:cs typeface="Century"/>
                <a:sym typeface="Century"/>
              </a:rPr>
              <a:t>, both in terms of hardware and software.</a:t>
            </a:r>
            <a:endParaRPr/>
          </a:p>
        </p:txBody>
      </p:sp>
      <p:sp>
        <p:nvSpPr>
          <p:cNvPr id="269" name="Google Shape;26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274" y="285729"/>
            <a:ext cx="10572824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2394</Words>
  <Application>Microsoft Office PowerPoint</Application>
  <PresentationFormat>Widescreen</PresentationFormat>
  <Paragraphs>190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Century</vt:lpstr>
      <vt:lpstr>Arial</vt:lpstr>
      <vt:lpstr>Noto Sans Symbols</vt:lpstr>
      <vt:lpstr>Wingdings</vt:lpstr>
      <vt:lpstr>Calibri</vt:lpstr>
      <vt:lpstr>Lustria</vt:lpstr>
      <vt:lpstr>Twentieth Century</vt:lpstr>
      <vt:lpstr>Theme1</vt:lpstr>
      <vt:lpstr>  COMS0111 Computer Networks </vt:lpstr>
      <vt:lpstr>Module 1: Introduction to Computer Networks  Basics of computer networks: Definition, types (LAN, WAN, MAN), and uses. Network models: OSI and TCP/IP models.  Data communication concepts: Components, data flow, and signal types. Transmission media: Wired and wireless (coaxial, fiber optics, radio waves, etc.). Network topologies and their characteristics.</vt:lpstr>
      <vt:lpstr>PowerPoint Presentation</vt:lpstr>
      <vt:lpstr>Uses of Computer Networks</vt:lpstr>
      <vt:lpstr>Types of Computer Networks</vt:lpstr>
      <vt:lpstr>PowerPoint Presentation</vt:lpstr>
      <vt:lpstr>Point-to-point Networks</vt:lpstr>
      <vt:lpstr>Broadcast Networks</vt:lpstr>
      <vt:lpstr>PowerPoint Presentation</vt:lpstr>
      <vt:lpstr>Network types based on Scale. </vt:lpstr>
      <vt:lpstr>Personal Area Networks (PANs)</vt:lpstr>
      <vt:lpstr>PowerPoint Presentation</vt:lpstr>
      <vt:lpstr>Local Area Networks (LANs)</vt:lpstr>
      <vt:lpstr>PowerPoint Presentation</vt:lpstr>
      <vt:lpstr>PowerPoint Presentation</vt:lpstr>
      <vt:lpstr>PowerPoint Presentation</vt:lpstr>
      <vt:lpstr>PowerPoint Presentation</vt:lpstr>
      <vt:lpstr>Metropolitan Area Networks (MAN):</vt:lpstr>
      <vt:lpstr>PowerPoint Presentation</vt:lpstr>
      <vt:lpstr>Wide Area Networks (WANs):</vt:lpstr>
      <vt:lpstr>PowerPoint Presentation</vt:lpstr>
      <vt:lpstr>PowerPoint Presentation</vt:lpstr>
      <vt:lpstr>Store-and-forward or packet-switched subnet:</vt:lpstr>
      <vt:lpstr>Principle of a packet-switched WAN: </vt:lpstr>
      <vt:lpstr>PowerPoint Presentation</vt:lpstr>
      <vt:lpstr>PowerPoint Presentation</vt:lpstr>
      <vt:lpstr>Internetworks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COMPUTER COMMUNICATION</dc:title>
  <dc:creator>Ceira sara</dc:creator>
  <cp:lastModifiedBy>Kripa Radhakrishnan</cp:lastModifiedBy>
  <cp:revision>5</cp:revision>
  <dcterms:created xsi:type="dcterms:W3CDTF">2022-09-18T13:43:26Z</dcterms:created>
  <dcterms:modified xsi:type="dcterms:W3CDTF">2026-07-06T00:26:14Z</dcterms:modified>
</cp:coreProperties>
</file>